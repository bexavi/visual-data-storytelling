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9"/>
  </p:notesMasterIdLst>
  <p:handoutMasterIdLst>
    <p:handoutMasterId r:id="rId30"/>
  </p:handoutMasterIdLst>
  <p:sldIdLst>
    <p:sldId id="256" r:id="rId5"/>
    <p:sldId id="289" r:id="rId6"/>
    <p:sldId id="311" r:id="rId7"/>
    <p:sldId id="293" r:id="rId8"/>
    <p:sldId id="312" r:id="rId9"/>
    <p:sldId id="319" r:id="rId10"/>
    <p:sldId id="323" r:id="rId11"/>
    <p:sldId id="303" r:id="rId12"/>
    <p:sldId id="291" r:id="rId13"/>
    <p:sldId id="292" r:id="rId14"/>
    <p:sldId id="315" r:id="rId15"/>
    <p:sldId id="325" r:id="rId16"/>
    <p:sldId id="321" r:id="rId17"/>
    <p:sldId id="322" r:id="rId18"/>
    <p:sldId id="295" r:id="rId19"/>
    <p:sldId id="320" r:id="rId20"/>
    <p:sldId id="310" r:id="rId21"/>
    <p:sldId id="309" r:id="rId22"/>
    <p:sldId id="296" r:id="rId23"/>
    <p:sldId id="305" r:id="rId24"/>
    <p:sldId id="317" r:id="rId25"/>
    <p:sldId id="308" r:id="rId26"/>
    <p:sldId id="324" r:id="rId27"/>
    <p:sldId id="285"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461593-A034-48B1-BF4F-B9842699BA8D}" v="20" dt="2025-03-10T04:30:41.1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81" autoAdjust="0"/>
    <p:restoredTop sz="94652" autoAdjust="0"/>
  </p:normalViewPr>
  <p:slideViewPr>
    <p:cSldViewPr snapToGrid="0" showGuides="1">
      <p:cViewPr varScale="1">
        <p:scale>
          <a:sx n="90" d="100"/>
          <a:sy n="90" d="100"/>
        </p:scale>
        <p:origin x="418" y="41"/>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kithemba Nkomo [student]" userId="86136daf-e49a-4e73-94f9-5f5e7d01c202" providerId="ADAL" clId="{FD461593-A034-48B1-BF4F-B9842699BA8D}"/>
    <pc:docChg chg="undo redo custSel addSld delSld modSld sldOrd">
      <pc:chgData name="Bekithemba Nkomo [student]" userId="86136daf-e49a-4e73-94f9-5f5e7d01c202" providerId="ADAL" clId="{FD461593-A034-48B1-BF4F-B9842699BA8D}" dt="2025-03-10T04:31:47.935" v="1117" actId="27636"/>
      <pc:docMkLst>
        <pc:docMk/>
      </pc:docMkLst>
      <pc:sldChg chg="modSp mod">
        <pc:chgData name="Bekithemba Nkomo [student]" userId="86136daf-e49a-4e73-94f9-5f5e7d01c202" providerId="ADAL" clId="{FD461593-A034-48B1-BF4F-B9842699BA8D}" dt="2025-03-10T03:40:43.353" v="981" actId="404"/>
        <pc:sldMkLst>
          <pc:docMk/>
          <pc:sldMk cId="0" sldId="291"/>
        </pc:sldMkLst>
        <pc:spChg chg="mod">
          <ac:chgData name="Bekithemba Nkomo [student]" userId="86136daf-e49a-4e73-94f9-5f5e7d01c202" providerId="ADAL" clId="{FD461593-A034-48B1-BF4F-B9842699BA8D}" dt="2025-03-10T03:40:43.353" v="981" actId="404"/>
          <ac:spMkLst>
            <pc:docMk/>
            <pc:sldMk cId="0" sldId="291"/>
            <ac:spMk id="10" creationId="{00000000-0000-0000-0000-000000000000}"/>
          </ac:spMkLst>
        </pc:spChg>
      </pc:sldChg>
      <pc:sldChg chg="modSp mod ord">
        <pc:chgData name="Bekithemba Nkomo [student]" userId="86136daf-e49a-4e73-94f9-5f5e7d01c202" providerId="ADAL" clId="{FD461593-A034-48B1-BF4F-B9842699BA8D}" dt="2025-03-10T03:25:57.887" v="913" actId="2711"/>
        <pc:sldMkLst>
          <pc:docMk/>
          <pc:sldMk cId="0" sldId="293"/>
        </pc:sldMkLst>
        <pc:spChg chg="mod">
          <ac:chgData name="Bekithemba Nkomo [student]" userId="86136daf-e49a-4e73-94f9-5f5e7d01c202" providerId="ADAL" clId="{FD461593-A034-48B1-BF4F-B9842699BA8D}" dt="2025-03-10T03:25:57.887" v="913" actId="2711"/>
          <ac:spMkLst>
            <pc:docMk/>
            <pc:sldMk cId="0" sldId="293"/>
            <ac:spMk id="10" creationId="{00000000-0000-0000-0000-000000000000}"/>
          </ac:spMkLst>
        </pc:spChg>
      </pc:sldChg>
      <pc:sldChg chg="modSp del mod">
        <pc:chgData name="Bekithemba Nkomo [student]" userId="86136daf-e49a-4e73-94f9-5f5e7d01c202" providerId="ADAL" clId="{FD461593-A034-48B1-BF4F-B9842699BA8D}" dt="2025-03-10T03:52:27.328" v="1041" actId="2696"/>
        <pc:sldMkLst>
          <pc:docMk/>
          <pc:sldMk cId="0" sldId="294"/>
        </pc:sldMkLst>
        <pc:spChg chg="mod">
          <ac:chgData name="Bekithemba Nkomo [student]" userId="86136daf-e49a-4e73-94f9-5f5e7d01c202" providerId="ADAL" clId="{FD461593-A034-48B1-BF4F-B9842699BA8D}" dt="2025-03-10T03:26:19.634" v="914" actId="2711"/>
          <ac:spMkLst>
            <pc:docMk/>
            <pc:sldMk cId="0" sldId="294"/>
            <ac:spMk id="10" creationId="{00000000-0000-0000-0000-000000000000}"/>
          </ac:spMkLst>
        </pc:spChg>
      </pc:sldChg>
      <pc:sldChg chg="addSp modSp mod">
        <pc:chgData name="Bekithemba Nkomo [student]" userId="86136daf-e49a-4e73-94f9-5f5e7d01c202" providerId="ADAL" clId="{FD461593-A034-48B1-BF4F-B9842699BA8D}" dt="2025-03-10T03:23:24.876" v="818" actId="20577"/>
        <pc:sldMkLst>
          <pc:docMk/>
          <pc:sldMk cId="0" sldId="295"/>
        </pc:sldMkLst>
        <pc:spChg chg="add mod">
          <ac:chgData name="Bekithemba Nkomo [student]" userId="86136daf-e49a-4e73-94f9-5f5e7d01c202" providerId="ADAL" clId="{FD461593-A034-48B1-BF4F-B9842699BA8D}" dt="2025-03-10T02:36:35.372" v="267"/>
          <ac:spMkLst>
            <pc:docMk/>
            <pc:sldMk cId="0" sldId="295"/>
            <ac:spMk id="3" creationId="{E8A1F05C-4683-0DCA-47EF-322201A61148}"/>
          </ac:spMkLst>
        </pc:spChg>
        <pc:spChg chg="mod">
          <ac:chgData name="Bekithemba Nkomo [student]" userId="86136daf-e49a-4e73-94f9-5f5e7d01c202" providerId="ADAL" clId="{FD461593-A034-48B1-BF4F-B9842699BA8D}" dt="2025-03-10T03:23:24.876" v="818" actId="20577"/>
          <ac:spMkLst>
            <pc:docMk/>
            <pc:sldMk cId="0" sldId="295"/>
            <ac:spMk id="10" creationId="{00000000-0000-0000-0000-000000000000}"/>
          </ac:spMkLst>
        </pc:spChg>
      </pc:sldChg>
      <pc:sldChg chg="modSp mod">
        <pc:chgData name="Bekithemba Nkomo [student]" userId="86136daf-e49a-4e73-94f9-5f5e7d01c202" providerId="ADAL" clId="{FD461593-A034-48B1-BF4F-B9842699BA8D}" dt="2025-03-10T03:26:46.798" v="916" actId="2711"/>
        <pc:sldMkLst>
          <pc:docMk/>
          <pc:sldMk cId="0" sldId="296"/>
        </pc:sldMkLst>
        <pc:spChg chg="mod">
          <ac:chgData name="Bekithemba Nkomo [student]" userId="86136daf-e49a-4e73-94f9-5f5e7d01c202" providerId="ADAL" clId="{FD461593-A034-48B1-BF4F-B9842699BA8D}" dt="2025-03-10T03:26:46.798" v="916" actId="2711"/>
          <ac:spMkLst>
            <pc:docMk/>
            <pc:sldMk cId="0" sldId="296"/>
            <ac:spMk id="10" creationId="{00000000-0000-0000-0000-000000000000}"/>
          </ac:spMkLst>
        </pc:spChg>
      </pc:sldChg>
      <pc:sldChg chg="del ord">
        <pc:chgData name="Bekithemba Nkomo [student]" userId="86136daf-e49a-4e73-94f9-5f5e7d01c202" providerId="ADAL" clId="{FD461593-A034-48B1-BF4F-B9842699BA8D}" dt="2025-03-10T02:49:16.663" v="426" actId="47"/>
        <pc:sldMkLst>
          <pc:docMk/>
          <pc:sldMk cId="0" sldId="297"/>
        </pc:sldMkLst>
      </pc:sldChg>
      <pc:sldChg chg="modSp mod">
        <pc:chgData name="Bekithemba Nkomo [student]" userId="86136daf-e49a-4e73-94f9-5f5e7d01c202" providerId="ADAL" clId="{FD461593-A034-48B1-BF4F-B9842699BA8D}" dt="2025-03-10T03:51:38.688" v="1040" actId="20577"/>
        <pc:sldMkLst>
          <pc:docMk/>
          <pc:sldMk cId="0" sldId="303"/>
        </pc:sldMkLst>
        <pc:spChg chg="mod">
          <ac:chgData name="Bekithemba Nkomo [student]" userId="86136daf-e49a-4e73-94f9-5f5e7d01c202" providerId="ADAL" clId="{FD461593-A034-48B1-BF4F-B9842699BA8D}" dt="2025-03-10T03:51:38.688" v="1040" actId="20577"/>
          <ac:spMkLst>
            <pc:docMk/>
            <pc:sldMk cId="0" sldId="303"/>
            <ac:spMk id="7" creationId="{00000000-0000-0000-0000-000000000000}"/>
          </ac:spMkLst>
        </pc:spChg>
      </pc:sldChg>
      <pc:sldChg chg="del">
        <pc:chgData name="Bekithemba Nkomo [student]" userId="86136daf-e49a-4e73-94f9-5f5e7d01c202" providerId="ADAL" clId="{FD461593-A034-48B1-BF4F-B9842699BA8D}" dt="2025-03-10T02:35:45.331" v="263" actId="47"/>
        <pc:sldMkLst>
          <pc:docMk/>
          <pc:sldMk cId="0" sldId="304"/>
        </pc:sldMkLst>
      </pc:sldChg>
      <pc:sldChg chg="modSp del mod">
        <pc:chgData name="Bekithemba Nkomo [student]" userId="86136daf-e49a-4e73-94f9-5f5e7d01c202" providerId="ADAL" clId="{FD461593-A034-48B1-BF4F-B9842699BA8D}" dt="2025-03-10T03:57:58.379" v="1096" actId="2696"/>
        <pc:sldMkLst>
          <pc:docMk/>
          <pc:sldMk cId="0" sldId="307"/>
        </pc:sldMkLst>
        <pc:spChg chg="mod">
          <ac:chgData name="Bekithemba Nkomo [student]" userId="86136daf-e49a-4e73-94f9-5f5e7d01c202" providerId="ADAL" clId="{FD461593-A034-48B1-BF4F-B9842699BA8D}" dt="2025-03-10T03:26:59.205" v="917" actId="2711"/>
          <ac:spMkLst>
            <pc:docMk/>
            <pc:sldMk cId="0" sldId="307"/>
            <ac:spMk id="4" creationId="{00000000-0000-0000-0000-000000000000}"/>
          </ac:spMkLst>
        </pc:spChg>
      </pc:sldChg>
      <pc:sldChg chg="addSp delSp modSp mod">
        <pc:chgData name="Bekithemba Nkomo [student]" userId="86136daf-e49a-4e73-94f9-5f5e7d01c202" providerId="ADAL" clId="{FD461593-A034-48B1-BF4F-B9842699BA8D}" dt="2025-03-10T02:48:15.086" v="420" actId="20577"/>
        <pc:sldMkLst>
          <pc:docMk/>
          <pc:sldMk cId="0" sldId="308"/>
        </pc:sldMkLst>
        <pc:spChg chg="mod">
          <ac:chgData name="Bekithemba Nkomo [student]" userId="86136daf-e49a-4e73-94f9-5f5e7d01c202" providerId="ADAL" clId="{FD461593-A034-48B1-BF4F-B9842699BA8D}" dt="2025-03-10T02:47:35.053" v="397" actId="27636"/>
          <ac:spMkLst>
            <pc:docMk/>
            <pc:sldMk cId="0" sldId="308"/>
            <ac:spMk id="4" creationId="{00000000-0000-0000-0000-000000000000}"/>
          </ac:spMkLst>
        </pc:spChg>
        <pc:spChg chg="add mod">
          <ac:chgData name="Bekithemba Nkomo [student]" userId="86136daf-e49a-4e73-94f9-5f5e7d01c202" providerId="ADAL" clId="{FD461593-A034-48B1-BF4F-B9842699BA8D}" dt="2025-03-10T02:48:00.958" v="412" actId="20577"/>
          <ac:spMkLst>
            <pc:docMk/>
            <pc:sldMk cId="0" sldId="308"/>
            <ac:spMk id="5" creationId="{C5684BF5-43AD-1AE8-D213-A93F0BE1010A}"/>
          </ac:spMkLst>
        </pc:spChg>
        <pc:spChg chg="add mod">
          <ac:chgData name="Bekithemba Nkomo [student]" userId="86136daf-e49a-4e73-94f9-5f5e7d01c202" providerId="ADAL" clId="{FD461593-A034-48B1-BF4F-B9842699BA8D}" dt="2025-03-10T02:48:15.086" v="420" actId="20577"/>
          <ac:spMkLst>
            <pc:docMk/>
            <pc:sldMk cId="0" sldId="308"/>
            <ac:spMk id="7" creationId="{3D1A9E9E-DA9D-5BDC-E57B-F5248498A66F}"/>
          </ac:spMkLst>
        </pc:spChg>
        <pc:spChg chg="del">
          <ac:chgData name="Bekithemba Nkomo [student]" userId="86136daf-e49a-4e73-94f9-5f5e7d01c202" providerId="ADAL" clId="{FD461593-A034-48B1-BF4F-B9842699BA8D}" dt="2025-03-10T02:46:04.640" v="373" actId="478"/>
          <ac:spMkLst>
            <pc:docMk/>
            <pc:sldMk cId="0" sldId="308"/>
            <ac:spMk id="68" creationId="{00000000-0000-0000-0000-000000000000}"/>
          </ac:spMkLst>
        </pc:spChg>
        <pc:picChg chg="add mod">
          <ac:chgData name="Bekithemba Nkomo [student]" userId="86136daf-e49a-4e73-94f9-5f5e7d01c202" providerId="ADAL" clId="{FD461593-A034-48B1-BF4F-B9842699BA8D}" dt="2025-03-10T02:47:05.601" v="393" actId="14100"/>
          <ac:picMkLst>
            <pc:docMk/>
            <pc:sldMk cId="0" sldId="308"/>
            <ac:picMk id="3" creationId="{3472349C-3E09-038E-0C57-75F3FCF46C11}"/>
          </ac:picMkLst>
        </pc:picChg>
        <pc:picChg chg="mod">
          <ac:chgData name="Bekithemba Nkomo [student]" userId="86136daf-e49a-4e73-94f9-5f5e7d01c202" providerId="ADAL" clId="{FD461593-A034-48B1-BF4F-B9842699BA8D}" dt="2025-03-10T02:47:08.849" v="395" actId="14100"/>
          <ac:picMkLst>
            <pc:docMk/>
            <pc:sldMk cId="0" sldId="308"/>
            <ac:picMk id="6" creationId="{00000000-0000-0000-0000-000000000000}"/>
          </ac:picMkLst>
        </pc:picChg>
      </pc:sldChg>
      <pc:sldChg chg="modSp mod">
        <pc:chgData name="Bekithemba Nkomo [student]" userId="86136daf-e49a-4e73-94f9-5f5e7d01c202" providerId="ADAL" clId="{FD461593-A034-48B1-BF4F-B9842699BA8D}" dt="2025-03-10T03:26:33.566" v="915" actId="2711"/>
        <pc:sldMkLst>
          <pc:docMk/>
          <pc:sldMk cId="0" sldId="310"/>
        </pc:sldMkLst>
        <pc:spChg chg="mod">
          <ac:chgData name="Bekithemba Nkomo [student]" userId="86136daf-e49a-4e73-94f9-5f5e7d01c202" providerId="ADAL" clId="{FD461593-A034-48B1-BF4F-B9842699BA8D}" dt="2025-03-10T03:26:33.566" v="915" actId="2711"/>
          <ac:spMkLst>
            <pc:docMk/>
            <pc:sldMk cId="0" sldId="310"/>
            <ac:spMk id="10" creationId="{00000000-0000-0000-0000-000000000000}"/>
          </ac:spMkLst>
        </pc:spChg>
      </pc:sldChg>
      <pc:sldChg chg="modSp mod">
        <pc:chgData name="Bekithemba Nkomo [student]" userId="86136daf-e49a-4e73-94f9-5f5e7d01c202" providerId="ADAL" clId="{FD461593-A034-48B1-BF4F-B9842699BA8D}" dt="2025-03-10T03:24:52.658" v="912" actId="20577"/>
        <pc:sldMkLst>
          <pc:docMk/>
          <pc:sldMk cId="0" sldId="311"/>
        </pc:sldMkLst>
        <pc:spChg chg="mod">
          <ac:chgData name="Bekithemba Nkomo [student]" userId="86136daf-e49a-4e73-94f9-5f5e7d01c202" providerId="ADAL" clId="{FD461593-A034-48B1-BF4F-B9842699BA8D}" dt="2025-03-10T03:24:52.658" v="912" actId="20577"/>
          <ac:spMkLst>
            <pc:docMk/>
            <pc:sldMk cId="0" sldId="311"/>
            <ac:spMk id="2" creationId="{00000000-0000-0000-0000-000000000000}"/>
          </ac:spMkLst>
        </pc:spChg>
      </pc:sldChg>
      <pc:sldChg chg="addSp delSp modSp mod">
        <pc:chgData name="Bekithemba Nkomo [student]" userId="86136daf-e49a-4e73-94f9-5f5e7d01c202" providerId="ADAL" clId="{FD461593-A034-48B1-BF4F-B9842699BA8D}" dt="2025-03-10T02:24:00.730" v="179" actId="1076"/>
        <pc:sldMkLst>
          <pc:docMk/>
          <pc:sldMk cId="433882480" sldId="312"/>
        </pc:sldMkLst>
        <pc:spChg chg="del">
          <ac:chgData name="Bekithemba Nkomo [student]" userId="86136daf-e49a-4e73-94f9-5f5e7d01c202" providerId="ADAL" clId="{FD461593-A034-48B1-BF4F-B9842699BA8D}" dt="2025-03-10T02:17:11.867" v="119" actId="478"/>
          <ac:spMkLst>
            <pc:docMk/>
            <pc:sldMk cId="433882480" sldId="312"/>
            <ac:spMk id="3" creationId="{33FBD696-C304-F571-E697-B1B6BEF06944}"/>
          </ac:spMkLst>
        </pc:spChg>
        <pc:spChg chg="mod">
          <ac:chgData name="Bekithemba Nkomo [student]" userId="86136daf-e49a-4e73-94f9-5f5e7d01c202" providerId="ADAL" clId="{FD461593-A034-48B1-BF4F-B9842699BA8D}" dt="2025-03-10T02:23:54.777" v="178" actId="1076"/>
          <ac:spMkLst>
            <pc:docMk/>
            <pc:sldMk cId="433882480" sldId="312"/>
            <ac:spMk id="5" creationId="{B5DC6453-5355-BBFE-30F8-4A142CC1059C}"/>
          </ac:spMkLst>
        </pc:spChg>
        <pc:spChg chg="mod">
          <ac:chgData name="Bekithemba Nkomo [student]" userId="86136daf-e49a-4e73-94f9-5f5e7d01c202" providerId="ADAL" clId="{FD461593-A034-48B1-BF4F-B9842699BA8D}" dt="2025-03-10T02:24:00.730" v="179" actId="1076"/>
          <ac:spMkLst>
            <pc:docMk/>
            <pc:sldMk cId="433882480" sldId="312"/>
            <ac:spMk id="7" creationId="{12CE3166-2BF0-EB20-F3FB-D8C7D09717B3}"/>
          </ac:spMkLst>
        </pc:spChg>
        <pc:spChg chg="add del mod">
          <ac:chgData name="Bekithemba Nkomo [student]" userId="86136daf-e49a-4e73-94f9-5f5e7d01c202" providerId="ADAL" clId="{FD461593-A034-48B1-BF4F-B9842699BA8D}" dt="2025-03-10T02:19:58.337" v="124" actId="478"/>
          <ac:spMkLst>
            <pc:docMk/>
            <pc:sldMk cId="433882480" sldId="312"/>
            <ac:spMk id="12" creationId="{1D36963C-8E70-B893-915F-47E740CAA5A4}"/>
          </ac:spMkLst>
        </pc:spChg>
        <pc:spChg chg="add del">
          <ac:chgData name="Bekithemba Nkomo [student]" userId="86136daf-e49a-4e73-94f9-5f5e7d01c202" providerId="ADAL" clId="{FD461593-A034-48B1-BF4F-B9842699BA8D}" dt="2025-03-10T02:17:26.511" v="121" actId="478"/>
          <ac:spMkLst>
            <pc:docMk/>
            <pc:sldMk cId="433882480" sldId="312"/>
            <ac:spMk id="82" creationId="{B7000166-D2F3-4154-2BA4-B9C6A05CBC9D}"/>
          </ac:spMkLst>
        </pc:spChg>
      </pc:sldChg>
      <pc:sldChg chg="addSp modSp del">
        <pc:chgData name="Bekithemba Nkomo [student]" userId="86136daf-e49a-4e73-94f9-5f5e7d01c202" providerId="ADAL" clId="{FD461593-A034-48B1-BF4F-B9842699BA8D}" dt="2025-03-10T03:59:08.348" v="1099" actId="47"/>
        <pc:sldMkLst>
          <pc:docMk/>
          <pc:sldMk cId="2668742454" sldId="314"/>
        </pc:sldMkLst>
        <pc:spChg chg="add mod">
          <ac:chgData name="Bekithemba Nkomo [student]" userId="86136daf-e49a-4e73-94f9-5f5e7d01c202" providerId="ADAL" clId="{FD461593-A034-48B1-BF4F-B9842699BA8D}" dt="2025-03-10T02:36:21.054" v="266"/>
          <ac:spMkLst>
            <pc:docMk/>
            <pc:sldMk cId="2668742454" sldId="314"/>
            <ac:spMk id="3" creationId="{1E6513D4-399A-1B04-6C70-AEC5D79CAA36}"/>
          </ac:spMkLst>
        </pc:spChg>
      </pc:sldChg>
      <pc:sldChg chg="addSp modSp">
        <pc:chgData name="Bekithemba Nkomo [student]" userId="86136daf-e49a-4e73-94f9-5f5e7d01c202" providerId="ADAL" clId="{FD461593-A034-48B1-BF4F-B9842699BA8D}" dt="2025-03-10T04:29:22.326" v="1101"/>
        <pc:sldMkLst>
          <pc:docMk/>
          <pc:sldMk cId="2354696400" sldId="315"/>
        </pc:sldMkLst>
        <pc:picChg chg="add mod">
          <ac:chgData name="Bekithemba Nkomo [student]" userId="86136daf-e49a-4e73-94f9-5f5e7d01c202" providerId="ADAL" clId="{FD461593-A034-48B1-BF4F-B9842699BA8D}" dt="2025-03-10T04:29:22.326" v="1101"/>
          <ac:picMkLst>
            <pc:docMk/>
            <pc:sldMk cId="2354696400" sldId="315"/>
            <ac:picMk id="2" creationId="{C413129F-9E86-A38B-2781-5462D0C3ACEE}"/>
          </ac:picMkLst>
        </pc:picChg>
      </pc:sldChg>
      <pc:sldChg chg="del">
        <pc:chgData name="Bekithemba Nkomo [student]" userId="86136daf-e49a-4e73-94f9-5f5e7d01c202" providerId="ADAL" clId="{FD461593-A034-48B1-BF4F-B9842699BA8D}" dt="2025-03-10T03:52:49.914" v="1042" actId="47"/>
        <pc:sldMkLst>
          <pc:docMk/>
          <pc:sldMk cId="1856789732" sldId="316"/>
        </pc:sldMkLst>
      </pc:sldChg>
      <pc:sldChg chg="modSp mod ord">
        <pc:chgData name="Bekithemba Nkomo [student]" userId="86136daf-e49a-4e73-94f9-5f5e7d01c202" providerId="ADAL" clId="{FD461593-A034-48B1-BF4F-B9842699BA8D}" dt="2025-03-10T03:10:22.270" v="695" actId="2711"/>
        <pc:sldMkLst>
          <pc:docMk/>
          <pc:sldMk cId="3669947015" sldId="317"/>
        </pc:sldMkLst>
        <pc:spChg chg="mod">
          <ac:chgData name="Bekithemba Nkomo [student]" userId="86136daf-e49a-4e73-94f9-5f5e7d01c202" providerId="ADAL" clId="{FD461593-A034-48B1-BF4F-B9842699BA8D}" dt="2025-03-10T03:10:22.270" v="695" actId="2711"/>
          <ac:spMkLst>
            <pc:docMk/>
            <pc:sldMk cId="3669947015" sldId="317"/>
            <ac:spMk id="10" creationId="{BB275104-E9C1-F608-5005-6B039A6D92DD}"/>
          </ac:spMkLst>
        </pc:spChg>
      </pc:sldChg>
      <pc:sldChg chg="del">
        <pc:chgData name="Bekithemba Nkomo [student]" userId="86136daf-e49a-4e73-94f9-5f5e7d01c202" providerId="ADAL" clId="{FD461593-A034-48B1-BF4F-B9842699BA8D}" dt="2025-03-10T02:48:37.367" v="425" actId="47"/>
        <pc:sldMkLst>
          <pc:docMk/>
          <pc:sldMk cId="2950405604" sldId="318"/>
        </pc:sldMkLst>
      </pc:sldChg>
      <pc:sldChg chg="modSp add mod ord">
        <pc:chgData name="Bekithemba Nkomo [student]" userId="86136daf-e49a-4e73-94f9-5f5e7d01c202" providerId="ADAL" clId="{FD461593-A034-48B1-BF4F-B9842699BA8D}" dt="2025-03-10T02:30:08.823" v="258" actId="113"/>
        <pc:sldMkLst>
          <pc:docMk/>
          <pc:sldMk cId="1576201583" sldId="319"/>
        </pc:sldMkLst>
        <pc:spChg chg="mod">
          <ac:chgData name="Bekithemba Nkomo [student]" userId="86136daf-e49a-4e73-94f9-5f5e7d01c202" providerId="ADAL" clId="{FD461593-A034-48B1-BF4F-B9842699BA8D}" dt="2025-03-10T02:30:08.823" v="258" actId="113"/>
          <ac:spMkLst>
            <pc:docMk/>
            <pc:sldMk cId="1576201583" sldId="319"/>
            <ac:spMk id="10" creationId="{6DC05012-D417-FBC1-3901-FA70D469B1A3}"/>
          </ac:spMkLst>
        </pc:spChg>
      </pc:sldChg>
      <pc:sldChg chg="addSp delSp modSp add mod ord setBg">
        <pc:chgData name="Bekithemba Nkomo [student]" userId="86136daf-e49a-4e73-94f9-5f5e7d01c202" providerId="ADAL" clId="{FD461593-A034-48B1-BF4F-B9842699BA8D}" dt="2025-03-10T03:23:37.556" v="823" actId="14100"/>
        <pc:sldMkLst>
          <pc:docMk/>
          <pc:sldMk cId="0" sldId="320"/>
        </pc:sldMkLst>
        <pc:spChg chg="mod">
          <ac:chgData name="Bekithemba Nkomo [student]" userId="86136daf-e49a-4e73-94f9-5f5e7d01c202" providerId="ADAL" clId="{FD461593-A034-48B1-BF4F-B9842699BA8D}" dt="2025-03-10T03:23:31.716" v="822" actId="20577"/>
          <ac:spMkLst>
            <pc:docMk/>
            <pc:sldMk cId="0" sldId="320"/>
            <ac:spMk id="4" creationId="{00000000-0000-0000-0000-000000000000}"/>
          </ac:spMkLst>
        </pc:spChg>
        <pc:spChg chg="del">
          <ac:chgData name="Bekithemba Nkomo [student]" userId="86136daf-e49a-4e73-94f9-5f5e7d01c202" providerId="ADAL" clId="{FD461593-A034-48B1-BF4F-B9842699BA8D}" dt="2025-03-10T02:38:51.169" v="286" actId="478"/>
          <ac:spMkLst>
            <pc:docMk/>
            <pc:sldMk cId="0" sldId="320"/>
            <ac:spMk id="54" creationId="{00000000-0000-0000-0000-000000000000}"/>
          </ac:spMkLst>
        </pc:spChg>
        <pc:picChg chg="add mod">
          <ac:chgData name="Bekithemba Nkomo [student]" userId="86136daf-e49a-4e73-94f9-5f5e7d01c202" providerId="ADAL" clId="{FD461593-A034-48B1-BF4F-B9842699BA8D}" dt="2025-03-10T03:23:37.556" v="823" actId="14100"/>
          <ac:picMkLst>
            <pc:docMk/>
            <pc:sldMk cId="0" sldId="320"/>
            <ac:picMk id="3" creationId="{B645209D-EEF7-FDC4-8F48-403820D746CD}"/>
          </ac:picMkLst>
        </pc:picChg>
        <pc:picChg chg="del">
          <ac:chgData name="Bekithemba Nkomo [student]" userId="86136daf-e49a-4e73-94f9-5f5e7d01c202" providerId="ADAL" clId="{FD461593-A034-48B1-BF4F-B9842699BA8D}" dt="2025-03-10T02:38:20.995" v="276" actId="478"/>
          <ac:picMkLst>
            <pc:docMk/>
            <pc:sldMk cId="0" sldId="320"/>
            <ac:picMk id="5" creationId="{00000000-0000-0000-0000-000000000000}"/>
          </ac:picMkLst>
        </pc:picChg>
      </pc:sldChg>
      <pc:sldChg chg="modSp add mod ord setBg">
        <pc:chgData name="Bekithemba Nkomo [student]" userId="86136daf-e49a-4e73-94f9-5f5e7d01c202" providerId="ADAL" clId="{FD461593-A034-48B1-BF4F-B9842699BA8D}" dt="2025-03-10T03:22:19.075" v="801" actId="14100"/>
        <pc:sldMkLst>
          <pc:docMk/>
          <pc:sldMk cId="0" sldId="321"/>
        </pc:sldMkLst>
        <pc:spChg chg="mod">
          <ac:chgData name="Bekithemba Nkomo [student]" userId="86136daf-e49a-4e73-94f9-5f5e7d01c202" providerId="ADAL" clId="{FD461593-A034-48B1-BF4F-B9842699BA8D}" dt="2025-03-10T03:22:19.075" v="801" actId="14100"/>
          <ac:spMkLst>
            <pc:docMk/>
            <pc:sldMk cId="0" sldId="321"/>
            <ac:spMk id="10" creationId="{00000000-0000-0000-0000-000000000000}"/>
          </ac:spMkLst>
        </pc:spChg>
      </pc:sldChg>
      <pc:sldChg chg="addSp delSp modSp add mod">
        <pc:chgData name="Bekithemba Nkomo [student]" userId="86136daf-e49a-4e73-94f9-5f5e7d01c202" providerId="ADAL" clId="{FD461593-A034-48B1-BF4F-B9842699BA8D}" dt="2025-03-10T03:23:06.140" v="814" actId="1076"/>
        <pc:sldMkLst>
          <pc:docMk/>
          <pc:sldMk cId="3464775110" sldId="322"/>
        </pc:sldMkLst>
        <pc:spChg chg="add del mod">
          <ac:chgData name="Bekithemba Nkomo [student]" userId="86136daf-e49a-4e73-94f9-5f5e7d01c202" providerId="ADAL" clId="{FD461593-A034-48B1-BF4F-B9842699BA8D}" dt="2025-03-10T02:43:44.251" v="341" actId="478"/>
          <ac:spMkLst>
            <pc:docMk/>
            <pc:sldMk cId="3464775110" sldId="322"/>
            <ac:spMk id="4" creationId="{F81BF90A-55E0-0A2F-C8C7-0864BC73ADED}"/>
          </ac:spMkLst>
        </pc:spChg>
        <pc:spChg chg="add mod">
          <ac:chgData name="Bekithemba Nkomo [student]" userId="86136daf-e49a-4e73-94f9-5f5e7d01c202" providerId="ADAL" clId="{FD461593-A034-48B1-BF4F-B9842699BA8D}" dt="2025-03-10T02:43:57.889" v="348" actId="20577"/>
          <ac:spMkLst>
            <pc:docMk/>
            <pc:sldMk cId="3464775110" sldId="322"/>
            <ac:spMk id="7" creationId="{600DCFB7-F347-F479-05C6-9751044D57A4}"/>
          </ac:spMkLst>
        </pc:spChg>
        <pc:spChg chg="add mod">
          <ac:chgData name="Bekithemba Nkomo [student]" userId="86136daf-e49a-4e73-94f9-5f5e7d01c202" providerId="ADAL" clId="{FD461593-A034-48B1-BF4F-B9842699BA8D}" dt="2025-03-10T02:42:02.144" v="325"/>
          <ac:spMkLst>
            <pc:docMk/>
            <pc:sldMk cId="3464775110" sldId="322"/>
            <ac:spMk id="8" creationId="{ED8362F5-2F49-4E5D-EAB3-BD861E90FADD}"/>
          </ac:spMkLst>
        </pc:spChg>
        <pc:spChg chg="add mod">
          <ac:chgData name="Bekithemba Nkomo [student]" userId="86136daf-e49a-4e73-94f9-5f5e7d01c202" providerId="ADAL" clId="{FD461593-A034-48B1-BF4F-B9842699BA8D}" dt="2025-03-10T02:44:02.824" v="354" actId="20577"/>
          <ac:spMkLst>
            <pc:docMk/>
            <pc:sldMk cId="3464775110" sldId="322"/>
            <ac:spMk id="9" creationId="{3E2287C8-B13E-AF0D-1DB3-981CC835BEFA}"/>
          </ac:spMkLst>
        </pc:spChg>
        <pc:spChg chg="del">
          <ac:chgData name="Bekithemba Nkomo [student]" userId="86136daf-e49a-4e73-94f9-5f5e7d01c202" providerId="ADAL" clId="{FD461593-A034-48B1-BF4F-B9842699BA8D}" dt="2025-03-10T02:39:31.589" v="292" actId="478"/>
          <ac:spMkLst>
            <pc:docMk/>
            <pc:sldMk cId="3464775110" sldId="322"/>
            <ac:spMk id="54" creationId="{4BBDE21D-F6A2-E5B8-A979-7A8448F290ED}"/>
          </ac:spMkLst>
        </pc:spChg>
        <pc:picChg chg="add del mod">
          <ac:chgData name="Bekithemba Nkomo [student]" userId="86136daf-e49a-4e73-94f9-5f5e7d01c202" providerId="ADAL" clId="{FD461593-A034-48B1-BF4F-B9842699BA8D}" dt="2025-03-10T03:22:31.447" v="802" actId="478"/>
          <ac:picMkLst>
            <pc:docMk/>
            <pc:sldMk cId="3464775110" sldId="322"/>
            <ac:picMk id="3" creationId="{9C29A5F7-1442-FA3E-C79F-E276FF22DB01}"/>
          </ac:picMkLst>
        </pc:picChg>
        <pc:picChg chg="del mod">
          <ac:chgData name="Bekithemba Nkomo [student]" userId="86136daf-e49a-4e73-94f9-5f5e7d01c202" providerId="ADAL" clId="{FD461593-A034-48B1-BF4F-B9842699BA8D}" dt="2025-03-10T02:39:45.054" v="296" actId="478"/>
          <ac:picMkLst>
            <pc:docMk/>
            <pc:sldMk cId="3464775110" sldId="322"/>
            <ac:picMk id="5" creationId="{35FFDAB5-521D-4860-4AB8-7CEE927138EB}"/>
          </ac:picMkLst>
        </pc:picChg>
        <pc:picChg chg="add mod">
          <ac:chgData name="Bekithemba Nkomo [student]" userId="86136daf-e49a-4e73-94f9-5f5e7d01c202" providerId="ADAL" clId="{FD461593-A034-48B1-BF4F-B9842699BA8D}" dt="2025-03-10T02:41:45.722" v="324" actId="14100"/>
          <ac:picMkLst>
            <pc:docMk/>
            <pc:sldMk cId="3464775110" sldId="322"/>
            <ac:picMk id="6" creationId="{FB23464D-A57C-C530-88B4-81FE973C6638}"/>
          </ac:picMkLst>
        </pc:picChg>
        <pc:picChg chg="add mod">
          <ac:chgData name="Bekithemba Nkomo [student]" userId="86136daf-e49a-4e73-94f9-5f5e7d01c202" providerId="ADAL" clId="{FD461593-A034-48B1-BF4F-B9842699BA8D}" dt="2025-03-10T03:23:06.140" v="814" actId="1076"/>
          <ac:picMkLst>
            <pc:docMk/>
            <pc:sldMk cId="3464775110" sldId="322"/>
            <ac:picMk id="11" creationId="{597A5B67-5243-0667-0793-253CA3536D94}"/>
          </ac:picMkLst>
        </pc:picChg>
      </pc:sldChg>
      <pc:sldChg chg="modSp add mod ord">
        <pc:chgData name="Bekithemba Nkomo [student]" userId="86136daf-e49a-4e73-94f9-5f5e7d01c202" providerId="ADAL" clId="{FD461593-A034-48B1-BF4F-B9842699BA8D}" dt="2025-03-10T03:50:48.493" v="1023" actId="113"/>
        <pc:sldMkLst>
          <pc:docMk/>
          <pc:sldMk cId="3539802345" sldId="323"/>
        </pc:sldMkLst>
        <pc:spChg chg="mod">
          <ac:chgData name="Bekithemba Nkomo [student]" userId="86136daf-e49a-4e73-94f9-5f5e7d01c202" providerId="ADAL" clId="{FD461593-A034-48B1-BF4F-B9842699BA8D}" dt="2025-03-10T03:50:48.493" v="1023" actId="113"/>
          <ac:spMkLst>
            <pc:docMk/>
            <pc:sldMk cId="3539802345" sldId="323"/>
            <ac:spMk id="10" creationId="{C4148CFF-948C-A314-BE6D-14657A6393D4}"/>
          </ac:spMkLst>
        </pc:spChg>
      </pc:sldChg>
      <pc:sldChg chg="modSp add mod ord">
        <pc:chgData name="Bekithemba Nkomo [student]" userId="86136daf-e49a-4e73-94f9-5f5e7d01c202" providerId="ADAL" clId="{FD461593-A034-48B1-BF4F-B9842699BA8D}" dt="2025-03-10T04:31:47.935" v="1117" actId="27636"/>
        <pc:sldMkLst>
          <pc:docMk/>
          <pc:sldMk cId="3697688835" sldId="324"/>
        </pc:sldMkLst>
        <pc:spChg chg="mod">
          <ac:chgData name="Bekithemba Nkomo [student]" userId="86136daf-e49a-4e73-94f9-5f5e7d01c202" providerId="ADAL" clId="{FD461593-A034-48B1-BF4F-B9842699BA8D}" dt="2025-03-10T04:31:47.935" v="1117" actId="27636"/>
          <ac:spMkLst>
            <pc:docMk/>
            <pc:sldMk cId="3697688835" sldId="324"/>
            <ac:spMk id="10" creationId="{63BA7AE3-5878-1FE9-62DD-7C723E658B8E}"/>
          </ac:spMkLst>
        </pc:spChg>
      </pc:sldChg>
      <pc:sldChg chg="addSp delSp modSp add mod ord">
        <pc:chgData name="Bekithemba Nkomo [student]" userId="86136daf-e49a-4e73-94f9-5f5e7d01c202" providerId="ADAL" clId="{FD461593-A034-48B1-BF4F-B9842699BA8D}" dt="2025-03-10T04:30:58.143" v="1115" actId="1076"/>
        <pc:sldMkLst>
          <pc:docMk/>
          <pc:sldMk cId="3275207337" sldId="325"/>
        </pc:sldMkLst>
        <pc:spChg chg="mod">
          <ac:chgData name="Bekithemba Nkomo [student]" userId="86136daf-e49a-4e73-94f9-5f5e7d01c202" providerId="ADAL" clId="{FD461593-A034-48B1-BF4F-B9842699BA8D}" dt="2025-03-10T04:30:58.143" v="1115" actId="1076"/>
          <ac:spMkLst>
            <pc:docMk/>
            <pc:sldMk cId="3275207337" sldId="325"/>
            <ac:spMk id="4" creationId="{317A52FA-5BD7-7134-9F91-7C70348E4842}"/>
          </ac:spMkLst>
        </pc:spChg>
        <pc:picChg chg="add mod">
          <ac:chgData name="Bekithemba Nkomo [student]" userId="86136daf-e49a-4e73-94f9-5f5e7d01c202" providerId="ADAL" clId="{FD461593-A034-48B1-BF4F-B9842699BA8D}" dt="2025-03-10T04:30:54.022" v="1114" actId="14100"/>
          <ac:picMkLst>
            <pc:docMk/>
            <pc:sldMk cId="3275207337" sldId="325"/>
            <ac:picMk id="2" creationId="{C413129F-9E86-A38B-2781-5462D0C3ACEE}"/>
          </ac:picMkLst>
        </pc:picChg>
        <pc:picChg chg="del">
          <ac:chgData name="Bekithemba Nkomo [student]" userId="86136daf-e49a-4e73-94f9-5f5e7d01c202" providerId="ADAL" clId="{FD461593-A034-48B1-BF4F-B9842699BA8D}" dt="2025-03-10T04:30:02.422" v="1107" actId="478"/>
          <ac:picMkLst>
            <pc:docMk/>
            <pc:sldMk cId="3275207337" sldId="325"/>
            <ac:picMk id="5" creationId="{7E9F457D-0093-EEA4-D05A-BE9564AA5F2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3/10/2025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3/10/2025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3/10/2025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0DA1498-92C7-4E4B-8045-C9195F453964}" type="datetimeFigureOut">
              <a:rPr lang="en-US" smtClean="0"/>
              <a:t>3/10/2025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6FEDF93-2BFD-41CA-ABC7-B039102F3792}"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jp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1.jp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3.jpg"/><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jp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5.jpe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7.jp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8.jpeg"/><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9.jpeg"/><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2.png"/><Relationship Id="rId7" Type="http://schemas.openxmlformats.org/officeDocument/2006/relationships/image" Target="../media/image20.jpeg"/><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2.emf"/><Relationship Id="rId4" Type="http://schemas.openxmlformats.org/officeDocument/2006/relationships/hyperlink" Target="https://24slides.com/?utm_campaign=mp&amp;utm_medium=ppt&amp;utm_source=pptlink&amp;utm_content=&amp;utm_ter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927504"/>
            <a:ext cx="9144000" cy="1169551"/>
          </a:xfrm>
        </p:spPr>
        <p:txBody>
          <a:bodyPr lIns="0" tIns="0" rIns="0" bIns="0" anchor="t">
            <a:spAutoFit/>
          </a:bodyPr>
          <a:lstStyle/>
          <a:p>
            <a:pPr algn="ctr"/>
            <a:r>
              <a:rPr lang="en-US" sz="3600" b="1" dirty="0">
                <a:solidFill>
                  <a:srgbClr val="002060"/>
                </a:solidFill>
              </a:rPr>
              <a:t>M4 Project Work: First Tables and Graphs</a:t>
            </a:r>
            <a:br>
              <a:rPr lang="en-US" b="1" dirty="0">
                <a:solidFill>
                  <a:srgbClr val="002060"/>
                </a:solidFill>
              </a:rPr>
            </a:br>
            <a:r>
              <a:rPr lang="en-US" sz="4000" b="1" dirty="0">
                <a:solidFill>
                  <a:srgbClr val="002060"/>
                </a:solidFill>
              </a:rPr>
              <a:t>Presentation</a:t>
            </a:r>
            <a:endParaRPr lang="en-US" b="1" dirty="0">
              <a:solidFill>
                <a:srgbClr val="002060"/>
              </a:solidFill>
            </a:endParaRPr>
          </a:p>
        </p:txBody>
      </p:sp>
      <p:sp>
        <p:nvSpPr>
          <p:cNvPr id="4" name="Diamond 3"/>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p:cNvSpPr/>
          <p:nvPr/>
        </p:nvSpPr>
        <p:spPr>
          <a:xfrm>
            <a:off x="4325257" y="-1770743"/>
            <a:ext cx="3569909" cy="323547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p:cNvGrpSpPr/>
          <p:nvPr/>
        </p:nvGrpSpPr>
        <p:grpSpPr>
          <a:xfrm>
            <a:off x="5851021" y="3469064"/>
            <a:ext cx="813730" cy="748584"/>
            <a:chOff x="2025650" y="4786313"/>
            <a:chExt cx="285750" cy="287338"/>
          </a:xfrm>
          <a:solidFill>
            <a:schemeClr val="bg1"/>
          </a:solidFill>
        </p:grpSpPr>
        <p:sp>
          <p:nvSpPr>
            <p:cNvPr id="8" name="Freeform 565"/>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b="1" dirty="0"/>
            </a:p>
          </p:txBody>
        </p:sp>
        <p:sp>
          <p:nvSpPr>
            <p:cNvPr id="9" name="Freeform 566"/>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b="1" dirty="0"/>
            </a:p>
          </p:txBody>
        </p:sp>
      </p:grpSp>
      <p:sp>
        <p:nvSpPr>
          <p:cNvPr id="3" name="TextBox 2"/>
          <p:cNvSpPr txBox="1"/>
          <p:nvPr/>
        </p:nvSpPr>
        <p:spPr>
          <a:xfrm>
            <a:off x="322448" y="1770395"/>
            <a:ext cx="4412491" cy="3200876"/>
          </a:xfrm>
          <a:prstGeom prst="rect">
            <a:avLst/>
          </a:prstGeom>
          <a:noFill/>
        </p:spPr>
        <p:txBody>
          <a:bodyPr wrap="square" rtlCol="0">
            <a:spAutoFit/>
          </a:bodyPr>
          <a:lstStyle/>
          <a:p>
            <a:r>
              <a:rPr lang="en-US" sz="2000" b="1" u="sng" dirty="0"/>
              <a:t>TEAM MEMBERS:</a:t>
            </a:r>
          </a:p>
          <a:p>
            <a:endParaRPr lang="en-US" sz="2000" b="1" u="sng" dirty="0"/>
          </a:p>
          <a:p>
            <a:pPr>
              <a:lnSpc>
                <a:spcPct val="200000"/>
              </a:lnSpc>
            </a:pPr>
            <a:r>
              <a:rPr lang="en-US" b="1" dirty="0"/>
              <a:t>Sylvester </a:t>
            </a:r>
            <a:r>
              <a:rPr lang="en-US" b="1" dirty="0" err="1"/>
              <a:t>Vhashe</a:t>
            </a:r>
            <a:endParaRPr lang="en-US" b="1" dirty="0"/>
          </a:p>
          <a:p>
            <a:pPr>
              <a:lnSpc>
                <a:spcPct val="200000"/>
              </a:lnSpc>
            </a:pPr>
            <a:r>
              <a:rPr lang="en-US" b="1" dirty="0"/>
              <a:t>Bekithemba Nkomo</a:t>
            </a:r>
          </a:p>
          <a:p>
            <a:pPr>
              <a:lnSpc>
                <a:spcPct val="200000"/>
              </a:lnSpc>
            </a:pPr>
            <a:r>
              <a:rPr lang="en-US" b="1" dirty="0"/>
              <a:t>Innocent </a:t>
            </a:r>
            <a:r>
              <a:rPr lang="en-US" b="1" dirty="0" err="1"/>
              <a:t>Mujokoro</a:t>
            </a:r>
            <a:endParaRPr lang="en-US" b="1" dirty="0"/>
          </a:p>
          <a:p>
            <a:pPr>
              <a:lnSpc>
                <a:spcPct val="200000"/>
              </a:lnSpc>
            </a:pPr>
            <a:r>
              <a:rPr lang="en-US" b="1" dirty="0"/>
              <a:t>Tapiwanashe </a:t>
            </a:r>
            <a:r>
              <a:rPr lang="en-US" b="1" dirty="0" err="1"/>
              <a:t>Mutarimanja</a:t>
            </a:r>
            <a:endParaRPr lang="en-US" b="1" dirty="0"/>
          </a:p>
          <a:p>
            <a:endParaRPr lang="en-US" dirty="0">
              <a:solidFill>
                <a:schemeClr val="bg1"/>
              </a:solidFill>
            </a:endParaRPr>
          </a:p>
        </p:txBody>
      </p:sp>
      <p:sp>
        <p:nvSpPr>
          <p:cNvPr id="11" name="Title 1"/>
          <p:cNvSpPr txBox="1"/>
          <p:nvPr/>
        </p:nvSpPr>
        <p:spPr>
          <a:xfrm>
            <a:off x="-106731" y="41224"/>
            <a:ext cx="4317230" cy="1661993"/>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NEXTGEN</a:t>
            </a:r>
          </a:p>
          <a:p>
            <a:r>
              <a:rPr lang="en-US" dirty="0"/>
              <a:t>ANALYTICS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6666"/>
        </a:solidFill>
        <a:effectLst/>
      </p:bgPr>
    </p:bg>
    <p:spTree>
      <p:nvGrpSpPr>
        <p:cNvPr id="1" name=""/>
        <p:cNvGrpSpPr/>
        <p:nvPr/>
      </p:nvGrpSpPr>
      <p:grpSpPr>
        <a:xfrm>
          <a:off x="0" y="0"/>
          <a:ext cx="0" cy="0"/>
          <a:chOff x="0" y="0"/>
          <a:chExt cx="0" cy="0"/>
        </a:xfrm>
      </p:grpSpPr>
      <p:sp>
        <p:nvSpPr>
          <p:cNvPr id="4" name="Diamond 3"/>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968325" y="1516045"/>
            <a:ext cx="10874326" cy="3139321"/>
          </a:xfrm>
          <a:prstGeom prst="rect">
            <a:avLst/>
          </a:prstGeom>
          <a:noFill/>
        </p:spPr>
        <p:txBody>
          <a:bodyPr wrap="square" rtlCol="0">
            <a:spAutoFit/>
          </a:bodyPr>
          <a:lstStyle/>
          <a:p>
            <a:r>
              <a:rPr lang="en-US" dirty="0">
                <a:solidFill>
                  <a:schemeClr val="bg1"/>
                </a:solidFill>
              </a:rPr>
              <a:t>TITLE : </a:t>
            </a:r>
          </a:p>
          <a:p>
            <a:r>
              <a:rPr lang="en-US" sz="5400" b="1" dirty="0">
                <a:solidFill>
                  <a:schemeClr val="bg1"/>
                </a:solidFill>
                <a:latin typeface="Times New Roman" panose="02020603050405020304" pitchFamily="18" charset="0"/>
                <a:cs typeface="Times New Roman" panose="02020603050405020304" pitchFamily="18" charset="0"/>
              </a:rPr>
              <a:t>Data-Driven Enforcement for Improved Housing Conditions and Code Compliance in NYC</a:t>
            </a:r>
          </a:p>
          <a:p>
            <a:endParaRPr lang="en-US" dirty="0"/>
          </a:p>
        </p:txBody>
      </p:sp>
      <p:sp>
        <p:nvSpPr>
          <p:cNvPr id="11" name="Title 1"/>
          <p:cNvSpPr txBox="1"/>
          <p:nvPr/>
        </p:nvSpPr>
        <p:spPr>
          <a:xfrm>
            <a:off x="725658" y="4780972"/>
            <a:ext cx="10515600" cy="1772793"/>
          </a:xfrm>
          <a:prstGeom prst="rect">
            <a:avLst/>
          </a:prstGeom>
          <a:noFill/>
        </p:spPr>
        <p:txBody>
          <a:bodyPr vert="horz" lIns="0" tIns="0" rIns="0" bIns="0" rtlCol="0" anchor="t">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i="1" dirty="0">
                <a:solidFill>
                  <a:schemeClr val="bg1"/>
                </a:solidFill>
              </a:rPr>
              <a:t>Welcome to our analysis of housing conditions and code compliance in New York City, where we leverage data to understand tenant experiences and identify critical areas for improvement.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795" y="452755"/>
            <a:ext cx="9404985" cy="5709285"/>
          </a:xfrm>
        </p:spPr>
        <p:txBody>
          <a:bodyPr/>
          <a:lstStyle/>
          <a:p>
            <a:r>
              <a:rPr lang="en-US" altLang="en-US" b="1" dirty="0"/>
              <a:t>IMPROVEMENTS</a:t>
            </a:r>
            <a:br>
              <a:rPr lang="en-US" altLang="en-US" dirty="0"/>
            </a:br>
            <a:r>
              <a:rPr lang="en-US" altLang="en-US" dirty="0"/>
              <a:t>For a better presentation we have re arranged the flow of slides. New tables have been added. A new chart with new insights has also been added.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752814" y="749085"/>
            <a:ext cx="6622977" cy="5304243"/>
          </a:xfrm>
        </p:spPr>
        <p:txBody>
          <a:bodyPr anchor="ctr">
            <a:normAutofit/>
          </a:bodyPr>
          <a:lstStyle/>
          <a:p>
            <a:pPr>
              <a:buNone/>
            </a:pPr>
            <a:r>
              <a:rPr lang="en-US" sz="1400" b="1" dirty="0">
                <a:cs typeface="Times New Roman" panose="02020603050405020304" pitchFamily="18" charset="0"/>
              </a:rPr>
              <a:t>Table 1 : Complaints leading to violations</a:t>
            </a:r>
          </a:p>
          <a:p>
            <a:pPr>
              <a:buNone/>
            </a:pPr>
            <a:r>
              <a:rPr lang="en-US" sz="1200" b="1" dirty="0"/>
              <a:t>Key Insights from the "Boroughs with the Most Complaints Leading to Violations" Table:</a:t>
            </a:r>
            <a:endParaRPr lang="en-US" sz="1200" dirty="0"/>
          </a:p>
          <a:p>
            <a:r>
              <a:rPr lang="en-US" sz="1200" b="1" dirty="0"/>
              <a:t>Brooklyn has the Highest Complaint Volume:</a:t>
            </a:r>
            <a:r>
              <a:rPr lang="en-US" sz="1200" dirty="0"/>
              <a:t> Brooklyn has significantly more complaints (449,391) than any other borough, more than double the next highest (Bronx).</a:t>
            </a:r>
          </a:p>
          <a:p>
            <a:r>
              <a:rPr lang="en-US" sz="1200" b="1" dirty="0"/>
              <a:t>Bronx has the Highest Percentage of Complaints Leading to Violations:</a:t>
            </a:r>
            <a:r>
              <a:rPr lang="en-US" sz="1200" dirty="0"/>
              <a:t> While Brooklyn has the most complaints, the Bronx has the highest percentage of those complaints resulting in violations (46%). This suggests a potential issue with the severity or validity of complaints in the Bronx.</a:t>
            </a:r>
          </a:p>
          <a:p>
            <a:r>
              <a:rPr lang="en-US" sz="1200" b="1" dirty="0"/>
              <a:t>Queens has the Lowest Percentage of Complaints Leading to Violations:</a:t>
            </a:r>
            <a:r>
              <a:rPr lang="en-US" sz="1200" dirty="0"/>
              <a:t> Queens has the lowest percentage of complaints resulting in violations (21%). This could indicate a more efficient resolution process or potentially a lower rate of valid complaints.</a:t>
            </a:r>
          </a:p>
          <a:p>
            <a:r>
              <a:rPr lang="en-US" sz="1200" b="1" dirty="0"/>
              <a:t>Staten Island has the Lowest Complaint Volume:</a:t>
            </a:r>
            <a:r>
              <a:rPr lang="en-US" sz="1200" dirty="0"/>
              <a:t> Staten Island has the fewest complaints overall, which may reflect its smaller population or potentially different reporting patterns.</a:t>
            </a:r>
          </a:p>
          <a:p>
            <a:r>
              <a:rPr lang="en-US" sz="1200" b="1" dirty="0"/>
              <a:t>Overall Violation Rate is 31%:</a:t>
            </a:r>
            <a:r>
              <a:rPr lang="en-US" sz="1200" dirty="0"/>
              <a:t> Across all boroughs, approximately 31% of complaints result in violations.</a:t>
            </a:r>
          </a:p>
        </p:txBody>
      </p:sp>
      <p:pic>
        <p:nvPicPr>
          <p:cNvPr id="3" name="Picture 2"/>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08CBFC-5C00-12BB-0596-8F84F8BE25D9}"/>
            </a:ext>
          </a:extLst>
        </p:cNvPr>
        <p:cNvGrpSpPr/>
        <p:nvPr/>
      </p:nvGrpSpPr>
      <p:grpSpPr>
        <a:xfrm>
          <a:off x="0" y="0"/>
          <a:ext cx="0" cy="0"/>
          <a:chOff x="0" y="0"/>
          <a:chExt cx="0" cy="0"/>
        </a:xfrm>
      </p:grpSpPr>
      <p:pic>
        <p:nvPicPr>
          <p:cNvPr id="70" name="Picture 69">
            <a:extLst>
              <a:ext uri="{FF2B5EF4-FFF2-40B4-BE49-F238E27FC236}">
                <a16:creationId xmlns:a16="http://schemas.microsoft.com/office/drawing/2014/main" id="{16C9A747-FCBF-51E7-D11F-089C535B1A9F}"/>
              </a:ext>
            </a:extLst>
          </p:cNvPr>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2" name="Picture 71">
            <a:extLst>
              <a:ext uri="{FF2B5EF4-FFF2-40B4-BE49-F238E27FC236}">
                <a16:creationId xmlns:a16="http://schemas.microsoft.com/office/drawing/2014/main" id="{CA9DA908-F442-AB89-598D-C68D2D96C40E}"/>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74" name="Oval 73">
            <a:extLst>
              <a:ext uri="{FF2B5EF4-FFF2-40B4-BE49-F238E27FC236}">
                <a16:creationId xmlns:a16="http://schemas.microsoft.com/office/drawing/2014/main" id="{E0EDCF06-DE94-0D4A-D63A-07715217B68F}"/>
              </a:ext>
            </a:extLst>
          </p:cNvPr>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6" name="Picture 75">
            <a:extLst>
              <a:ext uri="{FF2B5EF4-FFF2-40B4-BE49-F238E27FC236}">
                <a16:creationId xmlns:a16="http://schemas.microsoft.com/office/drawing/2014/main" id="{3910203A-1997-00E1-FC70-C804BCC6E683}"/>
              </a:ext>
            </a:extLst>
          </p:cNvPr>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78" name="Picture 77">
            <a:extLst>
              <a:ext uri="{FF2B5EF4-FFF2-40B4-BE49-F238E27FC236}">
                <a16:creationId xmlns:a16="http://schemas.microsoft.com/office/drawing/2014/main" id="{FDC0FB57-1252-0881-2A70-6DD238B23041}"/>
              </a:ext>
            </a:extLst>
          </p:cNvPr>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80" name="Rectangle 79">
            <a:extLst>
              <a:ext uri="{FF2B5EF4-FFF2-40B4-BE49-F238E27FC236}">
                <a16:creationId xmlns:a16="http://schemas.microsoft.com/office/drawing/2014/main" id="{DB390588-30B0-22D2-1D38-61F77C738500}"/>
              </a:ext>
            </a:extLst>
          </p:cNvPr>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 name="Rectangle 81">
            <a:extLst>
              <a:ext uri="{FF2B5EF4-FFF2-40B4-BE49-F238E27FC236}">
                <a16:creationId xmlns:a16="http://schemas.microsoft.com/office/drawing/2014/main" id="{B7000166-D2F3-4154-2BA4-B9C6A05CBC9D}"/>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5DC6453-5355-BBFE-30F8-4A142CC1059C}"/>
              </a:ext>
            </a:extLst>
          </p:cNvPr>
          <p:cNvSpPr>
            <a:spLocks noGrp="1"/>
          </p:cNvSpPr>
          <p:nvPr>
            <p:ph type="body" idx="1"/>
          </p:nvPr>
        </p:nvSpPr>
        <p:spPr>
          <a:xfrm>
            <a:off x="656826" y="1014845"/>
            <a:ext cx="4853540" cy="1039303"/>
          </a:xfrm>
        </p:spPr>
        <p:txBody>
          <a:bodyPr/>
          <a:lstStyle/>
          <a:p>
            <a:r>
              <a:rPr lang="en-US" dirty="0"/>
              <a:t>Old table</a:t>
            </a:r>
          </a:p>
        </p:txBody>
      </p:sp>
      <p:pic>
        <p:nvPicPr>
          <p:cNvPr id="9" name="Content Placeholder 8">
            <a:extLst>
              <a:ext uri="{FF2B5EF4-FFF2-40B4-BE49-F238E27FC236}">
                <a16:creationId xmlns:a16="http://schemas.microsoft.com/office/drawing/2014/main" id="{79B141CF-91A6-1EBF-0308-466EE0D04E6E}"/>
              </a:ext>
            </a:extLst>
          </p:cNvPr>
          <p:cNvPicPr>
            <a:picLocks noGrp="1" noChangeAspect="1"/>
          </p:cNvPicPr>
          <p:nvPr>
            <p:ph sz="half" idx="2"/>
          </p:nvPr>
        </p:nvPicPr>
        <p:blipFill>
          <a:blip r:embed="rId6"/>
          <a:stretch>
            <a:fillRect/>
          </a:stretch>
        </p:blipFill>
        <p:spPr>
          <a:xfrm>
            <a:off x="701959" y="2586218"/>
            <a:ext cx="4763274" cy="3509781"/>
          </a:xfrm>
          <a:prstGeom prst="rect">
            <a:avLst/>
          </a:prstGeom>
        </p:spPr>
      </p:pic>
      <p:sp>
        <p:nvSpPr>
          <p:cNvPr id="7" name="Text Placeholder 6">
            <a:extLst>
              <a:ext uri="{FF2B5EF4-FFF2-40B4-BE49-F238E27FC236}">
                <a16:creationId xmlns:a16="http://schemas.microsoft.com/office/drawing/2014/main" id="{12CE3166-2BF0-EB20-F3FB-D8C7D09717B3}"/>
              </a:ext>
            </a:extLst>
          </p:cNvPr>
          <p:cNvSpPr>
            <a:spLocks noGrp="1"/>
          </p:cNvSpPr>
          <p:nvPr>
            <p:ph type="body" sz="quarter" idx="3"/>
          </p:nvPr>
        </p:nvSpPr>
        <p:spPr>
          <a:xfrm>
            <a:off x="5837684" y="986967"/>
            <a:ext cx="5269093" cy="1039304"/>
          </a:xfrm>
        </p:spPr>
        <p:txBody>
          <a:bodyPr/>
          <a:lstStyle/>
          <a:p>
            <a:r>
              <a:rPr lang="en-US" dirty="0"/>
              <a:t>New table</a:t>
            </a:r>
          </a:p>
        </p:txBody>
      </p:sp>
      <p:pic>
        <p:nvPicPr>
          <p:cNvPr id="10" name="Content Placeholder 9">
            <a:extLst>
              <a:ext uri="{FF2B5EF4-FFF2-40B4-BE49-F238E27FC236}">
                <a16:creationId xmlns:a16="http://schemas.microsoft.com/office/drawing/2014/main" id="{A554BE97-7EAF-016F-42E7-9F03D278B418}"/>
              </a:ext>
            </a:extLst>
          </p:cNvPr>
          <p:cNvPicPr>
            <a:picLocks noGrp="1" noChangeAspect="1"/>
          </p:cNvPicPr>
          <p:nvPr>
            <p:ph sz="quarter" idx="4"/>
          </p:nvPr>
        </p:nvPicPr>
        <p:blipFill>
          <a:blip r:embed="rId7"/>
          <a:stretch>
            <a:fillRect/>
          </a:stretch>
        </p:blipFill>
        <p:spPr>
          <a:xfrm>
            <a:off x="5633508" y="2561264"/>
            <a:ext cx="5871335" cy="3534736"/>
          </a:xfrm>
          <a:prstGeom prst="rect">
            <a:avLst/>
          </a:prstGeom>
        </p:spPr>
      </p:pic>
    </p:spTree>
    <p:extLst>
      <p:ext uri="{BB962C8B-B14F-4D97-AF65-F5344CB8AC3E}">
        <p14:creationId xmlns:p14="http://schemas.microsoft.com/office/powerpoint/2010/main" val="43388248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982C814C-AE8C-8B59-2068-72FC3BC8B8A5}"/>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7EE19D53-7620-ED44-B6F9-38139E6039B9}"/>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4070CAE5-0925-C1FB-F058-1F14A8C136B8}"/>
              </a:ext>
            </a:extLst>
          </p:cNvPr>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64A82054-29DA-E814-7D2E-0BB1A9A896BB}"/>
              </a:ext>
            </a:extLst>
          </p:cNvPr>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0CB01B19-22CB-BF68-D4A6-C50236D1EB53}"/>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0FFFE963-C2A2-CF8C-7AA7-82DCBC9870DF}"/>
              </a:ext>
            </a:extLst>
          </p:cNvPr>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a:extLst>
              <a:ext uri="{FF2B5EF4-FFF2-40B4-BE49-F238E27FC236}">
                <a16:creationId xmlns:a16="http://schemas.microsoft.com/office/drawing/2014/main" id="{6DC05012-D417-FBC1-3901-FA70D469B1A3}"/>
              </a:ext>
            </a:extLst>
          </p:cNvPr>
          <p:cNvSpPr>
            <a:spLocks noGrp="1"/>
          </p:cNvSpPr>
          <p:nvPr>
            <p:ph idx="1"/>
          </p:nvPr>
        </p:nvSpPr>
        <p:spPr>
          <a:xfrm>
            <a:off x="4752814" y="749085"/>
            <a:ext cx="6622977" cy="5304243"/>
          </a:xfrm>
        </p:spPr>
        <p:txBody>
          <a:bodyPr anchor="ctr">
            <a:normAutofit/>
          </a:bodyPr>
          <a:lstStyle/>
          <a:p>
            <a:pPr>
              <a:buNone/>
            </a:pPr>
            <a:r>
              <a:rPr lang="en-US" sz="1800" b="1" dirty="0">
                <a:cs typeface="Times New Roman" panose="02020603050405020304" pitchFamily="18" charset="0"/>
              </a:rPr>
              <a:t>Comparison between old and new table</a:t>
            </a:r>
            <a:endParaRPr lang="en-US" sz="1400" b="1" dirty="0">
              <a:latin typeface="Times New Roman" panose="02020603050405020304" pitchFamily="18" charset="0"/>
              <a:cs typeface="Times New Roman" panose="02020603050405020304" pitchFamily="18" charset="0"/>
            </a:endParaRPr>
          </a:p>
          <a:p>
            <a:pPr>
              <a:buNone/>
            </a:pPr>
            <a:r>
              <a:rPr lang="en-US" sz="1400" b="1" dirty="0">
                <a:latin typeface="+mn-lt"/>
                <a:cs typeface="Times New Roman" panose="02020603050405020304" pitchFamily="18" charset="0"/>
              </a:rPr>
              <a:t>Simplification &amp; Summarization:</a:t>
            </a:r>
          </a:p>
          <a:p>
            <a:r>
              <a:rPr lang="en-US" sz="1400" dirty="0">
                <a:cs typeface="Times New Roman" panose="02020603050405020304" pitchFamily="18" charset="0"/>
              </a:rPr>
              <a:t>The new table aggregates data, summarizing complaint counts, violation counts, and percentage conversion rates instead of breaking them down by year and violation </a:t>
            </a:r>
            <a:r>
              <a:rPr lang="en-US" sz="1400" dirty="0" err="1">
                <a:cs typeface="Times New Roman" panose="02020603050405020304" pitchFamily="18" charset="0"/>
              </a:rPr>
              <a:t>class.This</a:t>
            </a:r>
            <a:r>
              <a:rPr lang="en-US" sz="1400" dirty="0">
                <a:cs typeface="Times New Roman" panose="02020603050405020304" pitchFamily="18" charset="0"/>
              </a:rPr>
              <a:t> makes it easier to see overall trends without needing to analyze multiple rows.</a:t>
            </a:r>
          </a:p>
          <a:p>
            <a:pPr marL="0" indent="0">
              <a:buNone/>
            </a:pPr>
            <a:r>
              <a:rPr lang="en-US" sz="1400" b="1" dirty="0">
                <a:cs typeface="Times New Roman" panose="02020603050405020304" pitchFamily="18" charset="0"/>
              </a:rPr>
              <a:t>Enhanced Readability</a:t>
            </a:r>
            <a:r>
              <a:rPr lang="en-US" sz="1400" dirty="0">
                <a:cs typeface="Times New Roman" panose="02020603050405020304" pitchFamily="18" charset="0"/>
              </a:rPr>
              <a:t>:</a:t>
            </a:r>
          </a:p>
          <a:p>
            <a:r>
              <a:rPr lang="en-US" sz="1400" dirty="0">
                <a:cs typeface="Times New Roman" panose="02020603050405020304" pitchFamily="18" charset="0"/>
              </a:rPr>
              <a:t>The old table had a dense structure, making it harder to interpret at a glance. The new table is more compact and presents key insights concisely.</a:t>
            </a:r>
          </a:p>
          <a:p>
            <a:pPr marL="0" indent="0">
              <a:buNone/>
            </a:pPr>
            <a:r>
              <a:rPr lang="en-US" sz="1400" b="1" dirty="0">
                <a:cs typeface="Times New Roman" panose="02020603050405020304" pitchFamily="18" charset="0"/>
              </a:rPr>
              <a:t>New Metric (% of Complaints Leading to Violations):</a:t>
            </a:r>
          </a:p>
          <a:p>
            <a:r>
              <a:rPr lang="en-US" sz="1400" dirty="0">
                <a:cs typeface="Times New Roman" panose="02020603050405020304" pitchFamily="18" charset="0"/>
              </a:rPr>
              <a:t>The new table introduces a percentage column that shows how many complaints resulted in violations per </a:t>
            </a:r>
            <a:r>
              <a:rPr lang="en-US" sz="1400" dirty="0" err="1">
                <a:cs typeface="Times New Roman" panose="02020603050405020304" pitchFamily="18" charset="0"/>
              </a:rPr>
              <a:t>borough.This</a:t>
            </a:r>
            <a:r>
              <a:rPr lang="en-US" sz="1400" dirty="0">
                <a:cs typeface="Times New Roman" panose="02020603050405020304" pitchFamily="18" charset="0"/>
              </a:rPr>
              <a:t> provides additional insight into enforcement efficiency or the likelihood of complaints translating into actual violations.</a:t>
            </a:r>
          </a:p>
          <a:p>
            <a:pPr marL="0" indent="0">
              <a:buNone/>
            </a:pPr>
            <a:r>
              <a:rPr lang="en-US" sz="1400" b="1" dirty="0">
                <a:cs typeface="Times New Roman" panose="02020603050405020304" pitchFamily="18" charset="0"/>
              </a:rPr>
              <a:t>Better Comparison Across Boroughs:</a:t>
            </a:r>
          </a:p>
          <a:p>
            <a:r>
              <a:rPr lang="en-US" sz="1400" dirty="0">
                <a:cs typeface="Times New Roman" panose="02020603050405020304" pitchFamily="18" charset="0"/>
              </a:rPr>
              <a:t>The new table makes it easy to compare boroughs directly by displaying total complaint and violation counts side by side, without having to scan through multiple years and classes.</a:t>
            </a:r>
          </a:p>
        </p:txBody>
      </p:sp>
      <p:pic>
        <p:nvPicPr>
          <p:cNvPr id="3" name="Picture 2">
            <a:extLst>
              <a:ext uri="{FF2B5EF4-FFF2-40B4-BE49-F238E27FC236}">
                <a16:creationId xmlns:a16="http://schemas.microsoft.com/office/drawing/2014/main" id="{D30E12CB-5C4D-DA68-5CD2-0B2CDF4DFB47}"/>
              </a:ext>
            </a:extLst>
          </p:cNvPr>
          <p:cNvPicPr>
            <a:picLocks noChangeAspect="1"/>
          </p:cNvPicPr>
          <p:nvPr/>
        </p:nvPicPr>
        <p:blipFill>
          <a:blip r:embed="rId4"/>
          <a:stretch>
            <a:fillRect/>
          </a:stretch>
        </p:blipFill>
        <p:spPr>
          <a:xfrm>
            <a:off x="680297" y="1088806"/>
            <a:ext cx="3735090" cy="4630069"/>
          </a:xfrm>
          <a:prstGeom prst="rect">
            <a:avLst/>
          </a:prstGeom>
        </p:spPr>
      </p:pic>
    </p:spTree>
    <p:extLst>
      <p:ext uri="{BB962C8B-B14F-4D97-AF65-F5344CB8AC3E}">
        <p14:creationId xmlns:p14="http://schemas.microsoft.com/office/powerpoint/2010/main" val="1576201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D8A7F04B-CA2C-E370-5059-A0E04C31BED3}"/>
            </a:ext>
          </a:extLst>
        </p:cNvPr>
        <p:cNvGrpSpPr/>
        <p:nvPr/>
      </p:nvGrpSpPr>
      <p:grpSpPr>
        <a:xfrm>
          <a:off x="0" y="0"/>
          <a:ext cx="0" cy="0"/>
          <a:chOff x="0" y="0"/>
          <a:chExt cx="0" cy="0"/>
        </a:xfrm>
      </p:grpSpPr>
      <p:pic>
        <p:nvPicPr>
          <p:cNvPr id="20" name="Picture 19" descr="Desk with productivity items">
            <a:extLst>
              <a:ext uri="{FF2B5EF4-FFF2-40B4-BE49-F238E27FC236}">
                <a16:creationId xmlns:a16="http://schemas.microsoft.com/office/drawing/2014/main" id="{CF972093-2ADD-BFCB-536E-373B0B1FEB91}"/>
              </a:ext>
            </a:extLst>
          </p:cNvPr>
          <p:cNvPicPr>
            <a:picLocks noChangeAspect="1"/>
          </p:cNvPicPr>
          <p:nvPr/>
        </p:nvPicPr>
        <p:blipFill>
          <a:blip r:embed="rId3"/>
          <a:srcRect l="27966" r="12716" b="-1"/>
          <a:stretch>
            <a:fillRect/>
          </a:stretch>
        </p:blipFill>
        <p:spPr>
          <a:xfrm>
            <a:off x="-2" y="10"/>
            <a:ext cx="6094407" cy="6857990"/>
          </a:xfrm>
          <a:prstGeom prst="rect">
            <a:avLst/>
          </a:prstGeom>
        </p:spPr>
      </p:pic>
      <p:sp>
        <p:nvSpPr>
          <p:cNvPr id="10" name="Content Placeholder 9">
            <a:extLst>
              <a:ext uri="{FF2B5EF4-FFF2-40B4-BE49-F238E27FC236}">
                <a16:creationId xmlns:a16="http://schemas.microsoft.com/office/drawing/2014/main" id="{C4148CFF-948C-A314-BE6D-14657A6393D4}"/>
              </a:ext>
            </a:extLst>
          </p:cNvPr>
          <p:cNvSpPr>
            <a:spLocks noGrp="1"/>
          </p:cNvSpPr>
          <p:nvPr>
            <p:ph idx="1"/>
          </p:nvPr>
        </p:nvSpPr>
        <p:spPr>
          <a:xfrm>
            <a:off x="6210300" y="300567"/>
            <a:ext cx="5847381" cy="6069235"/>
          </a:xfrm>
        </p:spPr>
        <p:txBody>
          <a:bodyPr>
            <a:normAutofit fontScale="70000" lnSpcReduction="20000"/>
          </a:bodyPr>
          <a:lstStyle/>
          <a:p>
            <a:pPr marL="0" indent="0">
              <a:buNone/>
            </a:pPr>
            <a:r>
              <a:rPr lang="en-US" sz="1800" dirty="0"/>
              <a:t>Table 2: </a:t>
            </a:r>
            <a:r>
              <a:rPr lang="en-US" sz="1800" b="1" dirty="0"/>
              <a:t>Key Insights</a:t>
            </a:r>
          </a:p>
          <a:p>
            <a:pPr marL="0" indent="0">
              <a:buNone/>
            </a:pPr>
            <a:endParaRPr lang="en-US" sz="1800" dirty="0"/>
          </a:p>
          <a:p>
            <a:pPr marL="0" indent="0">
              <a:buNone/>
            </a:pPr>
            <a:r>
              <a:rPr lang="en-US" sz="1800" b="1" dirty="0"/>
              <a:t>Borough Comparison</a:t>
            </a:r>
            <a:r>
              <a:rPr lang="en-US" sz="1800" dirty="0"/>
              <a:t>:</a:t>
            </a:r>
          </a:p>
          <a:p>
            <a:pPr marL="0" indent="0">
              <a:buNone/>
            </a:pPr>
            <a:r>
              <a:rPr lang="en-US" sz="1800" dirty="0"/>
              <a:t>Brooklyn has the highest number of total complaints at 249,345, suggesting it may have more residents or a higher frequency of issues.</a:t>
            </a:r>
          </a:p>
          <a:p>
            <a:pPr marL="0" indent="0">
              <a:buNone/>
            </a:pPr>
            <a:r>
              <a:rPr lang="en-US" sz="1800" dirty="0"/>
              <a:t>Bronx follows with 217,563 complaints, indicating a substantial number of reported problems as well.</a:t>
            </a:r>
          </a:p>
          <a:p>
            <a:pPr marL="0" indent="0">
              <a:buNone/>
            </a:pPr>
            <a:r>
              <a:rPr lang="en-US" sz="1800" dirty="0"/>
              <a:t>Queens, Manhattan, and Staten Island have fewer complaints, with Staten Island being the lowest at 32,720.</a:t>
            </a:r>
          </a:p>
          <a:p>
            <a:pPr marL="0" indent="0">
              <a:buNone/>
            </a:pPr>
            <a:r>
              <a:rPr lang="en-US" sz="1800" b="1" dirty="0"/>
              <a:t>Major Categories</a:t>
            </a:r>
            <a:r>
              <a:rPr lang="en-US" sz="1800" dirty="0"/>
              <a:t>:</a:t>
            </a:r>
          </a:p>
          <a:p>
            <a:pPr marL="0" indent="0">
              <a:buNone/>
            </a:pPr>
            <a:r>
              <a:rPr lang="en-US" sz="1800" dirty="0"/>
              <a:t>Heat/Hot Water has the highest number of complaints in multiple boroughs, especially in Brooklyn (107,493) and the Bronx (81,003), indicating potential issues with heating systems that may need addressing.</a:t>
            </a:r>
          </a:p>
          <a:p>
            <a:pPr marL="0" indent="0">
              <a:buNone/>
            </a:pPr>
            <a:r>
              <a:rPr lang="en-US" sz="1800" dirty="0"/>
              <a:t>Plumbing also shows significant complaints, particularly in Brooklyn (46,137) and Bronx (38,133), suggesting a need for plumbing infrastructure </a:t>
            </a:r>
            <a:r>
              <a:rPr lang="en-US" sz="1800" dirty="0" err="1"/>
              <a:t>improvements.Other</a:t>
            </a:r>
            <a:r>
              <a:rPr lang="en-US" sz="1800" dirty="0"/>
              <a:t> categories like Electric and Water Leak also contribute to the overall complaint count, with notable figures in all boroughs.</a:t>
            </a:r>
          </a:p>
          <a:p>
            <a:pPr marL="0" indent="0">
              <a:buNone/>
            </a:pPr>
            <a:r>
              <a:rPr lang="en-US" sz="1800" b="1" dirty="0"/>
              <a:t>Issue Distribution</a:t>
            </a:r>
            <a:r>
              <a:rPr lang="en-US" sz="1800" dirty="0"/>
              <a:t>: </a:t>
            </a:r>
          </a:p>
          <a:p>
            <a:pPr marL="0" indent="0">
              <a:buNone/>
            </a:pPr>
            <a:r>
              <a:rPr lang="en-US" sz="1800" dirty="0"/>
              <a:t>The data suggests specific areas (like Brooklyn and Bronx) may require targeted interventions for heating and plumbing issues, given the high number of related complaints.</a:t>
            </a:r>
          </a:p>
          <a:p>
            <a:pPr marL="0" indent="0">
              <a:buNone/>
            </a:pPr>
            <a:r>
              <a:rPr lang="en-US" sz="1800" b="1" dirty="0"/>
              <a:t>Focus Areas for Improvement</a:t>
            </a:r>
            <a:r>
              <a:rPr lang="en-US" sz="1800" dirty="0"/>
              <a:t>: </a:t>
            </a:r>
          </a:p>
          <a:p>
            <a:pPr marL="0" indent="0">
              <a:buNone/>
            </a:pPr>
            <a:r>
              <a:rPr lang="en-US" sz="1800" dirty="0"/>
              <a:t>The boroughs with the highest complaint counts should be prioritized for resource allocation and infrastructure improvements to address the most pressing issues reported by residents.</a:t>
            </a:r>
          </a:p>
        </p:txBody>
      </p:sp>
    </p:spTree>
    <p:extLst>
      <p:ext uri="{BB962C8B-B14F-4D97-AF65-F5344CB8AC3E}">
        <p14:creationId xmlns:p14="http://schemas.microsoft.com/office/powerpoint/2010/main" val="3539802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 name="Picture 60"/>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63" name="Picture 62"/>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65" name="Oval 64"/>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7" name="Picture 66"/>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69" name="Picture 68"/>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71" name="Rectangle 70"/>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3" name="Rectangle 72"/>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8181445" y="1298041"/>
            <a:ext cx="2942167" cy="3039532"/>
          </a:xfrm>
          <a:prstGeom prst="rect">
            <a:avLst/>
          </a:prstGeom>
        </p:spPr>
        <p:txBody>
          <a:bodyPr vert="horz" lIns="91440" tIns="45720" rIns="91440" bIns="45720" rtlCol="0" anchor="b">
            <a:normAutofit/>
          </a:bodyPr>
          <a:lstStyle/>
          <a:p>
            <a:pPr>
              <a:spcBef>
                <a:spcPct val="0"/>
              </a:spcBef>
              <a:spcAft>
                <a:spcPts val="600"/>
              </a:spcAft>
            </a:pPr>
            <a:r>
              <a:rPr lang="en-US" sz="2800" cap="all" spc="200" dirty="0">
                <a:solidFill>
                  <a:srgbClr val="EBEBEB"/>
                </a:solidFill>
                <a:latin typeface="+mj-lt"/>
                <a:ea typeface="+mj-ea"/>
                <a:cs typeface="+mj-cs"/>
              </a:rPr>
              <a:t>Table 2</a:t>
            </a:r>
          </a:p>
          <a:p>
            <a:pPr>
              <a:spcBef>
                <a:spcPct val="0"/>
              </a:spcBef>
              <a:spcAft>
                <a:spcPts val="600"/>
              </a:spcAft>
            </a:pPr>
            <a:endParaRPr lang="en-US" cap="all" spc="200" dirty="0">
              <a:solidFill>
                <a:srgbClr val="EBEBEB"/>
              </a:solidFill>
              <a:latin typeface="+mj-lt"/>
              <a:ea typeface="+mj-ea"/>
              <a:cs typeface="+mj-cs"/>
            </a:endParaRPr>
          </a:p>
          <a:p>
            <a:pPr>
              <a:spcBef>
                <a:spcPct val="0"/>
              </a:spcBef>
              <a:spcAft>
                <a:spcPts val="600"/>
              </a:spcAft>
            </a:pPr>
            <a:endParaRPr lang="en-US" cap="all" spc="200" dirty="0">
              <a:solidFill>
                <a:srgbClr val="EBEBEB"/>
              </a:solidFill>
              <a:latin typeface="+mj-lt"/>
              <a:ea typeface="+mj-ea"/>
              <a:cs typeface="+mj-cs"/>
            </a:endParaRPr>
          </a:p>
          <a:p>
            <a:pPr>
              <a:spcBef>
                <a:spcPct val="0"/>
              </a:spcBef>
              <a:spcAft>
                <a:spcPts val="600"/>
              </a:spcAft>
            </a:pPr>
            <a:endParaRPr lang="en-US" sz="2000" b="0" i="0" kern="1200" cap="all" spc="200" baseline="0" dirty="0">
              <a:solidFill>
                <a:srgbClr val="EBEBEB"/>
              </a:solidFill>
              <a:ea typeface="+mj-ea"/>
              <a:cs typeface="+mj-cs"/>
            </a:endParaRPr>
          </a:p>
          <a:p>
            <a:pPr>
              <a:spcBef>
                <a:spcPct val="0"/>
              </a:spcBef>
              <a:spcAft>
                <a:spcPts val="600"/>
              </a:spcAft>
            </a:pPr>
            <a:endParaRPr lang="en-US" b="0" i="0" kern="1200" cap="all" spc="200" baseline="0" dirty="0">
              <a:solidFill>
                <a:srgbClr val="EBEBEB"/>
              </a:solidFill>
              <a:latin typeface="+mj-lt"/>
              <a:ea typeface="+mj-ea"/>
              <a:cs typeface="+mj-cs"/>
            </a:endParaRPr>
          </a:p>
        </p:txBody>
      </p:sp>
      <p:sp useBgFill="1">
        <p:nvSpPr>
          <p:cNvPr id="75" name="Rectangle 74"/>
          <p:cNvSpPr>
            <a:spLocks noGrp="1" noRot="1" noChangeAspect="1" noMove="1" noResize="1" noEditPoints="1" noAdjustHandles="1" noChangeArrowheads="1" noChangeShapeType="1" noTextEdit="1"/>
          </p:cNvSpPr>
          <p:nvPr/>
        </p:nvSpPr>
        <p:spPr>
          <a:xfrm>
            <a:off x="636914" y="639905"/>
            <a:ext cx="6915664"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graph&#10;&#10;AI-generated content may be incorrect.">
            <a:extLst>
              <a:ext uri="{FF2B5EF4-FFF2-40B4-BE49-F238E27FC236}">
                <a16:creationId xmlns:a16="http://schemas.microsoft.com/office/drawing/2014/main" id="{073C75C0-2069-A6D9-A7A5-6CA6B6AC9E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5189" y="1393314"/>
            <a:ext cx="6623645" cy="3669752"/>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A18FFDEC-539C-64D1-3765-9BB9EF554A7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6914" y="1075814"/>
            <a:ext cx="6886153" cy="3419986"/>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pic>
        <p:nvPicPr>
          <p:cNvPr id="20" name="Picture 19" descr="Desk with productivity items"/>
          <p:cNvPicPr>
            <a:picLocks noChangeAspect="1"/>
          </p:cNvPicPr>
          <p:nvPr/>
        </p:nvPicPr>
        <p:blipFill>
          <a:blip r:embed="rId3"/>
          <a:srcRect l="27966" r="12716" b="-1"/>
          <a:stretch>
            <a:fillRect/>
          </a:stretch>
        </p:blipFill>
        <p:spPr>
          <a:xfrm>
            <a:off x="-2" y="10"/>
            <a:ext cx="6094407" cy="6857990"/>
          </a:xfrm>
          <a:prstGeom prst="rect">
            <a:avLst/>
          </a:prstGeom>
        </p:spPr>
      </p:pic>
      <p:sp>
        <p:nvSpPr>
          <p:cNvPr id="10" name="Content Placeholder 9"/>
          <p:cNvSpPr>
            <a:spLocks noGrp="1"/>
          </p:cNvSpPr>
          <p:nvPr>
            <p:ph idx="1"/>
          </p:nvPr>
        </p:nvSpPr>
        <p:spPr>
          <a:xfrm>
            <a:off x="6210300" y="300567"/>
            <a:ext cx="5847381" cy="6069235"/>
          </a:xfrm>
        </p:spPr>
        <p:txBody>
          <a:bodyPr>
            <a:normAutofit/>
          </a:bodyPr>
          <a:lstStyle/>
          <a:p>
            <a:pPr marL="0" indent="0">
              <a:buNone/>
            </a:pPr>
            <a:r>
              <a:rPr lang="en-US" sz="1800" dirty="0"/>
              <a:t>Table 3: Following up on the violations that may have risen from complaints following are key insights on improving service delivery:</a:t>
            </a:r>
          </a:p>
          <a:p>
            <a:pPr marL="0" indent="0">
              <a:buNone/>
            </a:pPr>
            <a:r>
              <a:rPr lang="en-US" sz="1400" b="1" dirty="0"/>
              <a:t>Heat/Hot Water:</a:t>
            </a:r>
            <a:r>
              <a:rPr lang="en-US" sz="1400" dirty="0"/>
              <a:t> </a:t>
            </a:r>
          </a:p>
          <a:p>
            <a:r>
              <a:rPr lang="en-US" sz="1400" dirty="0"/>
              <a:t>This is a major issue across all boroughs with high complaint volumes. Prioritize addressing it.</a:t>
            </a:r>
          </a:p>
          <a:p>
            <a:pPr marL="0" indent="0">
              <a:buNone/>
            </a:pPr>
            <a:r>
              <a:rPr lang="en-US" sz="1400" b="1" dirty="0"/>
              <a:t>Resolution Times Vary</a:t>
            </a:r>
            <a:r>
              <a:rPr lang="en-US" sz="1800" b="1" dirty="0"/>
              <a:t>:</a:t>
            </a:r>
            <a:r>
              <a:rPr lang="en-US" sz="1800" dirty="0"/>
              <a:t> </a:t>
            </a:r>
          </a:p>
          <a:p>
            <a:r>
              <a:rPr lang="en-US" sz="1400" dirty="0"/>
              <a:t>Queens and Staten Island generally resolve complaints faster, while the Bronx has the longest resolution times.</a:t>
            </a:r>
          </a:p>
          <a:p>
            <a:r>
              <a:rPr lang="en-US" sz="1400" b="1" dirty="0"/>
              <a:t>Borough-Specific Challenges</a:t>
            </a:r>
            <a:r>
              <a:rPr lang="en-US" sz="1800" b="1" dirty="0"/>
              <a:t>:</a:t>
            </a:r>
            <a:r>
              <a:rPr lang="en-US" sz="1800" dirty="0"/>
              <a:t> </a:t>
            </a:r>
          </a:p>
          <a:p>
            <a:pPr marL="742950" lvl="1" indent="-285750">
              <a:buFont typeface="Arial" panose="020B0604020202020204" pitchFamily="34" charset="0"/>
              <a:buChar char="•"/>
            </a:pPr>
            <a:r>
              <a:rPr lang="en-US" sz="1400" b="1" dirty="0"/>
              <a:t>Bronx:</a:t>
            </a:r>
            <a:r>
              <a:rPr lang="en-US" sz="1400" dirty="0"/>
              <a:t> Longest resolution times for Heat/Hot Water, Water Leaks, and Plumbing</a:t>
            </a:r>
            <a:r>
              <a:rPr lang="en-US" sz="1600" dirty="0"/>
              <a:t>.</a:t>
            </a:r>
          </a:p>
          <a:p>
            <a:pPr marL="742950" lvl="1" indent="-285750">
              <a:buFont typeface="Arial" panose="020B0604020202020204" pitchFamily="34" charset="0"/>
              <a:buChar char="•"/>
            </a:pPr>
            <a:r>
              <a:rPr lang="en-US" sz="1400" b="1" dirty="0"/>
              <a:t>Staten Island:</a:t>
            </a:r>
            <a:r>
              <a:rPr lang="en-US" sz="1400" dirty="0"/>
              <a:t> Longest resolution time for Paint/Plaster.</a:t>
            </a:r>
          </a:p>
          <a:p>
            <a:r>
              <a:rPr lang="en-US" sz="1400" b="1" dirty="0"/>
              <a:t>Appliance/Electrical</a:t>
            </a:r>
            <a:r>
              <a:rPr lang="en-US" sz="1600" b="1" dirty="0"/>
              <a:t>:</a:t>
            </a:r>
            <a:r>
              <a:rPr lang="en-US" sz="1600" dirty="0"/>
              <a:t> </a:t>
            </a:r>
            <a:r>
              <a:rPr lang="en-US" sz="1400" dirty="0"/>
              <a:t>These issues are generally resolved relatively quickly</a:t>
            </a:r>
            <a:r>
              <a:rPr lang="en-US" sz="1600" dirty="0"/>
              <a: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pic>
        <p:nvPicPr>
          <p:cNvPr id="109" name="Picture 108"/>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111" name="Picture 110"/>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13" name="Oval 112"/>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15" name="Picture 114"/>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17" name="Picture 116"/>
          <p:cNvPicPr>
            <a:picLocks noGrp="1" noRot="1" noChangeAspect="1" noMove="1" noResize="1" noEditPoints="1" noAdjustHandles="1" noChangeArrowheads="1" noChangeShapeType="1" noCrop="1"/>
          </p:cNvPicPr>
          <p:nvPr/>
        </p:nvPicPr>
        <p:blipFill rotWithShape="1">
          <a:blip r:embed="rId6">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19" name="Rectangle 118"/>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p:cNvSpPr txBox="1"/>
          <p:nvPr/>
        </p:nvSpPr>
        <p:spPr>
          <a:xfrm>
            <a:off x="7999412" y="633697"/>
            <a:ext cx="3676896" cy="3553070"/>
          </a:xfrm>
          <a:prstGeom prst="rect">
            <a:avLst/>
          </a:prstGeom>
        </p:spPr>
        <p:txBody>
          <a:bodyPr vert="horz" lIns="91440" tIns="45720" rIns="91440" bIns="45720" rtlCol="0" anchor="b">
            <a:normAutofit/>
          </a:bodyPr>
          <a:lstStyle/>
          <a:p>
            <a:pPr>
              <a:spcBef>
                <a:spcPct val="0"/>
              </a:spcBef>
              <a:spcAft>
                <a:spcPts val="600"/>
              </a:spcAft>
            </a:pPr>
            <a:r>
              <a:rPr lang="en-US" sz="4400" cap="all" spc="200" dirty="0">
                <a:solidFill>
                  <a:schemeClr val="tx2"/>
                </a:solidFill>
                <a:latin typeface="+mj-lt"/>
                <a:ea typeface="+mj-ea"/>
                <a:cs typeface="+mj-cs"/>
              </a:rPr>
              <a:t>Table 3</a:t>
            </a:r>
            <a:endParaRPr lang="en-US" sz="4400" cap="all" spc="200" baseline="0" dirty="0">
              <a:solidFill>
                <a:schemeClr val="tx2"/>
              </a:solidFill>
              <a:latin typeface="+mj-lt"/>
              <a:ea typeface="+mj-ea"/>
              <a:cs typeface="+mj-cs"/>
            </a:endParaRPr>
          </a:p>
        </p:txBody>
      </p:sp>
      <p:pic>
        <p:nvPicPr>
          <p:cNvPr id="5" name="Picture 4" descr="A screenshot of a table&#10;&#10;AI-generated content may be incorrect.">
            <a:extLst>
              <a:ext uri="{FF2B5EF4-FFF2-40B4-BE49-F238E27FC236}">
                <a16:creationId xmlns:a16="http://schemas.microsoft.com/office/drawing/2014/main" id="{301D6AB1-68BD-02FC-345A-404D34A291A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3588" y="145024"/>
            <a:ext cx="6852179" cy="65679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12E178D0-1877-8792-A475-AB8E271F881B}"/>
            </a:ext>
          </a:extLst>
        </p:cNvPr>
        <p:cNvGrpSpPr/>
        <p:nvPr/>
      </p:nvGrpSpPr>
      <p:grpSpPr>
        <a:xfrm>
          <a:off x="0" y="0"/>
          <a:ext cx="0" cy="0"/>
          <a:chOff x="0" y="0"/>
          <a:chExt cx="0" cy="0"/>
        </a:xfrm>
      </p:grpSpPr>
      <p:pic>
        <p:nvPicPr>
          <p:cNvPr id="20" name="Picture 19" descr="Desk with productivity items">
            <a:extLst>
              <a:ext uri="{FF2B5EF4-FFF2-40B4-BE49-F238E27FC236}">
                <a16:creationId xmlns:a16="http://schemas.microsoft.com/office/drawing/2014/main" id="{BE784D99-7791-1AE3-021A-24DFCE5B5EC6}"/>
              </a:ext>
            </a:extLst>
          </p:cNvPr>
          <p:cNvPicPr>
            <a:picLocks noChangeAspect="1"/>
          </p:cNvPicPr>
          <p:nvPr/>
        </p:nvPicPr>
        <p:blipFill>
          <a:blip r:embed="rId3"/>
          <a:srcRect l="27966" r="12716" b="-1"/>
          <a:stretch>
            <a:fillRect/>
          </a:stretch>
        </p:blipFill>
        <p:spPr>
          <a:xfrm>
            <a:off x="-2" y="10"/>
            <a:ext cx="6094407" cy="6857990"/>
          </a:xfrm>
          <a:prstGeom prst="rect">
            <a:avLst/>
          </a:prstGeom>
        </p:spPr>
      </p:pic>
      <p:sp>
        <p:nvSpPr>
          <p:cNvPr id="10" name="Content Placeholder 9">
            <a:extLst>
              <a:ext uri="{FF2B5EF4-FFF2-40B4-BE49-F238E27FC236}">
                <a16:creationId xmlns:a16="http://schemas.microsoft.com/office/drawing/2014/main" id="{56EE14A3-040F-A8C8-D2F8-9A3D40974F78}"/>
              </a:ext>
            </a:extLst>
          </p:cNvPr>
          <p:cNvSpPr>
            <a:spLocks noGrp="1"/>
          </p:cNvSpPr>
          <p:nvPr>
            <p:ph idx="1"/>
          </p:nvPr>
        </p:nvSpPr>
        <p:spPr>
          <a:xfrm>
            <a:off x="6349139" y="683581"/>
            <a:ext cx="5708542" cy="5686221"/>
          </a:xfrm>
        </p:spPr>
        <p:txBody>
          <a:bodyPr>
            <a:normAutofit/>
          </a:bodyPr>
          <a:lstStyle/>
          <a:p>
            <a:pPr marL="0" indent="0">
              <a:lnSpc>
                <a:spcPct val="90000"/>
              </a:lnSpc>
              <a:buNone/>
            </a:pPr>
            <a:r>
              <a:rPr lang="en-US" sz="1600" b="1" dirty="0">
                <a:latin typeface="Times New Roman" panose="02020603050405020304" pitchFamily="18" charset="0"/>
                <a:cs typeface="Times New Roman" panose="02020603050405020304" pitchFamily="18" charset="0"/>
              </a:rPr>
              <a:t>Table 4 </a:t>
            </a:r>
            <a:r>
              <a:rPr lang="en-US" sz="1600" dirty="0">
                <a:latin typeface="+mn-lt"/>
                <a:cs typeface="Times New Roman" panose="02020603050405020304" pitchFamily="18" charset="0"/>
              </a:rPr>
              <a:t>presents a follow up on the average time take to resolve a complaint.</a:t>
            </a:r>
          </a:p>
          <a:p>
            <a:pPr marL="0" indent="0">
              <a:lnSpc>
                <a:spcPct val="90000"/>
              </a:lnSpc>
              <a:buNone/>
            </a:pPr>
            <a:r>
              <a:rPr lang="en-US" sz="1600" dirty="0">
                <a:latin typeface="+mn-lt"/>
                <a:cs typeface="Times New Roman" panose="02020603050405020304" pitchFamily="18" charset="0"/>
              </a:rPr>
              <a:t>Insights:</a:t>
            </a:r>
          </a:p>
          <a:p>
            <a:pPr>
              <a:lnSpc>
                <a:spcPct val="90000"/>
              </a:lnSpc>
            </a:pPr>
            <a:r>
              <a:rPr lang="en-US" sz="1600" dirty="0">
                <a:latin typeface="+mn-lt"/>
                <a:cs typeface="Times New Roman" panose="02020603050405020304" pitchFamily="18" charset="0"/>
              </a:rPr>
              <a:t>Significant Increase in Closed Problems: There's a noticeable increase in the number of closed problems from 467,297 in 2020 to 828,151 in 2024. This could indicate improved problem-solving efficiency or an increase in overall activity.</a:t>
            </a:r>
          </a:p>
          <a:p>
            <a:pPr>
              <a:lnSpc>
                <a:spcPct val="90000"/>
              </a:lnSpc>
            </a:pPr>
            <a:r>
              <a:rPr lang="en-US" sz="1600" dirty="0">
                <a:latin typeface="+mn-lt"/>
                <a:cs typeface="Times New Roman" panose="02020603050405020304" pitchFamily="18" charset="0"/>
              </a:rPr>
              <a:t>Open Problems Fluctuations: While closed problems have increased, the number of open problems has fluctuated. It peaked in 2024 at 14,908, significantly higher than previous years. This might suggest a recent surge in new issues or challenges in resolving them.</a:t>
            </a:r>
          </a:p>
          <a:p>
            <a:pPr>
              <a:lnSpc>
                <a:spcPct val="90000"/>
              </a:lnSpc>
            </a:pPr>
            <a:r>
              <a:rPr lang="en-US" sz="1600" dirty="0">
                <a:latin typeface="+mn-lt"/>
                <a:cs typeface="Times New Roman" panose="02020603050405020304" pitchFamily="18" charset="0"/>
              </a:rPr>
              <a:t>2024 as an Outlier: 2024 shows a dramatic increase in both closed and open problems compared to previous years. This could be due to various factors, such as a change in the scale of operations, a new type of problem, or a change in the tracking methodology.</a:t>
            </a:r>
            <a:endParaRPr lang="sv-SE" sz="1100" dirty="0">
              <a:latin typeface="+mn-lt"/>
              <a:cs typeface="Times New Roman" panose="02020603050405020304" pitchFamily="18" charset="0"/>
            </a:endParaRPr>
          </a:p>
        </p:txBody>
      </p:sp>
    </p:spTree>
    <p:extLst>
      <p:ext uri="{BB962C8B-B14F-4D97-AF65-F5344CB8AC3E}">
        <p14:creationId xmlns:p14="http://schemas.microsoft.com/office/powerpoint/2010/main" val="2354696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A918DCD3-23D4-CB94-0721-1095C0AC8707}"/>
            </a:ext>
          </a:extLst>
        </p:cNvPr>
        <p:cNvGrpSpPr/>
        <p:nvPr/>
      </p:nvGrpSpPr>
      <p:grpSpPr>
        <a:xfrm>
          <a:off x="0" y="0"/>
          <a:ext cx="0" cy="0"/>
          <a:chOff x="0" y="0"/>
          <a:chExt cx="0" cy="0"/>
        </a:xfrm>
      </p:grpSpPr>
      <p:pic>
        <p:nvPicPr>
          <p:cNvPr id="109" name="Picture 108">
            <a:extLst>
              <a:ext uri="{FF2B5EF4-FFF2-40B4-BE49-F238E27FC236}">
                <a16:creationId xmlns:a16="http://schemas.microsoft.com/office/drawing/2014/main" id="{B774AAF2-5A48-6EC6-2029-A4CF65231AE3}"/>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111" name="Picture 110">
            <a:extLst>
              <a:ext uri="{FF2B5EF4-FFF2-40B4-BE49-F238E27FC236}">
                <a16:creationId xmlns:a16="http://schemas.microsoft.com/office/drawing/2014/main" id="{6F42B037-A5BD-5A0C-8414-302C7CA2AAC7}"/>
              </a:ext>
            </a:extLst>
          </p:cNvPr>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13" name="Oval 112">
            <a:extLst>
              <a:ext uri="{FF2B5EF4-FFF2-40B4-BE49-F238E27FC236}">
                <a16:creationId xmlns:a16="http://schemas.microsoft.com/office/drawing/2014/main" id="{973B4FC1-7DDB-C698-2201-4934CC3492A8}"/>
              </a:ext>
            </a:extLst>
          </p:cNvPr>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15" name="Picture 114">
            <a:extLst>
              <a:ext uri="{FF2B5EF4-FFF2-40B4-BE49-F238E27FC236}">
                <a16:creationId xmlns:a16="http://schemas.microsoft.com/office/drawing/2014/main" id="{A1A103B7-172F-6B22-CC46-DCE3D60286D9}"/>
              </a:ext>
            </a:extLst>
          </p:cNvPr>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17" name="Picture 116">
            <a:extLst>
              <a:ext uri="{FF2B5EF4-FFF2-40B4-BE49-F238E27FC236}">
                <a16:creationId xmlns:a16="http://schemas.microsoft.com/office/drawing/2014/main" id="{9521070A-E10F-1180-6ECF-8F8A8D2A74E0}"/>
              </a:ext>
            </a:extLst>
          </p:cNvPr>
          <p:cNvPicPr>
            <a:picLocks noGrp="1" noRot="1" noChangeAspect="1" noMove="1" noResize="1" noEditPoints="1" noAdjustHandles="1" noChangeArrowheads="1" noChangeShapeType="1" noCrop="1"/>
          </p:cNvPicPr>
          <p:nvPr/>
        </p:nvPicPr>
        <p:blipFill rotWithShape="1">
          <a:blip r:embed="rId6">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19" name="Rectangle 118">
            <a:extLst>
              <a:ext uri="{FF2B5EF4-FFF2-40B4-BE49-F238E27FC236}">
                <a16:creationId xmlns:a16="http://schemas.microsoft.com/office/drawing/2014/main" id="{F26145AC-906C-63F2-2EA0-B8EE07F96A9F}"/>
              </a:ext>
            </a:extLst>
          </p:cNvPr>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a:extLst>
              <a:ext uri="{FF2B5EF4-FFF2-40B4-BE49-F238E27FC236}">
                <a16:creationId xmlns:a16="http://schemas.microsoft.com/office/drawing/2014/main" id="{317A52FA-5BD7-7134-9F91-7C70348E4842}"/>
              </a:ext>
            </a:extLst>
          </p:cNvPr>
          <p:cNvSpPr txBox="1"/>
          <p:nvPr/>
        </p:nvSpPr>
        <p:spPr>
          <a:xfrm>
            <a:off x="8256816" y="637930"/>
            <a:ext cx="3676896" cy="3553070"/>
          </a:xfrm>
          <a:prstGeom prst="rect">
            <a:avLst/>
          </a:prstGeom>
        </p:spPr>
        <p:txBody>
          <a:bodyPr vert="horz" lIns="91440" tIns="45720" rIns="91440" bIns="45720" rtlCol="0" anchor="b">
            <a:normAutofit/>
          </a:bodyPr>
          <a:lstStyle/>
          <a:p>
            <a:pPr>
              <a:spcBef>
                <a:spcPct val="0"/>
              </a:spcBef>
              <a:spcAft>
                <a:spcPts val="600"/>
              </a:spcAft>
            </a:pPr>
            <a:r>
              <a:rPr lang="en-US" sz="4400" cap="all" spc="200" dirty="0">
                <a:solidFill>
                  <a:schemeClr val="tx2"/>
                </a:solidFill>
                <a:latin typeface="+mj-lt"/>
                <a:ea typeface="+mj-ea"/>
                <a:cs typeface="+mj-cs"/>
              </a:rPr>
              <a:t>Table 4</a:t>
            </a:r>
            <a:endParaRPr lang="en-US" sz="4400" cap="all" spc="200" baseline="0" dirty="0">
              <a:solidFill>
                <a:schemeClr val="tx2"/>
              </a:solidFill>
              <a:latin typeface="+mj-lt"/>
              <a:ea typeface="+mj-ea"/>
              <a:cs typeface="+mj-cs"/>
            </a:endParaRPr>
          </a:p>
        </p:txBody>
      </p:sp>
      <p:pic>
        <p:nvPicPr>
          <p:cNvPr id="2" name="Picture 1">
            <a:extLst>
              <a:ext uri="{FF2B5EF4-FFF2-40B4-BE49-F238E27FC236}">
                <a16:creationId xmlns:a16="http://schemas.microsoft.com/office/drawing/2014/main" id="{C413129F-9E86-A38B-2781-5462D0C3ACEE}"/>
              </a:ext>
            </a:extLst>
          </p:cNvPr>
          <p:cNvPicPr>
            <a:picLocks noChangeAspect="1"/>
          </p:cNvPicPr>
          <p:nvPr/>
        </p:nvPicPr>
        <p:blipFill>
          <a:blip r:embed="rId7"/>
          <a:srcRect r="20545" b="1"/>
          <a:stretch>
            <a:fillRect/>
          </a:stretch>
        </p:blipFill>
        <p:spPr>
          <a:xfrm>
            <a:off x="102712" y="135467"/>
            <a:ext cx="7947559" cy="6451600"/>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327520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749801" y="630767"/>
            <a:ext cx="6625990" cy="5422561"/>
          </a:xfrm>
        </p:spPr>
        <p:txBody>
          <a:bodyPr anchor="ctr">
            <a:normAutofit/>
          </a:bodyPr>
          <a:lstStyle/>
          <a:p>
            <a:pPr marL="0" lvl="0" indent="0" eaLnBrk="0" fontAlgn="base" hangingPunct="0">
              <a:lnSpc>
                <a:spcPct val="90000"/>
              </a:lnSpc>
              <a:spcAft>
                <a:spcPct val="0"/>
              </a:spcAft>
              <a:buNone/>
            </a:pPr>
            <a:r>
              <a:rPr lang="en-US" sz="1700" b="1" dirty="0">
                <a:cs typeface="Times New Roman" panose="02020603050405020304" pitchFamily="18" charset="0"/>
              </a:rPr>
              <a:t>Bar graph comparisons</a:t>
            </a:r>
          </a:p>
          <a:p>
            <a:pPr marL="0" indent="0" eaLnBrk="0" fontAlgn="base" hangingPunct="0">
              <a:lnSpc>
                <a:spcPct val="90000"/>
              </a:lnSpc>
              <a:spcAft>
                <a:spcPct val="0"/>
              </a:spcAft>
              <a:buNone/>
            </a:pPr>
            <a:r>
              <a:rPr lang="en-US" sz="1400" dirty="0">
                <a:cs typeface="Times New Roman" panose="02020603050405020304" pitchFamily="18" charset="0"/>
              </a:rPr>
              <a:t>The new graph provides a more insightful and visually appealing analysis of complaint data also provides a more intuitive and informative representation of complaint data across the years.</a:t>
            </a:r>
            <a:endParaRPr lang="en-US" sz="1600" b="1" dirty="0">
              <a:cs typeface="Times New Roman" panose="02020603050405020304" pitchFamily="18" charset="0"/>
            </a:endParaRPr>
          </a:p>
          <a:p>
            <a:pPr marL="0" lvl="0" indent="0" eaLnBrk="0" fontAlgn="base" hangingPunct="0">
              <a:lnSpc>
                <a:spcPct val="90000"/>
              </a:lnSpc>
              <a:spcAft>
                <a:spcPct val="0"/>
              </a:spcAft>
              <a:buNone/>
            </a:pPr>
            <a:r>
              <a:rPr lang="en-US" sz="1400" b="1" dirty="0">
                <a:cs typeface="Times New Roman" panose="02020603050405020304" pitchFamily="18" charset="0"/>
              </a:rPr>
              <a:t>Visual Clarity: </a:t>
            </a:r>
          </a:p>
          <a:p>
            <a:pPr eaLnBrk="0" fontAlgn="base" hangingPunct="0">
              <a:lnSpc>
                <a:spcPct val="90000"/>
              </a:lnSpc>
              <a:spcAft>
                <a:spcPct val="0"/>
              </a:spcAft>
            </a:pPr>
            <a:r>
              <a:rPr lang="en-US" sz="1400" dirty="0">
                <a:cs typeface="Times New Roman" panose="02020603050405020304" pitchFamily="18" charset="0"/>
              </a:rPr>
              <a:t>The new graph uses a bar graph format with distinct colors for each year, making it easier to differentiate between years and see trends briefly.</a:t>
            </a:r>
          </a:p>
          <a:p>
            <a:pPr marL="0" lvl="0" indent="0" eaLnBrk="0" fontAlgn="base" hangingPunct="0">
              <a:lnSpc>
                <a:spcPct val="90000"/>
              </a:lnSpc>
              <a:spcAft>
                <a:spcPct val="0"/>
              </a:spcAft>
              <a:buNone/>
            </a:pPr>
            <a:r>
              <a:rPr lang="en-US" sz="1400" b="1" dirty="0">
                <a:cs typeface="Times New Roman" panose="02020603050405020304" pitchFamily="18" charset="0"/>
              </a:rPr>
              <a:t>Trend Visualization: </a:t>
            </a:r>
          </a:p>
          <a:p>
            <a:pPr eaLnBrk="0" fontAlgn="base" hangingPunct="0">
              <a:lnSpc>
                <a:spcPct val="90000"/>
              </a:lnSpc>
              <a:spcAft>
                <a:spcPct val="0"/>
              </a:spcAft>
            </a:pPr>
            <a:r>
              <a:rPr lang="en-US" sz="1400" dirty="0">
                <a:cs typeface="Times New Roman" panose="02020603050405020304" pitchFamily="18" charset="0"/>
              </a:rPr>
              <a:t>It effectively shows changes in complaint counts over time for each borough, allowing for quick comparisons and insights into patterns.</a:t>
            </a:r>
          </a:p>
          <a:p>
            <a:pPr marL="0" lvl="0" indent="0" eaLnBrk="0" fontAlgn="base" hangingPunct="0">
              <a:lnSpc>
                <a:spcPct val="90000"/>
              </a:lnSpc>
              <a:spcAft>
                <a:spcPct val="0"/>
              </a:spcAft>
              <a:buNone/>
            </a:pPr>
            <a:r>
              <a:rPr lang="en-US" sz="1400" b="1" dirty="0">
                <a:cs typeface="Times New Roman" panose="02020603050405020304" pitchFamily="18" charset="0"/>
              </a:rPr>
              <a:t>Comprehensive Data: </a:t>
            </a:r>
          </a:p>
          <a:p>
            <a:pPr eaLnBrk="0" fontAlgn="base" hangingPunct="0">
              <a:lnSpc>
                <a:spcPct val="90000"/>
              </a:lnSpc>
              <a:spcAft>
                <a:spcPct val="0"/>
              </a:spcAft>
            </a:pPr>
            <a:r>
              <a:rPr lang="en-US" sz="1400" dirty="0">
                <a:cs typeface="Times New Roman" panose="02020603050405020304" pitchFamily="18" charset="0"/>
              </a:rPr>
              <a:t>While the old graph presents data by year, the new graph combines data from multiple years in one view, making it easier to analyze longer-term trends.</a:t>
            </a:r>
          </a:p>
        </p:txBody>
      </p:sp>
      <p:pic>
        <p:nvPicPr>
          <p:cNvPr id="2" name="Picture 1"/>
          <p:cNvPicPr>
            <a:picLocks noChangeAspect="1"/>
          </p:cNvPicPr>
          <p:nvPr/>
        </p:nvPicPr>
        <p:blipFill>
          <a:blip r:embed="rId3"/>
          <a:stretch>
            <a:fillRect/>
          </a:stretch>
        </p:blipFill>
        <p:spPr>
          <a:xfrm>
            <a:off x="680297" y="1088806"/>
            <a:ext cx="3735090" cy="463006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65456-99EC-0E0D-E2B2-FC08626B773D}"/>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D84E1217-8A8D-83B8-44FA-295C34023B35}"/>
              </a:ext>
            </a:extLst>
          </p:cNvPr>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42" name="Picture 41">
            <a:extLst>
              <a:ext uri="{FF2B5EF4-FFF2-40B4-BE49-F238E27FC236}">
                <a16:creationId xmlns:a16="http://schemas.microsoft.com/office/drawing/2014/main" id="{8C641DC2-937B-7C9B-A6DB-AA6668C209F9}"/>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44" name="Oval 43">
            <a:extLst>
              <a:ext uri="{FF2B5EF4-FFF2-40B4-BE49-F238E27FC236}">
                <a16:creationId xmlns:a16="http://schemas.microsoft.com/office/drawing/2014/main" id="{4994CC6F-5D6B-BFEB-1261-3072562910CC}"/>
              </a:ext>
            </a:extLst>
          </p:cNvPr>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6" name="Picture 45">
            <a:extLst>
              <a:ext uri="{FF2B5EF4-FFF2-40B4-BE49-F238E27FC236}">
                <a16:creationId xmlns:a16="http://schemas.microsoft.com/office/drawing/2014/main" id="{3E2BF639-D18A-A559-DABC-B3F0A5F5BF1A}"/>
              </a:ext>
            </a:extLst>
          </p:cNvPr>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48" name="Picture 47">
            <a:extLst>
              <a:ext uri="{FF2B5EF4-FFF2-40B4-BE49-F238E27FC236}">
                <a16:creationId xmlns:a16="http://schemas.microsoft.com/office/drawing/2014/main" id="{5BB5DB74-B191-D086-74B4-608B5B154C73}"/>
              </a:ext>
            </a:extLst>
          </p:cNvPr>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50" name="Rectangle 49">
            <a:extLst>
              <a:ext uri="{FF2B5EF4-FFF2-40B4-BE49-F238E27FC236}">
                <a16:creationId xmlns:a16="http://schemas.microsoft.com/office/drawing/2014/main" id="{9592A0EE-70F9-F666-5186-A6458B0A678B}"/>
              </a:ext>
            </a:extLst>
          </p:cNvPr>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52" name="Rectangle 51">
            <a:extLst>
              <a:ext uri="{FF2B5EF4-FFF2-40B4-BE49-F238E27FC236}">
                <a16:creationId xmlns:a16="http://schemas.microsoft.com/office/drawing/2014/main" id="{EF2671D0-EB0B-07F2-02CB-9D0218993CBB}"/>
              </a:ext>
            </a:extLst>
          </p:cNvPr>
          <p:cNvSpPr>
            <a:spLocks noGrp="1" noRot="1" noChangeAspect="1" noMove="1" noResize="1" noEditPoints="1" noAdjustHandles="1" noChangeArrowheads="1" noChangeShapeType="1" noTextEdit="1"/>
          </p:cNvSpPr>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D768CEBF-2A44-5100-2BCA-C9C916E7DF6C}"/>
              </a:ext>
            </a:extLst>
          </p:cNvPr>
          <p:cNvSpPr>
            <a:spLocks noGrp="1" noRot="1" noChangeAspect="1" noMove="1" noResize="1" noEditPoints="1" noAdjustHandles="1" noChangeArrowheads="1" noChangeShapeType="1" noTextEdit="1"/>
          </p:cNvSpPr>
          <p:nvPr/>
        </p:nvSpPr>
        <p:spPr bwMode="gray">
          <a:xfrm>
            <a:off x="-1" y="3579207"/>
            <a:ext cx="12191696" cy="3278793"/>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en-US"/>
          </a:p>
        </p:txBody>
      </p:sp>
      <p:sp>
        <p:nvSpPr>
          <p:cNvPr id="4" name="TextBox 3">
            <a:extLst>
              <a:ext uri="{FF2B5EF4-FFF2-40B4-BE49-F238E27FC236}">
                <a16:creationId xmlns:a16="http://schemas.microsoft.com/office/drawing/2014/main" id="{F81BF90A-55E0-0A2F-C8C7-0864BC73ADED}"/>
              </a:ext>
            </a:extLst>
          </p:cNvPr>
          <p:cNvSpPr txBox="1"/>
          <p:nvPr/>
        </p:nvSpPr>
        <p:spPr>
          <a:xfrm>
            <a:off x="823182" y="5825411"/>
            <a:ext cx="7220151" cy="430705"/>
          </a:xfrm>
          <a:prstGeom prst="rect">
            <a:avLst/>
          </a:prstGeom>
        </p:spPr>
        <p:txBody>
          <a:bodyPr vert="horz" lIns="91440" tIns="45720" rIns="91440" bIns="45720" rtlCol="0" anchor="b">
            <a:normAutofit fontScale="40000" lnSpcReduction="20000"/>
          </a:bodyPr>
          <a:lstStyle/>
          <a:p>
            <a:pPr>
              <a:spcBef>
                <a:spcPct val="0"/>
              </a:spcBef>
              <a:spcAft>
                <a:spcPts val="600"/>
              </a:spcAft>
            </a:pPr>
            <a:r>
              <a:rPr lang="en-US" sz="6000" b="0" i="0" kern="1200" cap="all" spc="200" baseline="0" dirty="0">
                <a:solidFill>
                  <a:srgbClr val="EBEBEB"/>
                </a:solidFill>
                <a:latin typeface="+mj-lt"/>
                <a:ea typeface="+mj-ea"/>
                <a:cs typeface="+mj-cs"/>
              </a:rPr>
              <a:t>Bar Graph</a:t>
            </a:r>
          </a:p>
        </p:txBody>
      </p:sp>
      <p:sp>
        <p:nvSpPr>
          <p:cNvPr id="58" name="Freeform 16">
            <a:extLst>
              <a:ext uri="{FF2B5EF4-FFF2-40B4-BE49-F238E27FC236}">
                <a16:creationId xmlns:a16="http://schemas.microsoft.com/office/drawing/2014/main" id="{54ACB4D1-D05B-43B0-D8CC-35DB38D93051}"/>
              </a:ext>
            </a:extLst>
          </p:cNvPr>
          <p:cNvSpPr>
            <a:spLocks noGrp="1" noRot="1" noChangeAspect="1" noMove="1" noResize="1" noEditPoints="1" noAdjustHandles="1" noChangeArrowheads="1" noChangeShapeType="1" noTextEdit="1"/>
          </p:cNvSpPr>
          <p:nvPr/>
        </p:nvSpPr>
        <p:spPr>
          <a:xfrm>
            <a:off x="8719940" y="3280011"/>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pic>
        <p:nvPicPr>
          <p:cNvPr id="6" name="Picture 5" descr="A graph of a company">
            <a:extLst>
              <a:ext uri="{FF2B5EF4-FFF2-40B4-BE49-F238E27FC236}">
                <a16:creationId xmlns:a16="http://schemas.microsoft.com/office/drawing/2014/main" id="{FB23464D-A57C-C530-88B4-81FE973C66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551" y="786294"/>
            <a:ext cx="6040523" cy="4099091"/>
          </a:xfrm>
          <a:prstGeom prst="rect">
            <a:avLst/>
          </a:prstGeom>
          <a:effectLst/>
        </p:spPr>
      </p:pic>
      <p:sp>
        <p:nvSpPr>
          <p:cNvPr id="7" name="TextBox 6">
            <a:extLst>
              <a:ext uri="{FF2B5EF4-FFF2-40B4-BE49-F238E27FC236}">
                <a16:creationId xmlns:a16="http://schemas.microsoft.com/office/drawing/2014/main" id="{600DCFB7-F347-F479-05C6-9751044D57A4}"/>
              </a:ext>
            </a:extLst>
          </p:cNvPr>
          <p:cNvSpPr txBox="1"/>
          <p:nvPr/>
        </p:nvSpPr>
        <p:spPr>
          <a:xfrm>
            <a:off x="595262" y="306781"/>
            <a:ext cx="2846487" cy="458305"/>
          </a:xfrm>
          <a:prstGeom prst="rect">
            <a:avLst/>
          </a:prstGeom>
        </p:spPr>
        <p:txBody>
          <a:bodyPr vert="horz" lIns="91440" tIns="45720" rIns="91440" bIns="45720" rtlCol="0" anchor="b">
            <a:normAutofit fontScale="47500" lnSpcReduction="20000"/>
          </a:bodyPr>
          <a:lstStyle/>
          <a:p>
            <a:pPr>
              <a:spcBef>
                <a:spcPct val="0"/>
              </a:spcBef>
              <a:spcAft>
                <a:spcPts val="600"/>
              </a:spcAft>
            </a:pPr>
            <a:r>
              <a:rPr lang="en-US" sz="6000" cap="all" spc="200" dirty="0">
                <a:solidFill>
                  <a:srgbClr val="EBEBEB"/>
                </a:solidFill>
                <a:latin typeface="+mj-lt"/>
                <a:ea typeface="+mj-ea"/>
                <a:cs typeface="+mj-cs"/>
              </a:rPr>
              <a:t>old</a:t>
            </a:r>
            <a:r>
              <a:rPr lang="en-US" sz="6000" b="0" i="0" kern="1200" cap="all" spc="200" baseline="0" dirty="0">
                <a:solidFill>
                  <a:srgbClr val="EBEBEB"/>
                </a:solidFill>
                <a:latin typeface="+mj-lt"/>
                <a:ea typeface="+mj-ea"/>
                <a:cs typeface="+mj-cs"/>
              </a:rPr>
              <a:t> Graph</a:t>
            </a:r>
          </a:p>
        </p:txBody>
      </p:sp>
      <p:sp>
        <p:nvSpPr>
          <p:cNvPr id="9" name="TextBox 8">
            <a:extLst>
              <a:ext uri="{FF2B5EF4-FFF2-40B4-BE49-F238E27FC236}">
                <a16:creationId xmlns:a16="http://schemas.microsoft.com/office/drawing/2014/main" id="{3E2287C8-B13E-AF0D-1DB3-981CC835BEFA}"/>
              </a:ext>
            </a:extLst>
          </p:cNvPr>
          <p:cNvSpPr txBox="1"/>
          <p:nvPr/>
        </p:nvSpPr>
        <p:spPr>
          <a:xfrm>
            <a:off x="6202037" y="251301"/>
            <a:ext cx="2846487" cy="458305"/>
          </a:xfrm>
          <a:prstGeom prst="rect">
            <a:avLst/>
          </a:prstGeom>
        </p:spPr>
        <p:txBody>
          <a:bodyPr vert="horz" lIns="91440" tIns="45720" rIns="91440" bIns="45720" rtlCol="0" anchor="b">
            <a:normAutofit fontScale="47500" lnSpcReduction="20000"/>
          </a:bodyPr>
          <a:lstStyle/>
          <a:p>
            <a:pPr>
              <a:spcBef>
                <a:spcPct val="0"/>
              </a:spcBef>
              <a:spcAft>
                <a:spcPts val="600"/>
              </a:spcAft>
            </a:pPr>
            <a:r>
              <a:rPr lang="en-US" sz="6000" cap="all" spc="200" dirty="0">
                <a:solidFill>
                  <a:srgbClr val="EBEBEB"/>
                </a:solidFill>
                <a:latin typeface="+mj-lt"/>
                <a:ea typeface="+mj-ea"/>
                <a:cs typeface="+mj-cs"/>
              </a:rPr>
              <a:t>new</a:t>
            </a:r>
            <a:r>
              <a:rPr lang="en-US" sz="6000" b="0" i="0" kern="1200" cap="all" spc="200" baseline="0" dirty="0">
                <a:solidFill>
                  <a:srgbClr val="EBEBEB"/>
                </a:solidFill>
                <a:latin typeface="+mj-lt"/>
                <a:ea typeface="+mj-ea"/>
                <a:cs typeface="+mj-cs"/>
              </a:rPr>
              <a:t> Graph</a:t>
            </a:r>
          </a:p>
        </p:txBody>
      </p:sp>
      <p:pic>
        <p:nvPicPr>
          <p:cNvPr id="11" name="Picture 10" descr="A graph of different colored bars&#10;&#10;AI-generated content may be incorrect.">
            <a:extLst>
              <a:ext uri="{FF2B5EF4-FFF2-40B4-BE49-F238E27FC236}">
                <a16:creationId xmlns:a16="http://schemas.microsoft.com/office/drawing/2014/main" id="{597A5B67-5243-0667-0793-253CA3536D9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04075" y="769261"/>
            <a:ext cx="5797874" cy="4101731"/>
          </a:xfrm>
          <a:prstGeom prst="rect">
            <a:avLst/>
          </a:prstGeom>
        </p:spPr>
      </p:pic>
    </p:spTree>
    <p:extLst>
      <p:ext uri="{BB962C8B-B14F-4D97-AF65-F5344CB8AC3E}">
        <p14:creationId xmlns:p14="http://schemas.microsoft.com/office/powerpoint/2010/main" val="3464775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673101"/>
            <a:ext cx="6399930" cy="5380228"/>
          </a:xfrm>
        </p:spPr>
        <p:txBody>
          <a:bodyPr anchor="ctr">
            <a:normAutofit fontScale="92500" lnSpcReduction="20000"/>
          </a:bodyPr>
          <a:lstStyle/>
          <a:p>
            <a:pPr>
              <a:buNone/>
            </a:pPr>
            <a:endParaRPr lang="en-US" sz="1600" dirty="0"/>
          </a:p>
          <a:p>
            <a:pPr>
              <a:buNone/>
            </a:pPr>
            <a:r>
              <a:rPr lang="en-US" sz="1600" b="1" dirty="0"/>
              <a:t>New Bar Graph</a:t>
            </a:r>
          </a:p>
          <a:p>
            <a:pPr>
              <a:buNone/>
            </a:pPr>
            <a:r>
              <a:rPr lang="en-US" sz="1600" dirty="0"/>
              <a:t>Key insights:</a:t>
            </a:r>
          </a:p>
          <a:p>
            <a:r>
              <a:rPr lang="en-US" sz="1600" b="1" dirty="0"/>
              <a:t>Water Leak Complaints Show the Most Volatility:</a:t>
            </a:r>
            <a:r>
              <a:rPr lang="en-US" sz="1600" dirty="0"/>
              <a:t> Water leak complaints exhibit the most significant percentage changes year-over-year. There's a dramatic increase in 2022, followed by decreases in subsequent years. This suggests that water leak issues may be particularly sensitive to specific events or conditions.</a:t>
            </a:r>
          </a:p>
          <a:p>
            <a:r>
              <a:rPr lang="en-US" sz="1600" b="1" dirty="0"/>
              <a:t>Heat/Hot Water Complaints Show a General Decreasing Trend:</a:t>
            </a:r>
            <a:r>
              <a:rPr lang="en-US" sz="1600" dirty="0"/>
              <a:t> Heat/Hot Water complaints generally show a decrease in 2021, and then a trend of increase, suggesting improvements in this area in 2021, but a return to worse conditions in other years.</a:t>
            </a:r>
          </a:p>
          <a:p>
            <a:r>
              <a:rPr lang="en-US" sz="1600" b="1" dirty="0"/>
              <a:t>Plumbing Complaints are Relatively Stable:</a:t>
            </a:r>
            <a:r>
              <a:rPr lang="en-US" sz="1600" dirty="0"/>
              <a:t> Plumbing complaints show more consistent changes, with increases in some years and decreases in others, but the fluctuations are not as extreme as with water leaks.</a:t>
            </a:r>
          </a:p>
          <a:p>
            <a:r>
              <a:rPr lang="en-US" sz="1600" b="1" dirty="0"/>
              <a:t>Appliance Complaints have a general increasing trend:</a:t>
            </a:r>
            <a:r>
              <a:rPr lang="en-US" sz="1600" dirty="0"/>
              <a:t> Appliance complaints generally show an increasing trend over the years, with some minor decreases.</a:t>
            </a:r>
          </a:p>
          <a:p>
            <a:r>
              <a:rPr lang="en-US" sz="1600" b="1" dirty="0"/>
              <a:t>Electric Complaints have a general increasing trend:</a:t>
            </a:r>
            <a:r>
              <a:rPr lang="en-US" sz="1600" dirty="0"/>
              <a:t> Electric complaints generally show an increasing trend over the years, with some minor decreases.</a:t>
            </a:r>
          </a:p>
          <a:p>
            <a:pPr marL="0" lvl="0" indent="0" eaLnBrk="0" fontAlgn="base" hangingPunct="0">
              <a:lnSpc>
                <a:spcPct val="90000"/>
              </a:lnSpc>
              <a:spcAft>
                <a:spcPct val="0"/>
              </a:spcAft>
              <a:buNone/>
            </a:pPr>
            <a:endParaRPr lang="sv-SE" sz="17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42" name="Picture 41"/>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44" name="Oval 43"/>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6" name="Picture 45"/>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48" name="Picture 47"/>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50" name="Rectangle 49"/>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52" name="Rectangle 51"/>
          <p:cNvSpPr>
            <a:spLocks noGrp="1" noRot="1" noChangeAspect="1" noMove="1" noResize="1" noEditPoints="1" noAdjustHandles="1" noChangeArrowheads="1" noChangeShapeType="1" noTextEdit="1"/>
          </p:cNvSpPr>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p:cNvSpPr>
            <a:spLocks noGrp="1" noRot="1" noChangeAspect="1" noMove="1" noResize="1" noEditPoints="1" noAdjustHandles="1" noChangeArrowheads="1" noChangeShapeType="1" noTextEdit="1"/>
          </p:cNvSpPr>
          <p:nvPr/>
        </p:nvSpPr>
        <p:spPr bwMode="gray">
          <a:xfrm>
            <a:off x="-1" y="3579207"/>
            <a:ext cx="12191696" cy="3278793"/>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en-US"/>
          </a:p>
        </p:txBody>
      </p:sp>
      <p:sp>
        <p:nvSpPr>
          <p:cNvPr id="4" name="TextBox 3"/>
          <p:cNvSpPr txBox="1"/>
          <p:nvPr/>
        </p:nvSpPr>
        <p:spPr>
          <a:xfrm>
            <a:off x="619983" y="5782733"/>
            <a:ext cx="8155717" cy="494222"/>
          </a:xfrm>
          <a:prstGeom prst="rect">
            <a:avLst/>
          </a:prstGeom>
        </p:spPr>
        <p:txBody>
          <a:bodyPr vert="horz" lIns="91440" tIns="45720" rIns="91440" bIns="45720" rtlCol="0" anchor="b">
            <a:normAutofit fontScale="55000" lnSpcReduction="20000"/>
          </a:bodyPr>
          <a:lstStyle/>
          <a:p>
            <a:pPr>
              <a:spcBef>
                <a:spcPct val="0"/>
              </a:spcBef>
              <a:spcAft>
                <a:spcPts val="600"/>
              </a:spcAft>
            </a:pPr>
            <a:r>
              <a:rPr lang="en-US" sz="6000" b="0" i="0" kern="1200" cap="all" spc="200" baseline="0" dirty="0">
                <a:solidFill>
                  <a:srgbClr val="EBEBEB"/>
                </a:solidFill>
                <a:latin typeface="+mj-lt"/>
                <a:ea typeface="+mj-ea"/>
                <a:cs typeface="+mj-cs"/>
              </a:rPr>
              <a:t>New Bar Graph</a:t>
            </a:r>
          </a:p>
        </p:txBody>
      </p:sp>
      <p:sp>
        <p:nvSpPr>
          <p:cNvPr id="58" name="Freeform 16"/>
          <p:cNvSpPr>
            <a:spLocks noGrp="1" noRot="1" noChangeAspect="1" noMove="1" noResize="1" noEditPoints="1" noAdjustHandles="1" noChangeArrowheads="1" noChangeShapeType="1" noTextEdit="1"/>
          </p:cNvSpPr>
          <p:nvPr/>
        </p:nvSpPr>
        <p:spPr>
          <a:xfrm>
            <a:off x="8719940" y="3280011"/>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pic>
        <p:nvPicPr>
          <p:cNvPr id="3" name="Picture 2" descr="A graph of a number of different colored bars&#10;&#10;AI-generated content may be incorrect.">
            <a:extLst>
              <a:ext uri="{FF2B5EF4-FFF2-40B4-BE49-F238E27FC236}">
                <a16:creationId xmlns:a16="http://schemas.microsoft.com/office/drawing/2014/main" id="{B645209D-EEF7-FDC4-8F48-403820D746C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72267" y="71962"/>
            <a:ext cx="7772400" cy="55562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804671"/>
            <a:ext cx="6399930" cy="5248657"/>
          </a:xfrm>
        </p:spPr>
        <p:txBody>
          <a:bodyPr anchor="ctr">
            <a:normAutofit/>
          </a:bodyPr>
          <a:lstStyle/>
          <a:p>
            <a:pPr marL="0" lvl="0" indent="0" eaLnBrk="0" fontAlgn="base" hangingPunct="0">
              <a:lnSpc>
                <a:spcPct val="90000"/>
              </a:lnSpc>
              <a:spcAft>
                <a:spcPct val="0"/>
              </a:spcAft>
              <a:buNone/>
            </a:pPr>
            <a:r>
              <a:rPr lang="en-US" sz="1700" b="1" dirty="0">
                <a:cs typeface="Times New Roman" panose="02020603050405020304" pitchFamily="18" charset="0"/>
              </a:rPr>
              <a:t>Box Plot</a:t>
            </a:r>
          </a:p>
          <a:p>
            <a:pPr marL="0" lvl="0" indent="0" eaLnBrk="0" fontAlgn="base" hangingPunct="0">
              <a:lnSpc>
                <a:spcPct val="90000"/>
              </a:lnSpc>
              <a:spcAft>
                <a:spcPct val="0"/>
              </a:spcAft>
              <a:buNone/>
            </a:pPr>
            <a:r>
              <a:rPr lang="en-US" sz="1700" dirty="0">
                <a:cs typeface="Times New Roman" panose="02020603050405020304" pitchFamily="18" charset="0"/>
              </a:rPr>
              <a:t>Purpose of the Data:</a:t>
            </a:r>
          </a:p>
          <a:p>
            <a:pPr eaLnBrk="0" fontAlgn="base" hangingPunct="0">
              <a:lnSpc>
                <a:spcPct val="90000"/>
              </a:lnSpc>
              <a:spcAft>
                <a:spcPct val="0"/>
              </a:spcAft>
            </a:pPr>
            <a:r>
              <a:rPr lang="en-US" sz="1700" dirty="0">
                <a:cs typeface="Times New Roman" panose="02020603050405020304" pitchFamily="18" charset="0"/>
              </a:rPr>
              <a:t>This dataset provides a detailed analysis of the spread of complaints in New York City from 2019 to 2024, segmented by borough. It aims to uncover trends and variations in community concerns over time.</a:t>
            </a:r>
          </a:p>
          <a:p>
            <a:pPr marL="0" indent="0" eaLnBrk="0" fontAlgn="base" hangingPunct="0">
              <a:lnSpc>
                <a:spcPct val="90000"/>
              </a:lnSpc>
              <a:spcAft>
                <a:spcPct val="0"/>
              </a:spcAft>
              <a:buNone/>
            </a:pPr>
            <a:r>
              <a:rPr lang="en-US" sz="1700" dirty="0">
                <a:cs typeface="Times New Roman" panose="02020603050405020304" pitchFamily="18" charset="0"/>
              </a:rPr>
              <a:t>Data Composition:</a:t>
            </a:r>
          </a:p>
          <a:p>
            <a:pPr eaLnBrk="0" fontAlgn="base" hangingPunct="0">
              <a:lnSpc>
                <a:spcPct val="90000"/>
              </a:lnSpc>
              <a:spcAft>
                <a:spcPct val="0"/>
              </a:spcAft>
            </a:pPr>
            <a:r>
              <a:rPr lang="en-US" sz="1700" dirty="0">
                <a:cs typeface="Times New Roman" panose="02020603050405020304" pitchFamily="18" charset="0"/>
              </a:rPr>
              <a:t>The visualization displays the count of complaints received each year, categorized by borough: Bronx, Brooklyn, Manhattan, Queens, and Staten </a:t>
            </a:r>
            <a:r>
              <a:rPr lang="en-US" sz="1700" dirty="0" err="1">
                <a:cs typeface="Times New Roman" panose="02020603050405020304" pitchFamily="18" charset="0"/>
              </a:rPr>
              <a:t>Island.Each</a:t>
            </a:r>
            <a:r>
              <a:rPr lang="en-US" sz="1700" dirty="0">
                <a:cs typeface="Times New Roman" panose="02020603050405020304" pitchFamily="18" charset="0"/>
              </a:rPr>
              <a:t> borough's data is represented in box plots, which illustrate the distribution, median, and range of complaints for each year.</a:t>
            </a:r>
            <a:endParaRPr lang="sv-SE" sz="1700" dirty="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3" name="Picture 62"/>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65" name="Picture 64"/>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67" name="Oval 66"/>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9" name="Picture 68"/>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71" name="Picture 70"/>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73" name="Rectangle 72"/>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75" name="Rectangle 74"/>
          <p:cNvSpPr>
            <a:spLocks noGrp="1" noRot="1" noChangeAspect="1" noMove="1" noResize="1" noEditPoints="1" noAdjustHandles="1" noChangeArrowheads="1" noChangeShapeType="1" noTextEdit="1"/>
          </p:cNvSpPr>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9" name="Freeform 16"/>
          <p:cNvSpPr>
            <a:spLocks noGrp="1" noRot="1" noChangeAspect="1" noMove="1" noResize="1" noEditPoints="1" noAdjustHandles="1" noChangeArrowheads="1" noChangeShapeType="1" noTextEdit="1"/>
          </p:cNvSpPr>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pic>
        <p:nvPicPr>
          <p:cNvPr id="3" name="Picture 2" descr="A graph of a graph&#10;&#10;AI-generated content may be incorrect."/>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458" y="640081"/>
            <a:ext cx="8957398" cy="3291844"/>
          </a:xfrm>
          <a:prstGeom prst="rect">
            <a:avLst/>
          </a:prstGeom>
          <a:effectLst/>
        </p:spPr>
      </p:pic>
      <p:sp>
        <p:nvSpPr>
          <p:cNvPr id="81" name="Freeform: Shape 80"/>
          <p:cNvSpPr>
            <a:spLocks noGrp="1" noRot="1" noChangeAspect="1" noMove="1" noResize="1" noEditPoints="1" noAdjustHandles="1" noChangeArrowheads="1" noChangeShapeType="1" noTextEdit="1"/>
          </p:cNvSpPr>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6916" y="4854346"/>
            <a:ext cx="9149350" cy="868026"/>
          </a:xfrm>
          <a:prstGeom prst="rect">
            <a:avLst/>
          </a:prstGeom>
        </p:spPr>
        <p:txBody>
          <a:bodyPr vert="horz" lIns="91440" tIns="45720" rIns="91440" bIns="45720" rtlCol="0" anchor="b">
            <a:normAutofit/>
          </a:bodyPr>
          <a:lstStyle/>
          <a:p>
            <a:pPr>
              <a:spcBef>
                <a:spcPct val="0"/>
              </a:spcBef>
              <a:spcAft>
                <a:spcPts val="600"/>
              </a:spcAft>
            </a:pPr>
            <a:r>
              <a:rPr lang="en-US" sz="4800" cap="all" spc="200" dirty="0">
                <a:solidFill>
                  <a:srgbClr val="EBEBEB"/>
                </a:solidFill>
                <a:latin typeface="+mj-lt"/>
                <a:ea typeface="+mj-ea"/>
                <a:cs typeface="+mj-cs"/>
              </a:rPr>
              <a:t>Box plot</a:t>
            </a:r>
            <a:endParaRPr lang="en-US" sz="4800" b="0" i="0" kern="1200" cap="all" spc="200" baseline="0" dirty="0">
              <a:solidFill>
                <a:srgbClr val="EBEBEB"/>
              </a:solidFill>
              <a:latin typeface="+mj-lt"/>
              <a:ea typeface="+mj-ea"/>
              <a:cs typeface="+mj-cs"/>
            </a:endParaRP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804671"/>
            <a:ext cx="6399930" cy="5248657"/>
          </a:xfrm>
        </p:spPr>
        <p:txBody>
          <a:bodyPr anchor="ctr">
            <a:normAutofit/>
          </a:bodyPr>
          <a:lstStyle/>
          <a:p>
            <a:pPr marL="0" lvl="0" indent="0" eaLnBrk="0" fontAlgn="base" hangingPunct="0">
              <a:lnSpc>
                <a:spcPct val="90000"/>
              </a:lnSpc>
              <a:spcAft>
                <a:spcPct val="0"/>
              </a:spcAft>
              <a:buNone/>
            </a:pPr>
            <a:r>
              <a:rPr lang="en-US" sz="1600" b="1" dirty="0">
                <a:cs typeface="Times New Roman" panose="02020603050405020304" pitchFamily="18" charset="0"/>
              </a:rPr>
              <a:t>Line Chart </a:t>
            </a:r>
          </a:p>
          <a:p>
            <a:pPr marL="0" lvl="0" indent="0" eaLnBrk="0" fontAlgn="base" hangingPunct="0">
              <a:lnSpc>
                <a:spcPct val="90000"/>
              </a:lnSpc>
              <a:spcAft>
                <a:spcPct val="0"/>
              </a:spcAft>
              <a:buNone/>
            </a:pPr>
            <a:r>
              <a:rPr lang="en-US" sz="1600" dirty="0">
                <a:cs typeface="Times New Roman" panose="02020603050405020304" pitchFamily="18" charset="0"/>
              </a:rPr>
              <a:t>Purpose of the Data:</a:t>
            </a:r>
          </a:p>
          <a:p>
            <a:pPr eaLnBrk="0" fontAlgn="base" hangingPunct="0">
              <a:lnSpc>
                <a:spcPct val="90000"/>
              </a:lnSpc>
              <a:spcAft>
                <a:spcPct val="0"/>
              </a:spcAft>
            </a:pPr>
            <a:r>
              <a:rPr lang="en-US" sz="1600" dirty="0">
                <a:cs typeface="Times New Roman" panose="02020603050405020304" pitchFamily="18" charset="0"/>
              </a:rPr>
              <a:t>This dataset provides a monthly trend analysis of complaints over the year, categorized by various complaint types. It aims to identify patterns and fluctuations in New York complaints major categories throughout the year.</a:t>
            </a:r>
          </a:p>
          <a:p>
            <a:pPr marL="0" lvl="0" indent="0" eaLnBrk="0" fontAlgn="base" hangingPunct="0">
              <a:lnSpc>
                <a:spcPct val="90000"/>
              </a:lnSpc>
              <a:spcAft>
                <a:spcPct val="0"/>
              </a:spcAft>
              <a:buNone/>
            </a:pPr>
            <a:r>
              <a:rPr lang="en-US" sz="1600" dirty="0">
                <a:cs typeface="Times New Roman" panose="02020603050405020304" pitchFamily="18" charset="0"/>
              </a:rPr>
              <a:t>Data Composition:</a:t>
            </a:r>
          </a:p>
          <a:p>
            <a:pPr eaLnBrk="0" fontAlgn="base" hangingPunct="0">
              <a:lnSpc>
                <a:spcPct val="90000"/>
              </a:lnSpc>
              <a:spcAft>
                <a:spcPct val="0"/>
              </a:spcAft>
            </a:pPr>
            <a:r>
              <a:rPr lang="en-US" sz="1600" dirty="0">
                <a:cs typeface="Times New Roman" panose="02020603050405020304" pitchFamily="18" charset="0"/>
              </a:rPr>
              <a:t>The line graph illustrates the count of complaints received each month, segmented by major categories such as appliance issues, elevator problems, plumbing, and </a:t>
            </a:r>
            <a:r>
              <a:rPr lang="en-US" sz="1600" dirty="0" err="1">
                <a:cs typeface="Times New Roman" panose="02020603050405020304" pitchFamily="18" charset="0"/>
              </a:rPr>
              <a:t>more.Each</a:t>
            </a:r>
            <a:r>
              <a:rPr lang="en-US" sz="1600" dirty="0">
                <a:cs typeface="Times New Roman" panose="02020603050405020304" pitchFamily="18" charset="0"/>
              </a:rPr>
              <a:t> complaint type is represented by its own line, allowing for easy comparison and identification of trends across different categories. Heat/ hot water is high in December and January because they are the coldest months of the year.</a:t>
            </a:r>
            <a:endParaRPr lang="sv-SE" sz="1600" dirty="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680297" y="1088806"/>
            <a:ext cx="3735090" cy="463006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Picture 31"/>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34" name="Picture 33"/>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36" name="Oval 35"/>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8" name="Picture 37"/>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40" name="Picture 39"/>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42" name="Rectangle 41"/>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Rectangle 43"/>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8200279" y="1325880"/>
            <a:ext cx="3344020"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cap="all" spc="200" baseline="0" dirty="0">
                <a:solidFill>
                  <a:srgbClr val="EBEBEB"/>
                </a:solidFill>
                <a:latin typeface="+mj-lt"/>
                <a:ea typeface="+mj-ea"/>
                <a:cs typeface="+mj-cs"/>
              </a:rPr>
              <a:t>Line Chart</a:t>
            </a:r>
          </a:p>
        </p:txBody>
      </p:sp>
      <p:sp useBgFill="1">
        <p:nvSpPr>
          <p:cNvPr id="46" name="Rectangle 45"/>
          <p:cNvSpPr>
            <a:spLocks noGrp="1" noRot="1" noChangeAspect="1" noMove="1" noResize="1" noEditPoints="1" noAdjustHandles="1" noChangeArrowheads="1" noChangeShapeType="1" noTextEdit="1"/>
          </p:cNvSpPr>
          <p:nvPr/>
        </p:nvSpPr>
        <p:spPr>
          <a:xfrm>
            <a:off x="636914" y="639905"/>
            <a:ext cx="6915664"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descr="A graph with lines and a line&#10;&#10;AI-generated content may be incorrect."/>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5391" y="1752878"/>
            <a:ext cx="6551257" cy="3504922"/>
          </a:xfrm>
          <a:prstGeom prst="rect">
            <a:avLst/>
          </a:prstGeom>
          <a:effectLst/>
        </p:spPr>
      </p:pic>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4FE87E98-C49A-2B1D-E2BC-5818946A61F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0DFAAE29-677D-DB6E-B554-760FEE168CB0}"/>
              </a:ext>
            </a:extLst>
          </p:cNvPr>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F18F4A0D-007D-1ADC-6100-16FF16E35B57}"/>
              </a:ext>
            </a:extLst>
          </p:cNvPr>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B4996EF8-667E-6905-9EBD-5EAE3992543E}"/>
              </a:ext>
            </a:extLst>
          </p:cNvPr>
          <p:cNvCxnSpPr>
            <a:cxnSpLocks noGrp="1" noRot="1" noChangeAspect="1" noMove="1" noResize="1" noEditPoints="1" noAdjustHandles="1" noChangeArrowheads="1" noChangeShapeType="1"/>
          </p:cNvCxnSpPr>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76F8D821-1745-15F0-5E73-7EB9EDFEE4EF}"/>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2E8A3BB6-5421-3D93-21F3-C58BDEE3C461}"/>
              </a:ext>
            </a:extLst>
          </p:cNvPr>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a:extLst>
              <a:ext uri="{FF2B5EF4-FFF2-40B4-BE49-F238E27FC236}">
                <a16:creationId xmlns:a16="http://schemas.microsoft.com/office/drawing/2014/main" id="{BB275104-E9C1-F608-5005-6B039A6D92DD}"/>
              </a:ext>
            </a:extLst>
          </p:cNvPr>
          <p:cNvSpPr>
            <a:spLocks noGrp="1"/>
          </p:cNvSpPr>
          <p:nvPr>
            <p:ph idx="1"/>
          </p:nvPr>
        </p:nvSpPr>
        <p:spPr>
          <a:xfrm>
            <a:off x="4975861" y="804671"/>
            <a:ext cx="6399930" cy="5248657"/>
          </a:xfrm>
        </p:spPr>
        <p:txBody>
          <a:bodyPr anchor="ctr">
            <a:normAutofit/>
          </a:bodyPr>
          <a:lstStyle/>
          <a:p>
            <a:pPr marL="0" lvl="0" indent="0" eaLnBrk="0" fontAlgn="base" hangingPunct="0">
              <a:lnSpc>
                <a:spcPct val="90000"/>
              </a:lnSpc>
              <a:spcAft>
                <a:spcPct val="0"/>
              </a:spcAft>
              <a:buNone/>
            </a:pPr>
            <a:r>
              <a:rPr lang="en-US" sz="1700" b="1" dirty="0">
                <a:cs typeface="Times New Roman" panose="02020603050405020304" pitchFamily="18" charset="0"/>
              </a:rPr>
              <a:t>Improved Heatmap</a:t>
            </a:r>
          </a:p>
          <a:p>
            <a:pPr marL="0" indent="0" eaLnBrk="0" fontAlgn="base" hangingPunct="0">
              <a:lnSpc>
                <a:spcPct val="90000"/>
              </a:lnSpc>
              <a:spcAft>
                <a:spcPct val="0"/>
              </a:spcAft>
              <a:buNone/>
            </a:pPr>
            <a:r>
              <a:rPr lang="en-US" sz="1500" b="1" dirty="0">
                <a:cs typeface="Times New Roman" panose="02020603050405020304" pitchFamily="18" charset="0"/>
              </a:rPr>
              <a:t>Data Density Visualization</a:t>
            </a:r>
            <a:r>
              <a:rPr lang="en-US" sz="1500" dirty="0">
                <a:cs typeface="Times New Roman" panose="02020603050405020304" pitchFamily="18" charset="0"/>
              </a:rPr>
              <a:t>: </a:t>
            </a:r>
          </a:p>
          <a:p>
            <a:pPr eaLnBrk="0" fontAlgn="base" hangingPunct="0">
              <a:lnSpc>
                <a:spcPct val="90000"/>
              </a:lnSpc>
              <a:spcAft>
                <a:spcPct val="0"/>
              </a:spcAft>
            </a:pPr>
            <a:r>
              <a:rPr lang="en-US" sz="1400" dirty="0">
                <a:cs typeface="Times New Roman" panose="02020603050405020304" pitchFamily="18" charset="0"/>
              </a:rPr>
              <a:t>The new heat map effectively shows areas of higher complaint density, allowing for quick identification of hotspots, which is more informative than the individual points in the old heat map. The new heat map is showing the distribution of complaints across all boroughs in the New York City. The size of each circle represents the complaints at that zip code</a:t>
            </a:r>
            <a:r>
              <a:rPr lang="en-US" sz="1500" dirty="0">
                <a:cs typeface="Times New Roman" panose="02020603050405020304" pitchFamily="18" charset="0"/>
              </a:rPr>
              <a:t>.</a:t>
            </a:r>
            <a:endParaRPr lang="en-US" sz="1700" dirty="0">
              <a:cs typeface="Times New Roman" panose="02020603050405020304" pitchFamily="18" charset="0"/>
            </a:endParaRPr>
          </a:p>
          <a:p>
            <a:pPr marL="0" indent="0" eaLnBrk="0" fontAlgn="base" hangingPunct="0">
              <a:lnSpc>
                <a:spcPct val="90000"/>
              </a:lnSpc>
              <a:spcAft>
                <a:spcPct val="0"/>
              </a:spcAft>
              <a:buNone/>
            </a:pPr>
            <a:r>
              <a:rPr lang="en-US" sz="1700" b="1" dirty="0">
                <a:cs typeface="Times New Roman" panose="02020603050405020304" pitchFamily="18" charset="0"/>
              </a:rPr>
              <a:t>Geospatial Context</a:t>
            </a:r>
            <a:r>
              <a:rPr lang="en-US" sz="1700" dirty="0">
                <a:cs typeface="Times New Roman" panose="02020603050405020304" pitchFamily="18" charset="0"/>
              </a:rPr>
              <a:t>: </a:t>
            </a:r>
          </a:p>
          <a:p>
            <a:pPr eaLnBrk="0" fontAlgn="base" hangingPunct="0">
              <a:lnSpc>
                <a:spcPct val="90000"/>
              </a:lnSpc>
              <a:spcAft>
                <a:spcPct val="0"/>
              </a:spcAft>
            </a:pPr>
            <a:r>
              <a:rPr lang="en-US" sz="1400" dirty="0">
                <a:cs typeface="Times New Roman" panose="02020603050405020304" pitchFamily="18" charset="0"/>
              </a:rPr>
              <a:t>The new heat map provides a clearer representation of geographic distribution across the entire area, offering a more comprehensive view of where complaints are concentrated. Old Map is showing the distribution of complains across the Bronx borough only and the size doesn’t show the complaint counts.</a:t>
            </a:r>
          </a:p>
          <a:p>
            <a:pPr marL="0" indent="0" eaLnBrk="0" fontAlgn="base" hangingPunct="0">
              <a:lnSpc>
                <a:spcPct val="90000"/>
              </a:lnSpc>
              <a:spcAft>
                <a:spcPct val="0"/>
              </a:spcAft>
              <a:buNone/>
            </a:pPr>
            <a:r>
              <a:rPr lang="en-US" sz="1700" b="1" dirty="0">
                <a:cs typeface="Times New Roman" panose="02020603050405020304" pitchFamily="18" charset="0"/>
              </a:rPr>
              <a:t>Visual Appeal</a:t>
            </a:r>
            <a:r>
              <a:rPr lang="en-US" sz="1700" dirty="0">
                <a:cs typeface="Times New Roman" panose="02020603050405020304" pitchFamily="18" charset="0"/>
              </a:rPr>
              <a:t>: </a:t>
            </a:r>
          </a:p>
          <a:p>
            <a:pPr eaLnBrk="0" fontAlgn="base" hangingPunct="0">
              <a:lnSpc>
                <a:spcPct val="90000"/>
              </a:lnSpc>
              <a:spcAft>
                <a:spcPct val="0"/>
              </a:spcAft>
            </a:pPr>
            <a:r>
              <a:rPr lang="en-US" sz="1400" dirty="0">
                <a:cs typeface="Times New Roman" panose="02020603050405020304" pitchFamily="18" charset="0"/>
              </a:rPr>
              <a:t>The heat map format is visually engaging and can capture more information with less clutter compared to the point-based representation in the old heat map</a:t>
            </a:r>
            <a:r>
              <a:rPr lang="en-US" sz="1700" dirty="0">
                <a:cs typeface="Times New Roman" panose="02020603050405020304" pitchFamily="18" charset="0"/>
              </a:rPr>
              <a:t>. </a:t>
            </a:r>
          </a:p>
          <a:p>
            <a:pPr marL="0" lvl="0" indent="0" eaLnBrk="0" fontAlgn="base" hangingPunct="0">
              <a:lnSpc>
                <a:spcPct val="90000"/>
              </a:lnSpc>
              <a:spcAft>
                <a:spcPct val="0"/>
              </a:spcAft>
              <a:buNone/>
            </a:pPr>
            <a:endParaRPr lang="en-US" sz="17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C75EA51-B959-5319-3C19-CE8BAF1DB773}"/>
              </a:ext>
            </a:extLst>
          </p:cNvPr>
          <p:cNvPicPr>
            <a:picLocks noChangeAspect="1"/>
          </p:cNvPicPr>
          <p:nvPr/>
        </p:nvPicPr>
        <p:blipFill>
          <a:blip r:embed="rId4"/>
          <a:stretch>
            <a:fillRect/>
          </a:stretch>
        </p:blipFill>
        <p:spPr>
          <a:xfrm>
            <a:off x="680297" y="1088806"/>
            <a:ext cx="3735090" cy="4630069"/>
          </a:xfrm>
          <a:prstGeom prst="rect">
            <a:avLst/>
          </a:prstGeom>
        </p:spPr>
      </p:pic>
    </p:spTree>
    <p:extLst>
      <p:ext uri="{BB962C8B-B14F-4D97-AF65-F5344CB8AC3E}">
        <p14:creationId xmlns:p14="http://schemas.microsoft.com/office/powerpoint/2010/main" val="3669947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pic>
        <p:nvPicPr>
          <p:cNvPr id="58" name="Picture 57"/>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60" name="Picture 59"/>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62" name="Oval 61"/>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4" name="Picture 63"/>
          <p:cNvPicPr>
            <a:picLocks noGrp="1" noRot="1" noChangeAspect="1" noMove="1" noResize="1" noEditPoints="1" noAdjustHandles="1" noChangeArrowheads="1" noChangeShapeType="1" noCrop="1"/>
          </p:cNvPicPr>
          <p:nvPr/>
        </p:nvPicPr>
        <p:blipFill rotWithShape="1">
          <a:blip r:embed="rId5">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66" name="Picture 65"/>
          <p:cNvPicPr>
            <a:picLocks noGrp="1" noRot="1" noChangeAspect="1" noMove="1" noResize="1" noEditPoints="1" noAdjustHandles="1" noChangeArrowheads="1" noChangeShapeType="1" noCrop="1"/>
          </p:cNvPicPr>
          <p:nvPr/>
        </p:nvPicPr>
        <p:blipFill rotWithShape="1">
          <a:blip r:embed="rId6">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4" name="TextBox 3"/>
          <p:cNvSpPr txBox="1"/>
          <p:nvPr/>
        </p:nvSpPr>
        <p:spPr>
          <a:xfrm>
            <a:off x="636917" y="5363632"/>
            <a:ext cx="5081190" cy="536539"/>
          </a:xfrm>
          <a:prstGeom prst="rect">
            <a:avLst/>
          </a:prstGeom>
        </p:spPr>
        <p:txBody>
          <a:bodyPr vert="horz" lIns="91440" tIns="45720" rIns="91440" bIns="45720" rtlCol="0" anchor="b">
            <a:normAutofit fontScale="55000" lnSpcReduction="20000"/>
          </a:bodyPr>
          <a:lstStyle/>
          <a:p>
            <a:pPr>
              <a:spcBef>
                <a:spcPct val="0"/>
              </a:spcBef>
              <a:spcAft>
                <a:spcPts val="600"/>
              </a:spcAft>
            </a:pPr>
            <a:r>
              <a:rPr lang="en-US" sz="6000" cap="all" spc="200" dirty="0">
                <a:solidFill>
                  <a:schemeClr val="tx2"/>
                </a:solidFill>
                <a:latin typeface="+mj-lt"/>
                <a:ea typeface="+mj-ea"/>
                <a:cs typeface="+mj-cs"/>
              </a:rPr>
              <a:t>Heat map</a:t>
            </a:r>
            <a:endParaRPr lang="en-US" sz="6000" cap="all" spc="200" baseline="0" dirty="0">
              <a:solidFill>
                <a:schemeClr val="tx2"/>
              </a:solidFill>
              <a:latin typeface="+mj-lt"/>
              <a:ea typeface="+mj-ea"/>
              <a:cs typeface="+mj-cs"/>
            </a:endParaRPr>
          </a:p>
        </p:txBody>
      </p:sp>
      <p:pic>
        <p:nvPicPr>
          <p:cNvPr id="6" name="Picture 5" descr="A map with blue circles&#10;&#10;AI-generated content may be incorrect."/>
          <p:cNvPicPr>
            <a:picLocks noChangeAspect="1"/>
          </p:cNvPicPr>
          <p:nvPr/>
        </p:nvPicPr>
        <p:blipFill>
          <a:blip r:embed="rId7">
            <a:extLst>
              <a:ext uri="{28A0092B-C50C-407E-A947-70E740481C1C}">
                <a14:useLocalDpi xmlns:a14="http://schemas.microsoft.com/office/drawing/2010/main" val="0"/>
              </a:ext>
            </a:extLst>
          </a:blip>
          <a:srcRect l="560" r="-2" b="-2"/>
          <a:stretch>
            <a:fillRect/>
          </a:stretch>
        </p:blipFill>
        <p:spPr>
          <a:xfrm>
            <a:off x="285737" y="920844"/>
            <a:ext cx="5432370" cy="3983600"/>
          </a:xfrm>
          <a:prstGeom prst="rect">
            <a:avLst/>
          </a:prstGeom>
          <a:effectLst>
            <a:outerShdw blurRad="50800" dist="38100" dir="5400000" algn="t" rotWithShape="0">
              <a:prstClr val="black">
                <a:alpha val="43000"/>
              </a:prstClr>
            </a:outerShdw>
          </a:effectLst>
        </p:spPr>
      </p:pic>
      <p:pic>
        <p:nvPicPr>
          <p:cNvPr id="3" name="Picture 2" descr="A map of a city&#10;&#10;AI-generated content may be incorrect.">
            <a:extLst>
              <a:ext uri="{FF2B5EF4-FFF2-40B4-BE49-F238E27FC236}">
                <a16:creationId xmlns:a16="http://schemas.microsoft.com/office/drawing/2014/main" id="{3472349C-3E09-038E-0C57-75F3FCF46C1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71438" y="920843"/>
            <a:ext cx="6150468" cy="3939024"/>
          </a:xfrm>
          <a:prstGeom prst="rect">
            <a:avLst/>
          </a:prstGeom>
        </p:spPr>
      </p:pic>
      <p:sp>
        <p:nvSpPr>
          <p:cNvPr id="5" name="TextBox 4">
            <a:extLst>
              <a:ext uri="{FF2B5EF4-FFF2-40B4-BE49-F238E27FC236}">
                <a16:creationId xmlns:a16="http://schemas.microsoft.com/office/drawing/2014/main" id="{C5684BF5-43AD-1AE8-D213-A93F0BE1010A}"/>
              </a:ext>
            </a:extLst>
          </p:cNvPr>
          <p:cNvSpPr txBox="1"/>
          <p:nvPr/>
        </p:nvSpPr>
        <p:spPr>
          <a:xfrm>
            <a:off x="636917" y="431800"/>
            <a:ext cx="2487283" cy="493276"/>
          </a:xfrm>
          <a:prstGeom prst="rect">
            <a:avLst/>
          </a:prstGeom>
        </p:spPr>
        <p:txBody>
          <a:bodyPr vert="horz" lIns="91440" tIns="45720" rIns="91440" bIns="45720" rtlCol="0" anchor="b">
            <a:normAutofit fontScale="47500" lnSpcReduction="20000"/>
          </a:bodyPr>
          <a:lstStyle/>
          <a:p>
            <a:pPr>
              <a:spcBef>
                <a:spcPct val="0"/>
              </a:spcBef>
              <a:spcAft>
                <a:spcPts val="600"/>
              </a:spcAft>
            </a:pPr>
            <a:r>
              <a:rPr lang="en-US" sz="6000" cap="all" spc="200" dirty="0">
                <a:solidFill>
                  <a:schemeClr val="tx2"/>
                </a:solidFill>
                <a:latin typeface="+mj-lt"/>
                <a:ea typeface="+mj-ea"/>
                <a:cs typeface="+mj-cs"/>
              </a:rPr>
              <a:t>old map</a:t>
            </a:r>
            <a:endParaRPr lang="en-US" sz="6000" cap="all" spc="200" baseline="0" dirty="0">
              <a:solidFill>
                <a:schemeClr val="tx2"/>
              </a:solidFill>
              <a:latin typeface="+mj-lt"/>
              <a:ea typeface="+mj-ea"/>
              <a:cs typeface="+mj-cs"/>
            </a:endParaRPr>
          </a:p>
        </p:txBody>
      </p:sp>
      <p:sp>
        <p:nvSpPr>
          <p:cNvPr id="7" name="TextBox 6">
            <a:extLst>
              <a:ext uri="{FF2B5EF4-FFF2-40B4-BE49-F238E27FC236}">
                <a16:creationId xmlns:a16="http://schemas.microsoft.com/office/drawing/2014/main" id="{3D1A9E9E-DA9D-5BDC-E57B-F5248498A66F}"/>
              </a:ext>
            </a:extLst>
          </p:cNvPr>
          <p:cNvSpPr txBox="1"/>
          <p:nvPr/>
        </p:nvSpPr>
        <p:spPr>
          <a:xfrm>
            <a:off x="5915884" y="432021"/>
            <a:ext cx="2487283" cy="493276"/>
          </a:xfrm>
          <a:prstGeom prst="rect">
            <a:avLst/>
          </a:prstGeom>
        </p:spPr>
        <p:txBody>
          <a:bodyPr vert="horz" lIns="91440" tIns="45720" rIns="91440" bIns="45720" rtlCol="0" anchor="b">
            <a:normAutofit fontScale="47500" lnSpcReduction="20000"/>
          </a:bodyPr>
          <a:lstStyle/>
          <a:p>
            <a:pPr>
              <a:spcBef>
                <a:spcPct val="0"/>
              </a:spcBef>
              <a:spcAft>
                <a:spcPts val="600"/>
              </a:spcAft>
            </a:pPr>
            <a:r>
              <a:rPr lang="en-US" sz="6000" cap="all" spc="200" dirty="0">
                <a:solidFill>
                  <a:schemeClr val="tx2"/>
                </a:solidFill>
                <a:latin typeface="+mj-lt"/>
                <a:ea typeface="+mj-ea"/>
                <a:cs typeface="+mj-cs"/>
              </a:rPr>
              <a:t>new map</a:t>
            </a:r>
            <a:endParaRPr lang="en-US" sz="6000" cap="all" spc="200" baseline="0" dirty="0">
              <a:solidFill>
                <a:schemeClr val="tx2"/>
              </a:solidFill>
              <a:latin typeface="+mj-lt"/>
              <a:ea typeface="+mj-ea"/>
              <a:cs typeface="+mj-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a:extLst>
            <a:ext uri="{FF2B5EF4-FFF2-40B4-BE49-F238E27FC236}">
              <a16:creationId xmlns:a16="http://schemas.microsoft.com/office/drawing/2014/main" id="{BF8B8F35-B6CB-1995-7241-28C4C53D9D22}"/>
            </a:ext>
          </a:extLst>
        </p:cNvPr>
        <p:cNvGrpSpPr/>
        <p:nvPr/>
      </p:nvGrpSpPr>
      <p:grpSpPr>
        <a:xfrm>
          <a:off x="0" y="0"/>
          <a:ext cx="0" cy="0"/>
          <a:chOff x="0" y="0"/>
          <a:chExt cx="0" cy="0"/>
        </a:xfrm>
      </p:grpSpPr>
      <p:pic>
        <p:nvPicPr>
          <p:cNvPr id="20" name="Picture 19" descr="Desk with productivity items">
            <a:extLst>
              <a:ext uri="{FF2B5EF4-FFF2-40B4-BE49-F238E27FC236}">
                <a16:creationId xmlns:a16="http://schemas.microsoft.com/office/drawing/2014/main" id="{E8D0F1AA-DBAA-D550-F2E3-6A5FFF8063BA}"/>
              </a:ext>
            </a:extLst>
          </p:cNvPr>
          <p:cNvPicPr>
            <a:picLocks noChangeAspect="1"/>
          </p:cNvPicPr>
          <p:nvPr/>
        </p:nvPicPr>
        <p:blipFill>
          <a:blip r:embed="rId3"/>
          <a:srcRect l="27966" r="12716" b="-1"/>
          <a:stretch>
            <a:fillRect/>
          </a:stretch>
        </p:blipFill>
        <p:spPr>
          <a:xfrm>
            <a:off x="-2" y="10"/>
            <a:ext cx="6094407" cy="6857990"/>
          </a:xfrm>
          <a:prstGeom prst="rect">
            <a:avLst/>
          </a:prstGeom>
        </p:spPr>
      </p:pic>
      <p:sp>
        <p:nvSpPr>
          <p:cNvPr id="10" name="Content Placeholder 9">
            <a:extLst>
              <a:ext uri="{FF2B5EF4-FFF2-40B4-BE49-F238E27FC236}">
                <a16:creationId xmlns:a16="http://schemas.microsoft.com/office/drawing/2014/main" id="{63BA7AE3-5878-1FE9-62DD-7C723E658B8E}"/>
              </a:ext>
            </a:extLst>
          </p:cNvPr>
          <p:cNvSpPr>
            <a:spLocks noGrp="1"/>
          </p:cNvSpPr>
          <p:nvPr>
            <p:ph idx="1"/>
          </p:nvPr>
        </p:nvSpPr>
        <p:spPr>
          <a:xfrm>
            <a:off x="6349139" y="683581"/>
            <a:ext cx="5708542" cy="5686221"/>
          </a:xfrm>
        </p:spPr>
        <p:txBody>
          <a:bodyPr>
            <a:normAutofit fontScale="92500" lnSpcReduction="10000"/>
          </a:bodyPr>
          <a:lstStyle/>
          <a:p>
            <a:pPr marL="0" indent="0">
              <a:lnSpc>
                <a:spcPct val="90000"/>
              </a:lnSpc>
              <a:buNone/>
            </a:pPr>
            <a:r>
              <a:rPr lang="en-US" sz="1600" b="1" dirty="0">
                <a:cs typeface="Times New Roman" panose="02020603050405020304" pitchFamily="18" charset="0"/>
              </a:rPr>
              <a:t>New Heat Map Overview</a:t>
            </a:r>
            <a:r>
              <a:rPr lang="en-US" sz="1600" dirty="0">
                <a:cs typeface="Times New Roman" panose="02020603050405020304" pitchFamily="18" charset="0"/>
              </a:rPr>
              <a:t>: </a:t>
            </a:r>
          </a:p>
          <a:p>
            <a:pPr marL="0" indent="0">
              <a:lnSpc>
                <a:spcPct val="90000"/>
              </a:lnSpc>
              <a:buNone/>
            </a:pPr>
            <a:r>
              <a:rPr lang="en-US" sz="1600" dirty="0">
                <a:cs typeface="Times New Roman" panose="02020603050405020304" pitchFamily="18" charset="0"/>
              </a:rPr>
              <a:t>This heat map visualizes complaint counts by borough, providing a geographic overview of service demand across the area. It highlights where complaints are concentrated, helping to identify hotspots that may require urgent attention.</a:t>
            </a:r>
          </a:p>
          <a:p>
            <a:pPr marL="0" indent="0">
              <a:lnSpc>
                <a:spcPct val="90000"/>
              </a:lnSpc>
              <a:buNone/>
            </a:pPr>
            <a:r>
              <a:rPr lang="en-US" sz="1600" b="1" dirty="0">
                <a:cs typeface="Times New Roman" panose="02020603050405020304" pitchFamily="18" charset="0"/>
              </a:rPr>
              <a:t>Key Features</a:t>
            </a:r>
            <a:r>
              <a:rPr lang="en-US" sz="1600" dirty="0">
                <a:cs typeface="Times New Roman" panose="02020603050405020304" pitchFamily="18" charset="0"/>
              </a:rPr>
              <a:t>:</a:t>
            </a:r>
          </a:p>
          <a:p>
            <a:pPr marL="0" indent="0">
              <a:lnSpc>
                <a:spcPct val="90000"/>
              </a:lnSpc>
              <a:buNone/>
            </a:pPr>
            <a:r>
              <a:rPr lang="en-US" sz="1600" dirty="0">
                <a:cs typeface="Times New Roman" panose="02020603050405020304" pitchFamily="18" charset="0"/>
              </a:rPr>
              <a:t>Borough Representation: The map clearly delineates complaints by borough—Bronx, Brooklyn, Manhattan, Queens, and Staten Island—allowing for easy identification of geographic trends.</a:t>
            </a:r>
          </a:p>
          <a:p>
            <a:pPr marL="0" indent="0">
              <a:lnSpc>
                <a:spcPct val="90000"/>
              </a:lnSpc>
              <a:buNone/>
            </a:pPr>
            <a:r>
              <a:rPr lang="en-US" sz="1600" dirty="0">
                <a:cs typeface="Times New Roman" panose="02020603050405020304" pitchFamily="18" charset="0"/>
              </a:rPr>
              <a:t>Complaint Density: Different colors represent varying complaint counts, with a gradient indicating areas of higher and lower complaint volumes. The larger and more intense the color, the higher the number of complaints.</a:t>
            </a:r>
          </a:p>
          <a:p>
            <a:pPr marL="0" indent="0">
              <a:lnSpc>
                <a:spcPct val="90000"/>
              </a:lnSpc>
              <a:buNone/>
            </a:pPr>
            <a:r>
              <a:rPr lang="en-US" sz="1600" b="1" dirty="0">
                <a:cs typeface="Times New Roman" panose="02020603050405020304" pitchFamily="18" charset="0"/>
              </a:rPr>
              <a:t>Insights</a:t>
            </a:r>
            <a:r>
              <a:rPr lang="en-US" sz="1600" dirty="0">
                <a:cs typeface="Times New Roman" panose="02020603050405020304" pitchFamily="18" charset="0"/>
              </a:rPr>
              <a:t>:</a:t>
            </a:r>
          </a:p>
          <a:p>
            <a:pPr marL="0" indent="0">
              <a:lnSpc>
                <a:spcPct val="90000"/>
              </a:lnSpc>
              <a:buNone/>
            </a:pPr>
            <a:r>
              <a:rPr lang="en-US" sz="1600" b="1" dirty="0">
                <a:cs typeface="Times New Roman" panose="02020603050405020304" pitchFamily="18" charset="0"/>
              </a:rPr>
              <a:t>Identifying Hotspots</a:t>
            </a:r>
            <a:r>
              <a:rPr lang="en-US" sz="1600" dirty="0">
                <a:cs typeface="Times New Roman" panose="02020603050405020304" pitchFamily="18" charset="0"/>
              </a:rPr>
              <a:t>: </a:t>
            </a:r>
          </a:p>
          <a:p>
            <a:pPr marL="0" indent="0">
              <a:lnSpc>
                <a:spcPct val="90000"/>
              </a:lnSpc>
              <a:buNone/>
            </a:pPr>
            <a:r>
              <a:rPr lang="en-US" sz="1600" dirty="0">
                <a:cs typeface="Times New Roman" panose="02020603050405020304" pitchFamily="18" charset="0"/>
              </a:rPr>
              <a:t>Areas with the highest complaint counts can be quickly identified, enabling targeted interventions. For example, if Brooklyn shows a concentration of complaints, this could indicate specific issues that need addressing.</a:t>
            </a:r>
          </a:p>
          <a:p>
            <a:pPr marL="0" indent="0">
              <a:lnSpc>
                <a:spcPct val="90000"/>
              </a:lnSpc>
              <a:buNone/>
            </a:pPr>
            <a:r>
              <a:rPr lang="en-US" sz="1600" dirty="0">
                <a:cs typeface="Times New Roman" panose="02020603050405020304" pitchFamily="18" charset="0"/>
              </a:rPr>
              <a:t>Geographic Trends: Understanding the geographic distribution of complaints can inform resource allocation and operational strategies, ensuring that teams are deployed effectively.</a:t>
            </a:r>
          </a:p>
        </p:txBody>
      </p:sp>
    </p:spTree>
    <p:extLst>
      <p:ext uri="{BB962C8B-B14F-4D97-AF65-F5344CB8AC3E}">
        <p14:creationId xmlns:p14="http://schemas.microsoft.com/office/powerpoint/2010/main" val="36976888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sp>
        <p:nvSpPr>
          <p:cNvPr id="15" name="Title 1"/>
          <p:cNvSpPr>
            <a:spLocks noGrp="1"/>
          </p:cNvSpPr>
          <p:nvPr>
            <p:ph type="ctrTitle"/>
          </p:nvPr>
        </p:nvSpPr>
        <p:spPr>
          <a:xfrm>
            <a:off x="7400518" y="1447800"/>
            <a:ext cx="4143781" cy="3096987"/>
          </a:xfrm>
        </p:spPr>
        <p:txBody>
          <a:bodyPr lIns="0" tIns="0" rIns="0" bIns="0">
            <a:normAutofit/>
          </a:bodyPr>
          <a:lstStyle/>
          <a:p>
            <a:r>
              <a:rPr lang="en-US" sz="5400" b="1"/>
              <a:t>Thank You</a:t>
            </a:r>
            <a:endParaRPr lang="en-US" sz="5400"/>
          </a:p>
        </p:txBody>
      </p:sp>
      <p:sp>
        <p:nvSpPr>
          <p:cNvPr id="20" name="Freeform: Shape 19"/>
          <p:cNvSpPr>
            <a:spLocks noGrp="1" noRot="1" noChangeAspect="1" noMove="1" noResize="1" noEditPoints="1" noAdjustHandles="1" noChangeArrowheads="1" noChangeShapeType="1" noTextEdit="1"/>
          </p:cNvSpPr>
          <p:nvPr/>
        </p:nvSpPr>
        <p:spPr bwMode="gray">
          <a:xfrm rot="5400000" flipH="1">
            <a:off x="68960" y="-68960"/>
            <a:ext cx="6858001" cy="6995918"/>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solidFill>
            <a:srgbClr val="FFFFFF"/>
          </a:solidFill>
          <a:ln>
            <a:noFill/>
          </a:ln>
        </p:spPr>
        <p:txBody>
          <a:bodyPr/>
          <a:lstStyle/>
          <a:p>
            <a:endParaRPr lang="en-US"/>
          </a:p>
        </p:txBody>
      </p:sp>
      <p:pic>
        <p:nvPicPr>
          <p:cNvPr id="6" name="Picture 5" descr="This image is an icon that says &quot;24Slides.&quot;">
            <a:hlinkClick r:id="rId4"/>
          </p:cNvPr>
          <p:cNvPicPr>
            <a:picLocks noChangeAspect="1"/>
          </p:cNvPicPr>
          <p:nvPr/>
        </p:nvPicPr>
        <p:blipFill>
          <a:blip r:embed="rId5"/>
          <a:stretch>
            <a:fillRect/>
          </a:stretch>
        </p:blipFill>
        <p:spPr>
          <a:xfrm>
            <a:off x="643855" y="929621"/>
            <a:ext cx="5454404" cy="1560149"/>
          </a:xfrm>
          <a:prstGeom prst="rect">
            <a:avLst/>
          </a:prstGeom>
          <a:effectLst/>
        </p:spPr>
      </p:pic>
      <p:sp>
        <p:nvSpPr>
          <p:cNvPr id="22" name="Freeform 27"/>
          <p:cNvSpPr>
            <a:spLocks noGrp="1" noRot="1" noChangeAspect="1" noMove="1" noResize="1" noEditPoints="1" noAdjustHandles="1" noChangeArrowheads="1" noChangeShapeType="1" noTextEdit="1"/>
          </p:cNvSpPr>
          <p:nvPr/>
        </p:nvSpPr>
        <p:spPr>
          <a:xfrm flipH="1">
            <a:off x="6649646"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grpSp>
        <p:nvGrpSpPr>
          <p:cNvPr id="11" name="Group 10"/>
          <p:cNvGrpSpPr/>
          <p:nvPr/>
        </p:nvGrpSpPr>
        <p:grpSpPr>
          <a:xfrm>
            <a:off x="1804314" y="2878375"/>
            <a:ext cx="3129642" cy="3331464"/>
            <a:chOff x="4325258" y="1229517"/>
            <a:chExt cx="3541486" cy="3769865"/>
          </a:xfrm>
        </p:grpSpPr>
        <p:sp>
          <p:nvSpPr>
            <p:cNvPr id="12" name="Diamond 11"/>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61A00BBF-EEBB-4E18-B8CB-F926EAAC48F7}">
  <ds:schemaRefs/>
</ds:datastoreItem>
</file>

<file path=customXml/itemProps2.xml><?xml version="1.0" encoding="utf-8"?>
<ds:datastoreItem xmlns:ds="http://schemas.openxmlformats.org/officeDocument/2006/customXml" ds:itemID="{2FD05317-60D6-4B3A-8545-888496D1A8EC}">
  <ds:schemaRefs/>
</ds:datastoreItem>
</file>

<file path=customXml/itemProps3.xml><?xml version="1.0" encoding="utf-8"?>
<ds:datastoreItem xmlns:ds="http://schemas.openxmlformats.org/officeDocument/2006/customXml" ds:itemID="{EF609EDA-869E-4BE5-AE5D-B898C584B6FF}">
  <ds:schemaRefs/>
</ds:datastoreItem>
</file>

<file path=docProps/app.xml><?xml version="1.0" encoding="utf-8"?>
<Properties xmlns="http://schemas.openxmlformats.org/officeDocument/2006/extended-properties" xmlns:vt="http://schemas.openxmlformats.org/officeDocument/2006/docPropsVTypes">
  <Template>Ion</Template>
  <TotalTime>321</TotalTime>
  <Words>1818</Words>
  <Application>Microsoft Office PowerPoint</Application>
  <PresentationFormat>Widescreen</PresentationFormat>
  <Paragraphs>118</Paragraphs>
  <Slides>24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Century Gothic</vt:lpstr>
      <vt:lpstr>Times New Roman</vt:lpstr>
      <vt:lpstr>Wingdings 3</vt:lpstr>
      <vt:lpstr>Ion</vt:lpstr>
      <vt:lpstr>M4 Project Work: First Tables and Graphs Presentation</vt:lpstr>
      <vt:lpstr>PowerPoint Presentation</vt:lpstr>
      <vt:lpstr>IMPROVEMENTS For a better presentation we have re arranged the flow of slides. New tables have been added. A new chart with new insights has also been added.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Bekithemba Nkomo</dc:creator>
  <cp:lastModifiedBy>Bekithemba Nkomo [student]</cp:lastModifiedBy>
  <cp:revision>3</cp:revision>
  <dcterms:created xsi:type="dcterms:W3CDTF">2025-02-23T19:13:00Z</dcterms:created>
  <dcterms:modified xsi:type="dcterms:W3CDTF">2025-03-10T04:31:56Z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7E83CEEB83FA4BD1868BB3B1B78FB76A_12</vt:lpwstr>
  </property>
  <property fmtid="{D5CDD505-2E9C-101B-9397-08002B2CF9AE}" pid="4" name="KSOProductBuildVer">
    <vt:lpwstr>1033-12.2.0.20323</vt:lpwstr>
  </property>
</Properties>
</file>