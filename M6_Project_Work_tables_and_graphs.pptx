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4"/>
  </p:notesMasterIdLst>
  <p:handoutMasterIdLst>
    <p:handoutMasterId r:id="rId25"/>
  </p:handoutMasterIdLst>
  <p:sldIdLst>
    <p:sldId id="256" r:id="rId5"/>
    <p:sldId id="289" r:id="rId6"/>
    <p:sldId id="311" r:id="rId7"/>
    <p:sldId id="291" r:id="rId8"/>
    <p:sldId id="292" r:id="rId9"/>
    <p:sldId id="293" r:id="rId10"/>
    <p:sldId id="302" r:id="rId11"/>
    <p:sldId id="294" r:id="rId12"/>
    <p:sldId id="303" r:id="rId13"/>
    <p:sldId id="295" r:id="rId14"/>
    <p:sldId id="304" r:id="rId15"/>
    <p:sldId id="310" r:id="rId16"/>
    <p:sldId id="309" r:id="rId17"/>
    <p:sldId id="296" r:id="rId18"/>
    <p:sldId id="305" r:id="rId19"/>
    <p:sldId id="297" r:id="rId20"/>
    <p:sldId id="308" r:id="rId21"/>
    <p:sldId id="307" r:id="rId22"/>
    <p:sldId id="28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F34C3E-4333-4B66-ADD4-B260495551B5}" v="1" dt="2025-03-09T23:06:26.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52" autoAdjust="0"/>
  </p:normalViewPr>
  <p:slideViewPr>
    <p:cSldViewPr snapToGrid="0" showGuides="1">
      <p:cViewPr varScale="1">
        <p:scale>
          <a:sx n="90" d="100"/>
          <a:sy n="90" d="100"/>
        </p:scale>
        <p:origin x="418" y="41"/>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kithemba Nkomo [student]" userId="86136daf-e49a-4e73-94f9-5f5e7d01c202" providerId="ADAL" clId="{ECF34C3E-4333-4B66-ADD4-B260495551B5}"/>
    <pc:docChg chg="custSel mod modSld">
      <pc:chgData name="Bekithemba Nkomo [student]" userId="86136daf-e49a-4e73-94f9-5f5e7d01c202" providerId="ADAL" clId="{ECF34C3E-4333-4B66-ADD4-B260495551B5}" dt="2025-03-09T23:06:45.295" v="7" actId="478"/>
      <pc:docMkLst>
        <pc:docMk/>
      </pc:docMkLst>
      <pc:sldChg chg="addSp delSp modSp mod">
        <pc:chgData name="Bekithemba Nkomo [student]" userId="86136daf-e49a-4e73-94f9-5f5e7d01c202" providerId="ADAL" clId="{ECF34C3E-4333-4B66-ADD4-B260495551B5}" dt="2025-03-09T23:06:45.295" v="7" actId="478"/>
        <pc:sldMkLst>
          <pc:docMk/>
          <pc:sldMk cId="0" sldId="302"/>
        </pc:sldMkLst>
        <pc:picChg chg="mod">
          <ac:chgData name="Bekithemba Nkomo [student]" userId="86136daf-e49a-4e73-94f9-5f5e7d01c202" providerId="ADAL" clId="{ECF34C3E-4333-4B66-ADD4-B260495551B5}" dt="2025-03-09T23:06:15.305" v="1" actId="14100"/>
          <ac:picMkLst>
            <pc:docMk/>
            <pc:sldMk cId="0" sldId="302"/>
            <ac:picMk id="2" creationId="{00000000-0000-0000-0000-000000000000}"/>
          </ac:picMkLst>
        </pc:picChg>
        <pc:picChg chg="add del mod">
          <ac:chgData name="Bekithemba Nkomo [student]" userId="86136daf-e49a-4e73-94f9-5f5e7d01c202" providerId="ADAL" clId="{ECF34C3E-4333-4B66-ADD4-B260495551B5}" dt="2025-03-09T23:06:45.295" v="7" actId="478"/>
          <ac:picMkLst>
            <pc:docMk/>
            <pc:sldMk cId="0" sldId="302"/>
            <ac:picMk id="3" creationId="{320CBC9B-42FD-87BE-917F-8671DBD479A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3/9/2025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0DA1498-92C7-4E4B-8045-C9195F453964}" type="datetimeFigureOut">
              <a:rPr lang="en-US" smtClean="0"/>
              <a:t>3/9/2025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6FEDF93-2BFD-41CA-ABC7-B039102F3792}"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2.jpe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3.jpe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4.jpe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6.emf"/><Relationship Id="rId4" Type="http://schemas.openxmlformats.org/officeDocument/2006/relationships/hyperlink" Target="https://24slides.com/?utm_campaign=mp&amp;utm_medium=ppt&amp;utm_source=pptlink&amp;utm_content=&amp;utm_te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927504"/>
            <a:ext cx="9144000" cy="1169551"/>
          </a:xfrm>
        </p:spPr>
        <p:txBody>
          <a:bodyPr lIns="0" tIns="0" rIns="0" bIns="0" anchor="t">
            <a:spAutoFit/>
          </a:bodyPr>
          <a:lstStyle/>
          <a:p>
            <a:pPr algn="ctr"/>
            <a:r>
              <a:rPr lang="en-US" sz="3600" b="1" dirty="0">
                <a:solidFill>
                  <a:srgbClr val="002060"/>
                </a:solidFill>
              </a:rPr>
              <a:t>M4 Project Work: First Tables and Graphs</a:t>
            </a:r>
            <a:br>
              <a:rPr lang="en-US" b="1" dirty="0">
                <a:solidFill>
                  <a:srgbClr val="002060"/>
                </a:solidFill>
              </a:rPr>
            </a:br>
            <a:r>
              <a:rPr lang="en-US" sz="4000" b="1" dirty="0">
                <a:solidFill>
                  <a:srgbClr val="002060"/>
                </a:solidFill>
              </a:rPr>
              <a:t>Presentation</a:t>
            </a:r>
            <a:endParaRPr lang="en-US" b="1" dirty="0">
              <a:solidFill>
                <a:srgbClr val="002060"/>
              </a:solidFill>
            </a:endParaRPr>
          </a:p>
        </p:txBody>
      </p:sp>
      <p:sp>
        <p:nvSpPr>
          <p:cNvPr id="4" name="Diamond 3"/>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p:cNvSpPr/>
          <p:nvPr/>
        </p:nvSpPr>
        <p:spPr>
          <a:xfrm>
            <a:off x="4325257" y="-1770743"/>
            <a:ext cx="3569909" cy="323547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p:cNvGrpSpPr/>
          <p:nvPr/>
        </p:nvGrpSpPr>
        <p:grpSpPr>
          <a:xfrm>
            <a:off x="5851021" y="3469064"/>
            <a:ext cx="813730" cy="748584"/>
            <a:chOff x="2025650" y="4786313"/>
            <a:chExt cx="285750" cy="287338"/>
          </a:xfrm>
          <a:solidFill>
            <a:schemeClr val="bg1"/>
          </a:solidFill>
        </p:grpSpPr>
        <p:sp>
          <p:nvSpPr>
            <p:cNvPr id="8" name="Freeform 565"/>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p>
          </p:txBody>
        </p:sp>
        <p:sp>
          <p:nvSpPr>
            <p:cNvPr id="9" name="Freeform 566"/>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p>
          </p:txBody>
        </p:sp>
      </p:grpSp>
      <p:sp>
        <p:nvSpPr>
          <p:cNvPr id="3" name="TextBox 2"/>
          <p:cNvSpPr txBox="1"/>
          <p:nvPr/>
        </p:nvSpPr>
        <p:spPr>
          <a:xfrm>
            <a:off x="322448" y="1770395"/>
            <a:ext cx="4412491" cy="3200876"/>
          </a:xfrm>
          <a:prstGeom prst="rect">
            <a:avLst/>
          </a:prstGeom>
          <a:noFill/>
        </p:spPr>
        <p:txBody>
          <a:bodyPr wrap="square" rtlCol="0">
            <a:spAutoFit/>
          </a:bodyPr>
          <a:lstStyle/>
          <a:p>
            <a:r>
              <a:rPr lang="en-US" sz="2000" b="1" u="sng" dirty="0"/>
              <a:t>TEAM MEMBERS:</a:t>
            </a:r>
          </a:p>
          <a:p>
            <a:endParaRPr lang="en-US" sz="2000" b="1" u="sng" dirty="0"/>
          </a:p>
          <a:p>
            <a:pPr>
              <a:lnSpc>
                <a:spcPct val="200000"/>
              </a:lnSpc>
            </a:pPr>
            <a:r>
              <a:rPr lang="en-US" b="1" dirty="0"/>
              <a:t>Sylvester </a:t>
            </a:r>
            <a:r>
              <a:rPr lang="en-US" b="1" dirty="0" err="1"/>
              <a:t>Vhashe</a:t>
            </a:r>
            <a:endParaRPr lang="en-US" b="1" dirty="0"/>
          </a:p>
          <a:p>
            <a:pPr>
              <a:lnSpc>
                <a:spcPct val="200000"/>
              </a:lnSpc>
            </a:pPr>
            <a:r>
              <a:rPr lang="en-US" b="1" dirty="0"/>
              <a:t>Bekithemba Nkomo</a:t>
            </a:r>
          </a:p>
          <a:p>
            <a:pPr>
              <a:lnSpc>
                <a:spcPct val="200000"/>
              </a:lnSpc>
            </a:pPr>
            <a:r>
              <a:rPr lang="en-US" b="1" dirty="0"/>
              <a:t>Innocent </a:t>
            </a:r>
            <a:r>
              <a:rPr lang="en-US" b="1" dirty="0" err="1"/>
              <a:t>Mujokoro</a:t>
            </a:r>
            <a:endParaRPr lang="en-US" b="1" dirty="0"/>
          </a:p>
          <a:p>
            <a:pPr>
              <a:lnSpc>
                <a:spcPct val="200000"/>
              </a:lnSpc>
            </a:pPr>
            <a:r>
              <a:rPr lang="en-US" b="1" dirty="0"/>
              <a:t>Tapiwanashe </a:t>
            </a:r>
            <a:r>
              <a:rPr lang="en-US" b="1" dirty="0" err="1"/>
              <a:t>Mutarimanja</a:t>
            </a:r>
            <a:endParaRPr lang="en-US" b="1" dirty="0"/>
          </a:p>
          <a:p>
            <a:endParaRPr lang="en-US" dirty="0">
              <a:solidFill>
                <a:schemeClr val="bg1"/>
              </a:solidFill>
            </a:endParaRPr>
          </a:p>
        </p:txBody>
      </p:sp>
      <p:sp>
        <p:nvSpPr>
          <p:cNvPr id="11" name="Title 1"/>
          <p:cNvSpPr txBox="1"/>
          <p:nvPr/>
        </p:nvSpPr>
        <p:spPr>
          <a:xfrm>
            <a:off x="-106731" y="41224"/>
            <a:ext cx="4317230" cy="1661993"/>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NEXTGEN</a:t>
            </a:r>
          </a:p>
          <a:p>
            <a:r>
              <a:rPr lang="en-US" dirty="0"/>
              <a:t>ANALYTICS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666"/>
        </a:solidFill>
        <a:effectLst/>
      </p:bgPr>
    </p:bg>
    <p:spTree>
      <p:nvGrpSpPr>
        <p:cNvPr id="1" name=""/>
        <p:cNvGrpSpPr/>
        <p:nvPr/>
      </p:nvGrpSpPr>
      <p:grpSpPr>
        <a:xfrm>
          <a:off x="0" y="0"/>
          <a:ext cx="0" cy="0"/>
          <a:chOff x="0" y="0"/>
          <a:chExt cx="0" cy="0"/>
        </a:xfrm>
      </p:grpSpPr>
      <p:sp>
        <p:nvSpPr>
          <p:cNvPr id="4" name="Diamond 3"/>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968325" y="1516045"/>
            <a:ext cx="10874326" cy="3139321"/>
          </a:xfrm>
          <a:prstGeom prst="rect">
            <a:avLst/>
          </a:prstGeom>
          <a:noFill/>
        </p:spPr>
        <p:txBody>
          <a:bodyPr wrap="square" rtlCol="0">
            <a:spAutoFit/>
          </a:bodyPr>
          <a:lstStyle/>
          <a:p>
            <a:r>
              <a:rPr lang="en-US" dirty="0">
                <a:solidFill>
                  <a:schemeClr val="bg1"/>
                </a:solidFill>
              </a:rPr>
              <a:t>TITLE : </a:t>
            </a:r>
          </a:p>
          <a:p>
            <a:r>
              <a:rPr lang="en-US" sz="5400" b="1" dirty="0">
                <a:solidFill>
                  <a:schemeClr val="bg1"/>
                </a:solidFill>
                <a:latin typeface="Times New Roman" panose="02020603050405020304" pitchFamily="18" charset="0"/>
                <a:cs typeface="Times New Roman" panose="02020603050405020304" pitchFamily="18" charset="0"/>
              </a:rPr>
              <a:t>Data-Driven Enforcement for Improved Housing Conditions and Code Compliance in NYC</a:t>
            </a:r>
          </a:p>
          <a:p>
            <a:endParaRPr lang="en-US" dirty="0"/>
          </a:p>
        </p:txBody>
      </p:sp>
      <p:sp>
        <p:nvSpPr>
          <p:cNvPr id="11" name="Title 1"/>
          <p:cNvSpPr txBox="1"/>
          <p:nvPr/>
        </p:nvSpPr>
        <p:spPr>
          <a:xfrm>
            <a:off x="725658" y="4780972"/>
            <a:ext cx="10515600" cy="1772793"/>
          </a:xfrm>
          <a:prstGeom prst="rect">
            <a:avLst/>
          </a:prstGeom>
          <a:noFill/>
        </p:spPr>
        <p:txBody>
          <a:bodyPr vert="horz"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i="1" dirty="0">
                <a:solidFill>
                  <a:schemeClr val="bg1"/>
                </a:solidFill>
              </a:rPr>
              <a:t>Welcome to our analysis of housing conditions and code compliance in New York City, where we leverage data to understand tenant experiences and identify critical areas for improvement.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95" y="452755"/>
            <a:ext cx="9404985" cy="5709285"/>
          </a:xfrm>
        </p:spPr>
        <p:txBody>
          <a:bodyPr/>
          <a:lstStyle/>
          <a:p>
            <a:r>
              <a:rPr lang="en-US" altLang="en-US" b="1"/>
              <a:t>IMPROVEMENTS</a:t>
            </a:r>
            <a:br>
              <a:rPr lang="en-US" altLang="en-US"/>
            </a:br>
            <a:r>
              <a:rPr lang="en-US" altLang="en-US"/>
              <a:t>In our previous assignment, the information we provided was not accurate and showed missing values in the visuals. Now, we have accurate information, and the visuals display different, accurate trends. So both the tables and graphs are completely different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20" name="Picture 19" descr="Desk with productivity items"/>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p:cNvSpPr>
            <a:spLocks noGrp="1"/>
          </p:cNvSpPr>
          <p:nvPr>
            <p:ph idx="1"/>
          </p:nvPr>
        </p:nvSpPr>
        <p:spPr>
          <a:xfrm>
            <a:off x="6349139" y="683581"/>
            <a:ext cx="5708542" cy="5686221"/>
          </a:xfrm>
        </p:spPr>
        <p:txBody>
          <a:bodyPr>
            <a:normAutofit/>
          </a:bodyPr>
          <a:lstStyle/>
          <a:p>
            <a:pPr marL="0" indent="0">
              <a:lnSpc>
                <a:spcPct val="90000"/>
              </a:lnSpc>
              <a:buNone/>
            </a:pPr>
            <a:r>
              <a:rPr lang="en-US" sz="1600" b="1" dirty="0">
                <a:latin typeface="Times New Roman" panose="02020603050405020304" pitchFamily="18" charset="0"/>
                <a:cs typeface="Times New Roman" panose="02020603050405020304" pitchFamily="18" charset="0"/>
              </a:rPr>
              <a:t>Table 1 </a:t>
            </a:r>
            <a:r>
              <a:rPr lang="en-US" sz="1600" dirty="0">
                <a:latin typeface="+mn-lt"/>
                <a:cs typeface="Times New Roman" panose="02020603050405020304" pitchFamily="18" charset="0"/>
              </a:rPr>
              <a:t>presents the problem status over the years, specifically focusing on the number of "OPEN" and "CLOSE" problem statuses. It covers the years 2019 to 2024, providing a historical view of problem resolution.</a:t>
            </a:r>
          </a:p>
          <a:p>
            <a:pPr marL="0" indent="0">
              <a:lnSpc>
                <a:spcPct val="90000"/>
              </a:lnSpc>
              <a:buNone/>
            </a:pPr>
            <a:r>
              <a:rPr lang="en-US" sz="1600" dirty="0">
                <a:latin typeface="+mn-lt"/>
                <a:cs typeface="Times New Roman" panose="02020603050405020304" pitchFamily="18" charset="0"/>
              </a:rPr>
              <a:t>Insights:</a:t>
            </a:r>
          </a:p>
          <a:p>
            <a:pPr>
              <a:lnSpc>
                <a:spcPct val="90000"/>
              </a:lnSpc>
            </a:pPr>
            <a:r>
              <a:rPr lang="en-US" sz="1600" dirty="0">
                <a:latin typeface="+mn-lt"/>
                <a:cs typeface="Times New Roman" panose="02020603050405020304" pitchFamily="18" charset="0"/>
              </a:rPr>
              <a:t>Significant Increase in Closed Problems: There's a noticeable increase in the number of closed problems from 467,297 in 2020 to 828,151 in 2024. This could indicate improved problem-solving efficiency or an increase in overall activity.</a:t>
            </a:r>
          </a:p>
          <a:p>
            <a:pPr>
              <a:lnSpc>
                <a:spcPct val="90000"/>
              </a:lnSpc>
            </a:pPr>
            <a:r>
              <a:rPr lang="en-US" sz="1600" dirty="0">
                <a:latin typeface="+mn-lt"/>
                <a:cs typeface="Times New Roman" panose="02020603050405020304" pitchFamily="18" charset="0"/>
              </a:rPr>
              <a:t>Open Problems Fluctuations: While closed problems have increased, the number of open problems has fluctuated. It peaked in 2024 at 14,908, significantly higher than previous years. This might suggest a recent surge in new issues or challenges in resolving them.</a:t>
            </a:r>
          </a:p>
          <a:p>
            <a:pPr>
              <a:lnSpc>
                <a:spcPct val="90000"/>
              </a:lnSpc>
            </a:pPr>
            <a:r>
              <a:rPr lang="en-US" sz="1600" dirty="0">
                <a:latin typeface="+mn-lt"/>
                <a:cs typeface="Times New Roman" panose="02020603050405020304" pitchFamily="18" charset="0"/>
              </a:rPr>
              <a:t>2024 as an Outlier: 2024 shows a dramatic increase in both closed and open problems compared to previous years. This could be due to various factors, such as a change in the scale of operations, a new type of problem, or a change in the tracking methodology.</a:t>
            </a:r>
            <a:endParaRPr lang="sv-SE" sz="1100" dirty="0">
              <a:latin typeface="+mn-lt"/>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109" name="Picture 108"/>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11" name="Picture 110"/>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13" name="Oval 112"/>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5" name="Picture 114"/>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17" name="Picture 116"/>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19" name="Rectangle 118"/>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p:cNvSpPr txBox="1"/>
          <p:nvPr/>
        </p:nvSpPr>
        <p:spPr>
          <a:xfrm>
            <a:off x="8201837" y="1454963"/>
            <a:ext cx="3342462" cy="3308380"/>
          </a:xfrm>
          <a:prstGeom prst="rect">
            <a:avLst/>
          </a:prstGeom>
        </p:spPr>
        <p:txBody>
          <a:bodyPr vert="horz" lIns="91440" tIns="45720" rIns="91440" bIns="45720" rtlCol="0" anchor="b">
            <a:normAutofit/>
          </a:bodyPr>
          <a:lstStyle/>
          <a:p>
            <a:pPr>
              <a:spcBef>
                <a:spcPct val="0"/>
              </a:spcBef>
              <a:spcAft>
                <a:spcPts val="600"/>
              </a:spcAft>
            </a:pPr>
            <a:r>
              <a:rPr lang="en-US" sz="6000" cap="all" spc="200" baseline="0">
                <a:solidFill>
                  <a:schemeClr val="tx2"/>
                </a:solidFill>
                <a:latin typeface="+mj-lt"/>
                <a:ea typeface="+mj-ea"/>
                <a:cs typeface="+mj-cs"/>
              </a:rPr>
              <a:t>TABLE 1</a:t>
            </a:r>
          </a:p>
        </p:txBody>
      </p:sp>
      <p:pic>
        <p:nvPicPr>
          <p:cNvPr id="2" name="Picture 1"/>
          <p:cNvPicPr>
            <a:picLocks noChangeAspect="1"/>
          </p:cNvPicPr>
          <p:nvPr/>
        </p:nvPicPr>
        <p:blipFill>
          <a:blip r:embed="rId7"/>
          <a:srcRect r="20545" b="1"/>
          <a:stretch>
            <a:fillRect/>
          </a:stretch>
        </p:blipFill>
        <p:spPr>
          <a:xfrm>
            <a:off x="607848" y="609601"/>
            <a:ext cx="6946288" cy="5638797"/>
          </a:xfrm>
          <a:prstGeom prst="rect">
            <a:avLst/>
          </a:prstGeom>
          <a:effectLst>
            <a:outerShdw blurRad="50800" dist="38100" dir="5400000" algn="t" rotWithShape="0">
              <a:prstClr val="black">
                <a:alpha val="43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752814" y="749085"/>
            <a:ext cx="6622977" cy="5304243"/>
          </a:xfrm>
        </p:spPr>
        <p:txBody>
          <a:bodyPr anchor="ctr">
            <a:normAutofit/>
          </a:bodyPr>
          <a:lstStyle/>
          <a:p>
            <a:pPr marL="0" indent="0">
              <a:lnSpc>
                <a:spcPct val="90000"/>
              </a:lnSpc>
              <a:buNone/>
            </a:pPr>
            <a:r>
              <a:rPr lang="en-US" sz="1400" b="1" dirty="0">
                <a:latin typeface="Times New Roman" panose="02020603050405020304" pitchFamily="18" charset="0"/>
                <a:cs typeface="Times New Roman" panose="02020603050405020304" pitchFamily="18" charset="0"/>
              </a:rPr>
              <a:t>Table 2 :</a:t>
            </a:r>
            <a:r>
              <a:rPr lang="en-US" sz="1400" dirty="0">
                <a:latin typeface="Times New Roman" panose="02020603050405020304" pitchFamily="18" charset="0"/>
                <a:cs typeface="Times New Roman" panose="02020603050405020304" pitchFamily="18" charset="0"/>
              </a:rPr>
              <a:t>This table presents the breakdown of approved violations in New York City, categorized by violation class (A, B, C, and I) and grouped by borough (Bronx, Brooklyn, Manhattan, Queens, and Staten Island) for the years 2019 through 2024. This data provides insights into the distribution and trends of violations across different boroughs and violation severity levels.</a:t>
            </a:r>
          </a:p>
          <a:p>
            <a:pPr marL="0" indent="0">
              <a:lnSpc>
                <a:spcPct val="90000"/>
              </a:lnSpc>
              <a:buNone/>
            </a:pPr>
            <a:r>
              <a:rPr lang="en-US" sz="1400" dirty="0">
                <a:latin typeface="Times New Roman" panose="02020603050405020304" pitchFamily="18" charset="0"/>
                <a:cs typeface="Times New Roman" panose="02020603050405020304" pitchFamily="18" charset="0"/>
              </a:rPr>
              <a:t>Insights:</a:t>
            </a:r>
          </a:p>
          <a:p>
            <a:pPr>
              <a:lnSpc>
                <a:spcPct val="90000"/>
              </a:lnSpc>
            </a:pPr>
            <a:r>
              <a:rPr lang="en-US" sz="1400" dirty="0">
                <a:latin typeface="Times New Roman" panose="02020603050405020304" pitchFamily="18" charset="0"/>
                <a:cs typeface="Times New Roman" panose="02020603050405020304" pitchFamily="18" charset="0"/>
              </a:rPr>
              <a:t>Overall Increase in Violations: Looking at the "Grand Total" column, there's a clear upward trend in the total number of violations across all classes and boroughs from 2019 to 2024. This indicates a potential increase in enforcement, a rise in non-compliance, or both.</a:t>
            </a:r>
          </a:p>
          <a:p>
            <a:pPr>
              <a:lnSpc>
                <a:spcPct val="90000"/>
              </a:lnSpc>
            </a:pPr>
            <a:r>
              <a:rPr lang="en-US" sz="1400" dirty="0">
                <a:latin typeface="Times New Roman" panose="02020603050405020304" pitchFamily="18" charset="0"/>
                <a:cs typeface="Times New Roman" panose="02020603050405020304" pitchFamily="18" charset="0"/>
              </a:rPr>
              <a:t>Dominance of Class B Violations: Class B violations consistently represent the largest category of violations across all years and boroughs. This suggests that the issues classified as "B" are the most prevalent.</a:t>
            </a:r>
          </a:p>
          <a:p>
            <a:pPr>
              <a:lnSpc>
                <a:spcPct val="90000"/>
              </a:lnSpc>
            </a:pPr>
            <a:r>
              <a:rPr lang="en-US" sz="1400" dirty="0">
                <a:latin typeface="Times New Roman" panose="02020603050405020304" pitchFamily="18" charset="0"/>
                <a:cs typeface="Times New Roman" panose="02020603050405020304" pitchFamily="18" charset="0"/>
              </a:rPr>
              <a:t>Brooklyn Leading in Violations: Brooklyn consistently has the highest number of violations across all classes and years, indicating a potentially higher rate of non-compliance or more stringent enforcement in that borough.</a:t>
            </a:r>
          </a:p>
          <a:p>
            <a:pPr>
              <a:lnSpc>
                <a:spcPct val="90000"/>
              </a:lnSpc>
            </a:pPr>
            <a:r>
              <a:rPr lang="en-US" sz="1400" dirty="0">
                <a:latin typeface="Times New Roman" panose="02020603050405020304" pitchFamily="18" charset="0"/>
                <a:cs typeface="Times New Roman" panose="02020603050405020304" pitchFamily="18" charset="0"/>
              </a:rPr>
              <a:t>Manhattan and Queens as Significant Contributors: Manhattan and Queens also contribute significantly to the overall violation numbers, particularly for Class B and C violations.</a:t>
            </a:r>
          </a:p>
          <a:p>
            <a:pPr>
              <a:lnSpc>
                <a:spcPct val="90000"/>
              </a:lnSpc>
            </a:pPr>
            <a:r>
              <a:rPr lang="en-US" sz="1400" dirty="0">
                <a:latin typeface="Times New Roman" panose="02020603050405020304" pitchFamily="18" charset="0"/>
                <a:cs typeface="Times New Roman" panose="02020603050405020304" pitchFamily="18" charset="0"/>
              </a:rPr>
              <a:t>Fluctuations in Class I Violations: Class I violations show significant fluctuations, with a notable spike in 2022. This could be due to specific enforcement initiatives or changes in the classification of violations.</a:t>
            </a:r>
            <a:endParaRPr lang="sv-SE" sz="1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0" name="Picture 69"/>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2" name="Picture 71"/>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74" name="Oval 73"/>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6" name="Picture 75"/>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78" name="Picture 77"/>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80" name="Rectangle 79"/>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 name="Rectangle 81"/>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200279" y="1325880"/>
            <a:ext cx="3344020"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dirty="0">
                <a:solidFill>
                  <a:srgbClr val="EBEBEB"/>
                </a:solidFill>
                <a:latin typeface="+mj-lt"/>
                <a:ea typeface="+mj-ea"/>
                <a:cs typeface="+mj-cs"/>
              </a:rPr>
              <a:t>TABLE 2</a:t>
            </a:r>
          </a:p>
        </p:txBody>
      </p:sp>
      <p:sp useBgFill="1">
        <p:nvSpPr>
          <p:cNvPr id="84" name="Rectangle 83"/>
          <p:cNvSpPr>
            <a:spLocks noGrp="1" noRot="1" noChangeAspect="1" noMove="1" noResize="1" noEditPoints="1" noAdjustHandles="1" noChangeArrowheads="1" noChangeShapeType="1" noTextEdit="1"/>
          </p:cNvSpPr>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p:cNvPicPr>
            <a:picLocks noChangeAspect="1"/>
          </p:cNvPicPr>
          <p:nvPr/>
        </p:nvPicPr>
        <p:blipFill>
          <a:blip r:embed="rId6"/>
          <a:srcRect t="4870"/>
          <a:stretch>
            <a:fillRect/>
          </a:stretch>
        </p:blipFill>
        <p:spPr>
          <a:xfrm>
            <a:off x="955676" y="1236980"/>
            <a:ext cx="5792782" cy="4270587"/>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26" name="Rectangle 25"/>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32" name="Picture 31"/>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34"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701156" y="516611"/>
            <a:ext cx="6674635" cy="5536718"/>
          </a:xfrm>
        </p:spPr>
        <p:txBody>
          <a:bodyPr anchor="ctr">
            <a:normAutofit/>
          </a:bodyPr>
          <a:lstStyle/>
          <a:p>
            <a:pPr marL="0" lvl="0" indent="0" eaLnBrk="0" fontAlgn="base" hangingPunct="0">
              <a:lnSpc>
                <a:spcPct val="90000"/>
              </a:lnSpc>
              <a:spcAft>
                <a:spcPct val="0"/>
              </a:spcAft>
              <a:buNone/>
            </a:pPr>
            <a:r>
              <a:rPr lang="en-US" sz="1400" b="1" dirty="0">
                <a:latin typeface="Times New Roman" panose="02020603050405020304" pitchFamily="18" charset="0"/>
                <a:cs typeface="Times New Roman" panose="02020603050405020304" pitchFamily="18" charset="0"/>
              </a:rPr>
              <a:t>Table 3 </a:t>
            </a:r>
            <a:r>
              <a:rPr lang="en-US" sz="1400" dirty="0">
                <a:latin typeface="Times New Roman" panose="02020603050405020304" pitchFamily="18" charset="0"/>
                <a:cs typeface="Times New Roman" panose="02020603050405020304" pitchFamily="18" charset="0"/>
              </a:rPr>
              <a:t>highlights the top causes of fires categorized by borough in New York City. It aims to provide insights into prevalent fire hazards, which can inform safety measures and resource allocation.</a:t>
            </a:r>
          </a:p>
          <a:p>
            <a:pPr marL="0" lvl="0" indent="0" eaLnBrk="0" fontAlgn="base" hangingPunct="0">
              <a:lnSpc>
                <a:spcPct val="90000"/>
              </a:lnSpc>
              <a:spcAft>
                <a:spcPct val="0"/>
              </a:spcAft>
              <a:buNone/>
            </a:pPr>
            <a:r>
              <a:rPr lang="en-US" sz="1400" dirty="0">
                <a:latin typeface="Times New Roman" panose="02020603050405020304" pitchFamily="18" charset="0"/>
                <a:cs typeface="Times New Roman" panose="02020603050405020304" pitchFamily="18" charset="0"/>
              </a:rPr>
              <a:t>Data Composition:</a:t>
            </a:r>
          </a:p>
          <a:p>
            <a:pPr eaLnBrk="0" fontAlgn="base" hangingPunct="0">
              <a:lnSpc>
                <a:spcPct val="90000"/>
              </a:lnSpc>
              <a:spcAft>
                <a:spcPct val="0"/>
              </a:spcAft>
            </a:pPr>
            <a:r>
              <a:rPr lang="en-US" sz="1400" dirty="0">
                <a:latin typeface="Times New Roman" panose="02020603050405020304" pitchFamily="18" charset="0"/>
                <a:cs typeface="Times New Roman" panose="02020603050405020304" pitchFamily="18" charset="0"/>
              </a:rPr>
              <a:t>The table lists the leading fire causes, including wiring, cooking gas, electric/gas range, and slow leak, along with the number of incidents reported in each borough: Bronx, Brooklyn, Manhattan, Queens, and Staten Island.</a:t>
            </a:r>
          </a:p>
          <a:p>
            <a:pPr eaLnBrk="0" fontAlgn="base" hangingPunct="0">
              <a:lnSpc>
                <a:spcPct val="90000"/>
              </a:lnSpc>
              <a:spcAft>
                <a:spcPct val="0"/>
              </a:spcAft>
            </a:pPr>
            <a:r>
              <a:rPr lang="en-US" sz="140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grand total of reported fire causes across all boroughs is also provided</a:t>
            </a:r>
            <a:r>
              <a:rPr lang="en-US" sz="1400">
                <a:latin typeface="Times New Roman" panose="02020603050405020304" pitchFamily="18" charset="0"/>
                <a:cs typeface="Times New Roman" panose="02020603050405020304" pitchFamily="18" charset="0"/>
              </a:rPr>
              <a:t>, enabling a </a:t>
            </a:r>
            <a:r>
              <a:rPr lang="en-US" sz="1400" dirty="0">
                <a:latin typeface="Times New Roman" panose="02020603050405020304" pitchFamily="18" charset="0"/>
                <a:cs typeface="Times New Roman" panose="02020603050405020304" pitchFamily="18" charset="0"/>
              </a:rPr>
              <a:t>comprehensive view of fire safety concerns citywide.</a:t>
            </a:r>
            <a:endParaRPr lang="sv-SE" sz="1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 name="Picture 60"/>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3" name="Picture 62"/>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5" name="Oval 64"/>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7" name="Picture 66"/>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69" name="Picture 68"/>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71" name="Rectangle 70"/>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Rectangle 72"/>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200279" y="1325880"/>
            <a:ext cx="3344020"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a:solidFill>
                  <a:srgbClr val="EBEBEB"/>
                </a:solidFill>
                <a:latin typeface="+mj-lt"/>
                <a:ea typeface="+mj-ea"/>
                <a:cs typeface="+mj-cs"/>
              </a:rPr>
              <a:t>TABLE 3</a:t>
            </a:r>
          </a:p>
        </p:txBody>
      </p:sp>
      <p:sp useBgFill="1">
        <p:nvSpPr>
          <p:cNvPr id="75" name="Rectangle 74"/>
          <p:cNvSpPr>
            <a:spLocks noGrp="1" noRot="1" noChangeAspect="1" noMove="1" noResize="1" noEditPoints="1" noAdjustHandles="1" noChangeArrowheads="1" noChangeShapeType="1" noTextEdit="1"/>
          </p:cNvSpPr>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p:cNvPicPr>
            <a:picLocks noChangeAspect="1"/>
          </p:cNvPicPr>
          <p:nvPr/>
        </p:nvPicPr>
        <p:blipFill>
          <a:blip r:embed="rId6"/>
          <a:stretch>
            <a:fillRect/>
          </a:stretch>
        </p:blipFill>
        <p:spPr>
          <a:xfrm>
            <a:off x="955392" y="2027435"/>
            <a:ext cx="6275584" cy="2808323"/>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b="1" dirty="0">
                <a:latin typeface="Times New Roman" panose="02020603050405020304" pitchFamily="18" charset="0"/>
                <a:cs typeface="Times New Roman" panose="02020603050405020304" pitchFamily="18" charset="0"/>
              </a:rPr>
              <a:t>Bar chart </a:t>
            </a:r>
          </a:p>
          <a:p>
            <a:pPr marL="0" lv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Purpose of the Data:</a:t>
            </a:r>
          </a:p>
          <a:p>
            <a:pPr eaLnBrk="0" fontAlgn="base" hangingPunct="0">
              <a:lnSpc>
                <a:spcPct val="90000"/>
              </a:lnSpc>
              <a:spcAft>
                <a:spcPct val="0"/>
              </a:spcAft>
            </a:pPr>
            <a:r>
              <a:rPr lang="en-US" sz="1700" dirty="0">
                <a:latin typeface="Times New Roman" panose="02020603050405020304" pitchFamily="18" charset="0"/>
                <a:cs typeface="Times New Roman" panose="02020603050405020304" pitchFamily="18" charset="0"/>
              </a:rPr>
              <a:t>This dataset provides a comprehensive overview of the count of complaints received across different boroughs from 2019 to 2024. It aims to identify trends and variations in community concerns, facilitating informed decision-making.</a:t>
            </a:r>
          </a:p>
          <a:p>
            <a:pPr marL="0" lv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Data Composition:</a:t>
            </a:r>
          </a:p>
          <a:p>
            <a:pPr eaLnBrk="0" fontAlgn="base" hangingPunct="0">
              <a:lnSpc>
                <a:spcPct val="90000"/>
              </a:lnSpc>
              <a:spcAft>
                <a:spcPct val="0"/>
              </a:spcAft>
            </a:pPr>
            <a:r>
              <a:rPr lang="en-US" sz="1700" dirty="0">
                <a:latin typeface="Times New Roman" panose="02020603050405020304" pitchFamily="18" charset="0"/>
                <a:cs typeface="Times New Roman" panose="02020603050405020304" pitchFamily="18" charset="0"/>
              </a:rPr>
              <a:t>The bar chart displays the number of complaints for each borough—Bronx, Brooklyn, Manhattan, Queens, and Staten Island—broken down by </a:t>
            </a:r>
            <a:r>
              <a:rPr lang="en-US" sz="1700" dirty="0" err="1">
                <a:latin typeface="Times New Roman" panose="02020603050405020304" pitchFamily="18" charset="0"/>
                <a:cs typeface="Times New Roman" panose="02020603050405020304" pitchFamily="18" charset="0"/>
              </a:rPr>
              <a:t>year.This</a:t>
            </a:r>
            <a:r>
              <a:rPr lang="en-US" sz="1700" dirty="0">
                <a:latin typeface="Times New Roman" panose="02020603050405020304" pitchFamily="18" charset="0"/>
                <a:cs typeface="Times New Roman" panose="02020603050405020304" pitchFamily="18" charset="0"/>
              </a:rPr>
              <a:t> visual representation allows for easy comparison of complaint volumes across both boroughs and time periods.</a:t>
            </a:r>
            <a:endParaRPr lang="sv-SE" sz="17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39"/>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42" name="Picture 41"/>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44" name="Oval 43"/>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6" name="Picture 45"/>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8" name="Picture 47"/>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50" name="Rectangle 49"/>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2" name="Rectangle 51"/>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of a company"/>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458" y="795793"/>
            <a:ext cx="10397600" cy="3015304"/>
          </a:xfrm>
          <a:prstGeom prst="rect">
            <a:avLst/>
          </a:prstGeom>
          <a:effectLst/>
        </p:spPr>
      </p:pic>
      <p:sp>
        <p:nvSpPr>
          <p:cNvPr id="54" name="Rectangle 53"/>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Freeform: Shape 55"/>
          <p:cNvSpPr>
            <a:spLocks noGrp="1" noRot="1" noChangeAspect="1" noMove="1" noResize="1" noEditPoints="1" noAdjustHandles="1" noChangeArrowheads="1" noChangeShapeType="1" noTextEdit="1"/>
          </p:cNvSpPr>
          <p:nvPr/>
        </p:nvSpPr>
        <p:spPr bwMode="gray">
          <a:xfrm>
            <a:off x="-1" y="3579207"/>
            <a:ext cx="12191696" cy="3278793"/>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US"/>
          </a:p>
        </p:txBody>
      </p:sp>
      <p:sp>
        <p:nvSpPr>
          <p:cNvPr id="4" name="TextBox 3"/>
          <p:cNvSpPr txBox="1"/>
          <p:nvPr/>
        </p:nvSpPr>
        <p:spPr>
          <a:xfrm>
            <a:off x="636916" y="4371849"/>
            <a:ext cx="9149350" cy="1350523"/>
          </a:xfrm>
          <a:prstGeom prst="rect">
            <a:avLst/>
          </a:prstGeom>
        </p:spPr>
        <p:txBody>
          <a:bodyPr vert="horz" lIns="91440" tIns="45720" rIns="91440" bIns="45720" rtlCol="0" anchor="b">
            <a:normAutofit/>
          </a:bodyPr>
          <a:lstStyle/>
          <a:p>
            <a:pPr>
              <a:spcBef>
                <a:spcPct val="0"/>
              </a:spcBef>
              <a:spcAft>
                <a:spcPts val="600"/>
              </a:spcAft>
            </a:pPr>
            <a:r>
              <a:rPr lang="en-US" sz="6000" b="0" i="0" kern="1200" cap="all" spc="200" baseline="0">
                <a:solidFill>
                  <a:srgbClr val="EBEBEB"/>
                </a:solidFill>
                <a:latin typeface="+mj-lt"/>
                <a:ea typeface="+mj-ea"/>
                <a:cs typeface="+mj-cs"/>
              </a:rPr>
              <a:t>Bar Graph</a:t>
            </a:r>
          </a:p>
        </p:txBody>
      </p:sp>
      <p:sp>
        <p:nvSpPr>
          <p:cNvPr id="58" name="Freeform 16"/>
          <p:cNvSpPr>
            <a:spLocks noGrp="1" noRot="1" noChangeAspect="1" noMove="1" noResize="1" noEditPoints="1" noAdjustHandles="1" noChangeArrowheads="1" noChangeShapeType="1" noTextEdit="1"/>
          </p:cNvSpPr>
          <p:nvPr/>
        </p:nvSpPr>
        <p:spPr>
          <a:xfrm>
            <a:off x="8719940" y="3280011"/>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b="1" dirty="0">
                <a:latin typeface="Times New Roman" panose="02020603050405020304" pitchFamily="18" charset="0"/>
                <a:cs typeface="Times New Roman" panose="02020603050405020304" pitchFamily="18" charset="0"/>
              </a:rPr>
              <a:t>Box Plot</a:t>
            </a:r>
          </a:p>
          <a:p>
            <a:pPr marL="0" lv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Purpose of the Data:</a:t>
            </a:r>
          </a:p>
          <a:p>
            <a:pPr eaLnBrk="0" fontAlgn="base" hangingPunct="0">
              <a:lnSpc>
                <a:spcPct val="90000"/>
              </a:lnSpc>
              <a:spcAft>
                <a:spcPct val="0"/>
              </a:spcAft>
            </a:pPr>
            <a:r>
              <a:rPr lang="en-US" sz="1700" dirty="0">
                <a:latin typeface="Times New Roman" panose="02020603050405020304" pitchFamily="18" charset="0"/>
                <a:cs typeface="Times New Roman" panose="02020603050405020304" pitchFamily="18" charset="0"/>
              </a:rPr>
              <a:t>This dataset provides a detailed analysis of the spread of complaints in New York City from 2019 to 2024, segmented by borough. It aims to uncover trends and variations in community concerns over time.</a:t>
            </a:r>
          </a:p>
          <a:p>
            <a:pPr mar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Data Composition:</a:t>
            </a:r>
          </a:p>
          <a:p>
            <a:pPr eaLnBrk="0" fontAlgn="base" hangingPunct="0">
              <a:lnSpc>
                <a:spcPct val="90000"/>
              </a:lnSpc>
              <a:spcAft>
                <a:spcPct val="0"/>
              </a:spcAft>
            </a:pPr>
            <a:r>
              <a:rPr lang="en-US" sz="1700" dirty="0">
                <a:latin typeface="Times New Roman" panose="02020603050405020304" pitchFamily="18" charset="0"/>
                <a:cs typeface="Times New Roman" panose="02020603050405020304" pitchFamily="18" charset="0"/>
              </a:rPr>
              <a:t>The visualization displays the count of complaints received each year, categorized by borough: Bronx, Brooklyn, Manhattan, Queens, and Staten </a:t>
            </a:r>
            <a:r>
              <a:rPr lang="en-US" sz="1700" dirty="0" err="1">
                <a:latin typeface="Times New Roman" panose="02020603050405020304" pitchFamily="18" charset="0"/>
                <a:cs typeface="Times New Roman" panose="02020603050405020304" pitchFamily="18" charset="0"/>
              </a:rPr>
              <a:t>Island.Each</a:t>
            </a:r>
            <a:r>
              <a:rPr lang="en-US" sz="1700" dirty="0">
                <a:latin typeface="Times New Roman" panose="02020603050405020304" pitchFamily="18" charset="0"/>
                <a:cs typeface="Times New Roman" panose="02020603050405020304" pitchFamily="18" charset="0"/>
              </a:rPr>
              <a:t> borough's data is represented in box plots, which illustrate the distribution, median, and range of complaints for each year.</a:t>
            </a:r>
            <a:endParaRPr lang="sv-SE" sz="17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3" name="Picture 62"/>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5" name="Picture 64"/>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7" name="Oval 66"/>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9" name="Picture 68"/>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71" name="Picture 70"/>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73" name="Rectangle 72"/>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75" name="Rectangle 74"/>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Freeform 16"/>
          <p:cNvSpPr>
            <a:spLocks noGrp="1" noRot="1" noChangeAspect="1" noMove="1" noResize="1" noEditPoints="1" noAdjustHandles="1" noChangeArrowheads="1" noChangeShapeType="1" noTextEdit="1"/>
          </p:cNvSpPr>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3" name="Picture 2" descr="A graph of a graph&#10;&#10;AI-generated content may be incorrect."/>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458" y="640081"/>
            <a:ext cx="8957398" cy="3291844"/>
          </a:xfrm>
          <a:prstGeom prst="rect">
            <a:avLst/>
          </a:prstGeom>
          <a:effectLst/>
        </p:spPr>
      </p:pic>
      <p:sp>
        <p:nvSpPr>
          <p:cNvPr id="81" name="Freeform: Shape 80"/>
          <p:cNvSpPr>
            <a:spLocks noGrp="1" noRot="1" noChangeAspect="1" noMove="1" noResize="1" noEditPoints="1" noAdjustHandles="1" noChangeArrowheads="1" noChangeShapeType="1" noTextEdit="1"/>
          </p:cNvSpPr>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6916" y="4854346"/>
            <a:ext cx="9149350" cy="868026"/>
          </a:xfrm>
          <a:prstGeom prst="rect">
            <a:avLst/>
          </a:prstGeom>
        </p:spPr>
        <p:txBody>
          <a:bodyPr vert="horz" lIns="91440" tIns="45720" rIns="91440" bIns="45720" rtlCol="0" anchor="b">
            <a:normAutofit/>
          </a:bodyPr>
          <a:lstStyle/>
          <a:p>
            <a:pPr>
              <a:spcBef>
                <a:spcPct val="0"/>
              </a:spcBef>
              <a:spcAft>
                <a:spcPts val="600"/>
              </a:spcAft>
            </a:pPr>
            <a:r>
              <a:rPr lang="en-US" sz="4800" cap="all" spc="200" dirty="0">
                <a:solidFill>
                  <a:srgbClr val="EBEBEB"/>
                </a:solidFill>
                <a:latin typeface="+mj-lt"/>
                <a:ea typeface="+mj-ea"/>
                <a:cs typeface="+mj-cs"/>
              </a:rPr>
              <a:t>Box plot</a:t>
            </a:r>
            <a:endParaRPr lang="en-US" sz="4800" b="0" i="0" kern="1200" cap="all" spc="200" baseline="0" dirty="0">
              <a:solidFill>
                <a:srgbClr val="EBEBEB"/>
              </a:solidFill>
              <a:latin typeface="+mj-lt"/>
              <a:ea typeface="+mj-ea"/>
              <a:cs typeface="+mj-cs"/>
            </a:endParaRP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600" b="1" dirty="0">
                <a:latin typeface="Times New Roman" panose="02020603050405020304" pitchFamily="18" charset="0"/>
                <a:cs typeface="Times New Roman" panose="02020603050405020304" pitchFamily="18" charset="0"/>
              </a:rPr>
              <a:t>Line Chart </a:t>
            </a:r>
          </a:p>
          <a:p>
            <a:pPr marL="0" lvl="0" indent="0" eaLnBrk="0" fontAlgn="base" hangingPunct="0">
              <a:lnSpc>
                <a:spcPct val="90000"/>
              </a:lnSpc>
              <a:spcAft>
                <a:spcPct val="0"/>
              </a:spcAft>
              <a:buNone/>
            </a:pPr>
            <a:r>
              <a:rPr lang="en-US" sz="1600" dirty="0">
                <a:latin typeface="Times New Roman" panose="02020603050405020304" pitchFamily="18" charset="0"/>
                <a:cs typeface="Times New Roman" panose="02020603050405020304" pitchFamily="18" charset="0"/>
              </a:rPr>
              <a:t>Purpose of the Data:</a:t>
            </a:r>
          </a:p>
          <a:p>
            <a:pPr eaLnBrk="0" fontAlgn="base" hangingPunct="0">
              <a:lnSpc>
                <a:spcPct val="90000"/>
              </a:lnSpc>
              <a:spcAft>
                <a:spcPct val="0"/>
              </a:spcAft>
            </a:pPr>
            <a:r>
              <a:rPr lang="en-US" sz="1600" dirty="0">
                <a:latin typeface="Times New Roman" panose="02020603050405020304" pitchFamily="18" charset="0"/>
                <a:cs typeface="Times New Roman" panose="02020603050405020304" pitchFamily="18" charset="0"/>
              </a:rPr>
              <a:t>This dataset provides a monthly trend analysis of complaints over the year, categorized by various complaint types. It aims to identify patterns and fluctuations in New York complaints major categories throughout the year.</a:t>
            </a:r>
          </a:p>
          <a:p>
            <a:pPr marL="0" lvl="0" indent="0" eaLnBrk="0" fontAlgn="base" hangingPunct="0">
              <a:lnSpc>
                <a:spcPct val="90000"/>
              </a:lnSpc>
              <a:spcAft>
                <a:spcPct val="0"/>
              </a:spcAft>
              <a:buNone/>
            </a:pPr>
            <a:r>
              <a:rPr lang="en-US" sz="1600" dirty="0">
                <a:latin typeface="Times New Roman" panose="02020603050405020304" pitchFamily="18" charset="0"/>
                <a:cs typeface="Times New Roman" panose="02020603050405020304" pitchFamily="18" charset="0"/>
              </a:rPr>
              <a:t>Data Composition:</a:t>
            </a:r>
          </a:p>
          <a:p>
            <a:pPr eaLnBrk="0" fontAlgn="base" hangingPunct="0">
              <a:lnSpc>
                <a:spcPct val="90000"/>
              </a:lnSpc>
              <a:spcAft>
                <a:spcPct val="0"/>
              </a:spcAft>
            </a:pPr>
            <a:r>
              <a:rPr lang="en-US" sz="1600" dirty="0">
                <a:latin typeface="Times New Roman" panose="02020603050405020304" pitchFamily="18" charset="0"/>
                <a:cs typeface="Times New Roman" panose="02020603050405020304" pitchFamily="18" charset="0"/>
              </a:rPr>
              <a:t>The line graph illustrates the count of complaints received each month, segmented by major categories such as appliance issues, elevator problems, plumbing, and </a:t>
            </a:r>
            <a:r>
              <a:rPr lang="en-US" sz="1600" dirty="0" err="1">
                <a:latin typeface="Times New Roman" panose="02020603050405020304" pitchFamily="18" charset="0"/>
                <a:cs typeface="Times New Roman" panose="02020603050405020304" pitchFamily="18" charset="0"/>
              </a:rPr>
              <a:t>more.Each</a:t>
            </a:r>
            <a:r>
              <a:rPr lang="en-US" sz="1600" dirty="0">
                <a:latin typeface="Times New Roman" panose="02020603050405020304" pitchFamily="18" charset="0"/>
                <a:cs typeface="Times New Roman" panose="02020603050405020304" pitchFamily="18" charset="0"/>
              </a:rPr>
              <a:t> complaint type is represented by its own line, allowing for easy comparison and identification of trends across different categories. Heat/ hot water is high in December and January because they are the coldest months of the year.</a:t>
            </a:r>
            <a:endParaRPr lang="sv-SE" sz="16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34" name="Picture 33"/>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36" name="Oval 35"/>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8" name="Picture 37"/>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0" name="Picture 39"/>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42" name="Rectangle 41"/>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43"/>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200279" y="1325880"/>
            <a:ext cx="3344020"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dirty="0">
                <a:solidFill>
                  <a:srgbClr val="EBEBEB"/>
                </a:solidFill>
                <a:latin typeface="+mj-lt"/>
                <a:ea typeface="+mj-ea"/>
                <a:cs typeface="+mj-cs"/>
              </a:rPr>
              <a:t>Line Chart</a:t>
            </a:r>
          </a:p>
        </p:txBody>
      </p:sp>
      <p:sp useBgFill="1">
        <p:nvSpPr>
          <p:cNvPr id="46" name="Rectangle 45"/>
          <p:cNvSpPr>
            <a:spLocks noGrp="1" noRot="1" noChangeAspect="1" noMove="1" noResize="1" noEditPoints="1" noAdjustHandles="1" noChangeArrowheads="1" noChangeShapeType="1" noTextEdit="1"/>
          </p:cNvSpPr>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A graph with lines and a line&#10;&#10;AI-generated content may be incorrect."/>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391" y="1752878"/>
            <a:ext cx="6551257" cy="3504922"/>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b="1" dirty="0">
                <a:latin typeface="Times New Roman" panose="02020603050405020304" pitchFamily="18" charset="0"/>
                <a:cs typeface="Times New Roman" panose="02020603050405020304" pitchFamily="18" charset="0"/>
              </a:rPr>
              <a:t>Heat Map</a:t>
            </a:r>
          </a:p>
          <a:p>
            <a:pPr marL="0" lv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Purpose of the Data:</a:t>
            </a:r>
          </a:p>
          <a:p>
            <a:pPr eaLnBrk="0" fontAlgn="base" hangingPunct="0">
              <a:lnSpc>
                <a:spcPct val="90000"/>
              </a:lnSpc>
              <a:spcAft>
                <a:spcPct val="0"/>
              </a:spcAft>
            </a:pPr>
            <a:r>
              <a:rPr lang="en-US" sz="1700" dirty="0">
                <a:latin typeface="Times New Roman" panose="02020603050405020304" pitchFamily="18" charset="0"/>
                <a:cs typeface="Times New Roman" panose="02020603050405020304" pitchFamily="18" charset="0"/>
              </a:rPr>
              <a:t>This dataset provides insights into complaints made within the Bronx, visualized through a geographic map. It allows for identification of areas with high complaint volumes and can inform decision-making for resource allocation and service improvement.</a:t>
            </a:r>
          </a:p>
          <a:p>
            <a:pPr marL="0" lv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Data Composition:</a:t>
            </a:r>
          </a:p>
          <a:p>
            <a:pPr eaLnBrk="0" fontAlgn="base" hangingPunct="0">
              <a:lnSpc>
                <a:spcPct val="90000"/>
              </a:lnSpc>
              <a:spcAft>
                <a:spcPct val="0"/>
              </a:spcAft>
            </a:pPr>
            <a:r>
              <a:rPr lang="en-US" sz="1700" dirty="0">
                <a:latin typeface="Times New Roman" panose="02020603050405020304" pitchFamily="18" charset="0"/>
                <a:cs typeface="Times New Roman" panose="02020603050405020304" pitchFamily="18" charset="0"/>
              </a:rPr>
              <a:t>The map is based on longitude and latitude coordinates, displaying the distribution of complaints across different boroughs, specifically focusing on </a:t>
            </a:r>
            <a:r>
              <a:rPr lang="en-US" sz="1700" dirty="0" err="1">
                <a:latin typeface="Times New Roman" panose="02020603050405020304" pitchFamily="18" charset="0"/>
                <a:cs typeface="Times New Roman" panose="02020603050405020304" pitchFamily="18" charset="0"/>
              </a:rPr>
              <a:t>Bronx.The</a:t>
            </a:r>
            <a:r>
              <a:rPr lang="en-US" sz="1700" dirty="0">
                <a:latin typeface="Times New Roman" panose="02020603050405020304" pitchFamily="18" charset="0"/>
                <a:cs typeface="Times New Roman" panose="02020603050405020304" pitchFamily="18" charset="0"/>
              </a:rPr>
              <a:t> size of the circles represents the count of complaints, offering a visual cue to areas with more significant issues.</a:t>
            </a:r>
            <a:endParaRPr lang="sv-SE" sz="17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58" name="Picture 57"/>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0" name="Picture 59"/>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2" name="Oval 61"/>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4" name="Picture 63"/>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66" name="Picture 65"/>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68" name="Rectangle 67"/>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p:cNvSpPr txBox="1"/>
          <p:nvPr/>
        </p:nvSpPr>
        <p:spPr>
          <a:xfrm>
            <a:off x="636916" y="4542503"/>
            <a:ext cx="9184606" cy="1179870"/>
          </a:xfrm>
          <a:prstGeom prst="rect">
            <a:avLst/>
          </a:prstGeom>
        </p:spPr>
        <p:txBody>
          <a:bodyPr vert="horz" lIns="91440" tIns="45720" rIns="91440" bIns="45720" rtlCol="0" anchor="b">
            <a:normAutofit/>
          </a:bodyPr>
          <a:lstStyle/>
          <a:p>
            <a:pPr>
              <a:spcBef>
                <a:spcPct val="0"/>
              </a:spcBef>
              <a:spcAft>
                <a:spcPts val="600"/>
              </a:spcAft>
            </a:pPr>
            <a:r>
              <a:rPr lang="en-US" sz="6000" cap="all" spc="200" dirty="0">
                <a:solidFill>
                  <a:schemeClr val="tx2"/>
                </a:solidFill>
                <a:latin typeface="+mj-lt"/>
                <a:ea typeface="+mj-ea"/>
                <a:cs typeface="+mj-cs"/>
              </a:rPr>
              <a:t>Heat map</a:t>
            </a:r>
            <a:endParaRPr lang="en-US" sz="6000" cap="all" spc="200" baseline="0" dirty="0">
              <a:solidFill>
                <a:schemeClr val="tx2"/>
              </a:solidFill>
              <a:latin typeface="+mj-lt"/>
              <a:ea typeface="+mj-ea"/>
              <a:cs typeface="+mj-cs"/>
            </a:endParaRPr>
          </a:p>
        </p:txBody>
      </p:sp>
      <p:pic>
        <p:nvPicPr>
          <p:cNvPr id="6" name="Picture 5" descr="A map with blue circles&#10;&#10;AI-generated content may be incorrect."/>
          <p:cNvPicPr>
            <a:picLocks noChangeAspect="1"/>
          </p:cNvPicPr>
          <p:nvPr/>
        </p:nvPicPr>
        <p:blipFill>
          <a:blip r:embed="rId7">
            <a:extLst>
              <a:ext uri="{28A0092B-C50C-407E-A947-70E740481C1C}">
                <a14:useLocalDpi xmlns:a14="http://schemas.microsoft.com/office/drawing/2010/main" val="0"/>
              </a:ext>
            </a:extLst>
          </a:blip>
          <a:srcRect l="560" r="-2" b="-2"/>
          <a:stretch>
            <a:fillRect/>
          </a:stretch>
        </p:blipFill>
        <p:spPr>
          <a:xfrm>
            <a:off x="635458" y="640080"/>
            <a:ext cx="9186063" cy="3602736"/>
          </a:xfrm>
          <a:prstGeom prst="rect">
            <a:avLst/>
          </a:prstGeom>
          <a:effectLst>
            <a:outerShdw blurRad="50800" dist="38100" dir="5400000" algn="t" rotWithShape="0">
              <a:prstClr val="black">
                <a:alpha val="43000"/>
              </a:prst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17"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3" name="Title 2"/>
          <p:cNvSpPr>
            <a:spLocks noGrp="1"/>
          </p:cNvSpPr>
          <p:nvPr>
            <p:ph type="title"/>
          </p:nvPr>
        </p:nvSpPr>
        <p:spPr>
          <a:xfrm>
            <a:off x="806195" y="804672"/>
            <a:ext cx="3521359" cy="5248656"/>
          </a:xfrm>
        </p:spPr>
        <p:txBody>
          <a:bodyPr anchor="ctr">
            <a:normAutofit/>
          </a:bodyPr>
          <a:lstStyle/>
          <a:p>
            <a:pPr algn="ctr"/>
            <a:r>
              <a:rPr lang="en-US" dirty="0"/>
              <a:t> Conclusion</a:t>
            </a:r>
          </a:p>
        </p:txBody>
      </p:sp>
      <p:sp>
        <p:nvSpPr>
          <p:cNvPr id="4" name="Content Placeholder 3"/>
          <p:cNvSpPr>
            <a:spLocks noGrp="1"/>
          </p:cNvSpPr>
          <p:nvPr>
            <p:ph idx="1"/>
          </p:nvPr>
        </p:nvSpPr>
        <p:spPr>
          <a:xfrm>
            <a:off x="4722924" y="514905"/>
            <a:ext cx="6991155" cy="5823751"/>
          </a:xfrm>
        </p:spPr>
        <p:txBody>
          <a:bodyPr anchor="ctr">
            <a:normAutofit/>
          </a:bodyPr>
          <a:lstStyle/>
          <a:p>
            <a:pPr>
              <a:lnSpc>
                <a:spcPct val="90000"/>
              </a:lnSpc>
            </a:pPr>
            <a:r>
              <a:rPr lang="en-US" sz="1600" dirty="0">
                <a:latin typeface="Times New Roman" panose="02020603050405020304" pitchFamily="18" charset="0"/>
                <a:cs typeface="Times New Roman" panose="02020603050405020304" pitchFamily="18" charset="0"/>
              </a:rPr>
              <a:t>This report presents a data-driven analysis of housing conditions and code compliance in New York City, utilizing historical data from 2019 to 2024. Through various tables and visualizations, we examine problem resolution trends, violation patterns, fire hazard causes, and complaint distributions across boroughs.</a:t>
            </a:r>
          </a:p>
          <a:p>
            <a:pPr>
              <a:lnSpc>
                <a:spcPct val="90000"/>
              </a:lnSpc>
            </a:pPr>
            <a:endParaRPr lang="en-US" sz="1600"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Key findings include a significant rise in closed problem cases, suggesting improved enforcement or increased activity, while fluctuations in open problems indicate evolving challenges. Violation analysis highlights Brooklyn as the borough with the highest non-compliance rates, with Class B violations being the most prevalent. Fire hazard data provides insights into borough-specific risks, supporting targeted safety measures.</a:t>
            </a:r>
          </a:p>
          <a:p>
            <a:pPr>
              <a:lnSpc>
                <a:spcPct val="90000"/>
              </a:lnSpc>
            </a:pPr>
            <a:endParaRPr lang="en-US" sz="1600"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Visualizations, including bar charts, box plots, line graphs, and heat maps, reveal borough-wise complaint trends and seasonal patterns, enabling better resource allocation. This comprehensive analysis informs policy-making and enforcement strategies for improved housing conditions in NYC</a:t>
            </a:r>
            <a:r>
              <a:rPr lang="en-US" sz="1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Title 1"/>
          <p:cNvSpPr>
            <a:spLocks noGrp="1"/>
          </p:cNvSpPr>
          <p:nvPr>
            <p:ph type="ctrTitle"/>
          </p:nvPr>
        </p:nvSpPr>
        <p:spPr>
          <a:xfrm>
            <a:off x="7400518" y="1447800"/>
            <a:ext cx="4143781" cy="3096987"/>
          </a:xfrm>
        </p:spPr>
        <p:txBody>
          <a:bodyPr lIns="0" tIns="0" rIns="0" bIns="0">
            <a:normAutofit/>
          </a:bodyPr>
          <a:lstStyle/>
          <a:p>
            <a:r>
              <a:rPr lang="en-US" sz="5400" b="1"/>
              <a:t>Thank You</a:t>
            </a:r>
            <a:endParaRPr lang="en-US" sz="5400"/>
          </a:p>
        </p:txBody>
      </p:sp>
      <p:sp>
        <p:nvSpPr>
          <p:cNvPr id="20" name="Freeform: Shape 19"/>
          <p:cNvSpPr>
            <a:spLocks noGrp="1" noRot="1" noChangeAspect="1" noMove="1" noResize="1" noEditPoints="1" noAdjustHandles="1" noChangeArrowheads="1" noChangeShapeType="1" noTextEdit="1"/>
          </p:cNvSpPr>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solidFill>
            <a:srgbClr val="FFFFFF"/>
          </a:solidFill>
          <a:ln>
            <a:noFill/>
          </a:ln>
        </p:spPr>
        <p:txBody>
          <a:bodyPr/>
          <a:lstStyle/>
          <a:p>
            <a:endParaRPr lang="en-US"/>
          </a:p>
        </p:txBody>
      </p:sp>
      <p:pic>
        <p:nvPicPr>
          <p:cNvPr id="6" name="Picture 5" descr="This image is an icon that says &quot;24Slides.&quot;">
            <a:hlinkClick r:id="rId4"/>
          </p:cNvPr>
          <p:cNvPicPr>
            <a:picLocks noChangeAspect="1"/>
          </p:cNvPicPr>
          <p:nvPr/>
        </p:nvPicPr>
        <p:blipFill>
          <a:blip r:embed="rId5"/>
          <a:stretch>
            <a:fillRect/>
          </a:stretch>
        </p:blipFill>
        <p:spPr>
          <a:xfrm>
            <a:off x="643855" y="929621"/>
            <a:ext cx="5454404" cy="1560149"/>
          </a:xfrm>
          <a:prstGeom prst="rect">
            <a:avLst/>
          </a:prstGeom>
          <a:effectLst/>
        </p:spPr>
      </p:pic>
      <p:sp>
        <p:nvSpPr>
          <p:cNvPr id="22" name="Freeform 27"/>
          <p:cNvSpPr>
            <a:spLocks noGrp="1" noRot="1" noChangeAspect="1" noMove="1" noResize="1" noEditPoints="1" noAdjustHandles="1" noChangeArrowheads="1" noChangeShapeType="1" noTextEdit="1"/>
          </p:cNvSpPr>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grpSp>
        <p:nvGrpSpPr>
          <p:cNvPr id="11" name="Group 10"/>
          <p:cNvGrpSpPr/>
          <p:nvPr/>
        </p:nvGrpSpPr>
        <p:grpSpPr>
          <a:xfrm>
            <a:off x="1804314" y="2878375"/>
            <a:ext cx="3129642" cy="3331464"/>
            <a:chOff x="4325258" y="1229517"/>
            <a:chExt cx="3541486" cy="3769865"/>
          </a:xfrm>
        </p:grpSpPr>
        <p:sp>
          <p:nvSpPr>
            <p:cNvPr id="12" name="Diamond 11"/>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FD05317-60D6-4B3A-8545-888496D1A8EC}">
  <ds:schemaRefs/>
</ds:datastoreItem>
</file>

<file path=customXml/itemProps2.xml><?xml version="1.0" encoding="utf-8"?>
<ds:datastoreItem xmlns:ds="http://schemas.openxmlformats.org/officeDocument/2006/customXml" ds:itemID="{61A00BBF-EEBB-4E18-B8CB-F926EAAC48F7}">
  <ds:schemaRefs/>
</ds:datastoreItem>
</file>

<file path=customXml/itemProps3.xml><?xml version="1.0" encoding="utf-8"?>
<ds:datastoreItem xmlns:ds="http://schemas.openxmlformats.org/officeDocument/2006/customXml" ds:itemID="{EF609EDA-869E-4BE5-AE5D-B898C584B6FF}">
  <ds:schemaRefs/>
</ds:datastoreItem>
</file>

<file path=docProps/app.xml><?xml version="1.0" encoding="utf-8"?>
<Properties xmlns="http://schemas.openxmlformats.org/officeDocument/2006/extended-properties" xmlns:vt="http://schemas.openxmlformats.org/officeDocument/2006/docPropsVTypes">
  <Template>Ion</Template>
  <TotalTime>22</TotalTime>
  <Words>1240</Words>
  <Application>Microsoft Office PowerPoint</Application>
  <PresentationFormat>Widescreen</PresentationFormat>
  <Paragraphs>66</Paragraphs>
  <Slides>19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Century Gothic</vt:lpstr>
      <vt:lpstr>Times New Roman</vt:lpstr>
      <vt:lpstr>Wingdings 3</vt:lpstr>
      <vt:lpstr>Ion</vt:lpstr>
      <vt:lpstr>M4 Project Work: First Tables and Graphs Presentation</vt:lpstr>
      <vt:lpstr>PowerPoint Presentation</vt:lpstr>
      <vt:lpstr>IMPROVEMENTS In our previous assignment, the information we provided was not accurate and showed missing values in the visuals. Now, we have accurate information, and the visuals display different, accurate trends. So both the tables and graphs are completely different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Bekithemba Nkomo [student]</cp:lastModifiedBy>
  <cp:revision>2</cp:revision>
  <dcterms:created xsi:type="dcterms:W3CDTF">2025-02-23T19:13:00Z</dcterms:created>
  <dcterms:modified xsi:type="dcterms:W3CDTF">2025-03-09T23:06:45Z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7E83CEEB83FA4BD1868BB3B1B78FB76A_12</vt:lpwstr>
  </property>
  <property fmtid="{D5CDD505-2E9C-101B-9397-08002B2CF9AE}" pid="4" name="KSOProductBuildVer">
    <vt:lpwstr>1033-12.2.0.20323</vt:lpwstr>
  </property>
</Properties>
</file>