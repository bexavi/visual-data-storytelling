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804" r:id="rId4"/>
  </p:sldMasterIdLst>
  <p:notesMasterIdLst>
    <p:notesMasterId r:id="rId21"/>
  </p:notesMasterIdLst>
  <p:handoutMasterIdLst>
    <p:handoutMasterId r:id="rId22"/>
  </p:handoutMasterIdLst>
  <p:sldIdLst>
    <p:sldId id="256" r:id="rId5"/>
    <p:sldId id="289" r:id="rId6"/>
    <p:sldId id="291" r:id="rId7"/>
    <p:sldId id="292" r:id="rId8"/>
    <p:sldId id="293" r:id="rId9"/>
    <p:sldId id="302" r:id="rId10"/>
    <p:sldId id="294" r:id="rId11"/>
    <p:sldId id="303" r:id="rId12"/>
    <p:sldId id="295" r:id="rId13"/>
    <p:sldId id="304" r:id="rId14"/>
    <p:sldId id="296" r:id="rId15"/>
    <p:sldId id="305" r:id="rId16"/>
    <p:sldId id="297" r:id="rId17"/>
    <p:sldId id="308" r:id="rId18"/>
    <p:sldId id="307" r:id="rId19"/>
    <p:sldId id="28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81" autoAdjust="0"/>
    <p:restoredTop sz="94652" autoAdjust="0"/>
  </p:normalViewPr>
  <p:slideViewPr>
    <p:cSldViewPr snapToGrid="0" showGuides="1">
      <p:cViewPr varScale="1">
        <p:scale>
          <a:sx n="90" d="100"/>
          <a:sy n="90" d="100"/>
        </p:scale>
        <p:origin x="418" y="41"/>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2/23/2025</a:t>
            </a:fld>
            <a:endParaRPr lang="en-US" dirty="0"/>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2/23/2025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extLst>
      <p:ext uri="{BB962C8B-B14F-4D97-AF65-F5344CB8AC3E}">
        <p14:creationId xmlns:p14="http://schemas.microsoft.com/office/powerpoint/2010/main" val="177352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a:t>
            </a:fld>
            <a:endParaRPr lang="en-US" dirty="0"/>
          </a:p>
        </p:txBody>
      </p:sp>
    </p:spTree>
    <p:extLst>
      <p:ext uri="{BB962C8B-B14F-4D97-AF65-F5344CB8AC3E}">
        <p14:creationId xmlns:p14="http://schemas.microsoft.com/office/powerpoint/2010/main" val="25871029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16</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0DA1498-92C7-4E4B-8045-C9195F453964}" type="datetimeFigureOut">
              <a:rPr lang="en-US" smtClean="0"/>
              <a:t>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780397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0DA1498-92C7-4E4B-8045-C9195F453964}" type="datetimeFigureOut">
              <a:rPr lang="en-US" smtClean="0"/>
              <a:t>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044044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535841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DA1498-92C7-4E4B-8045-C9195F453964}" type="datetimeFigureOut">
              <a:rPr lang="en-US" smtClean="0"/>
              <a:t>2/23/2025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155986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DA1498-92C7-4E4B-8045-C9195F453964}" type="datetimeFigureOut">
              <a:rPr lang="en-US" smtClean="0"/>
              <a:t>2/23/2025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90485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0DA1498-92C7-4E4B-8045-C9195F453964}" type="datetimeFigureOut">
              <a:rPr lang="en-US" smtClean="0"/>
              <a:t>2/23/2025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67990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0DA1498-92C7-4E4B-8045-C9195F453964}" type="datetimeFigureOut">
              <a:rPr lang="en-US" smtClean="0"/>
              <a:t>2/23/2025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79179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0DA1498-92C7-4E4B-8045-C9195F453964}" type="datetimeFigureOut">
              <a:rPr lang="en-US" smtClean="0"/>
              <a:t>2/23/2025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274134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2/23/2025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10772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2/23/2025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32899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5689495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6794206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7761742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0DA1498-92C7-4E4B-8045-C9195F453964}" type="datetimeFigureOut">
              <a:rPr lang="en-US" smtClean="0"/>
              <a:t>2/23/2025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8086952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0DA1498-92C7-4E4B-8045-C9195F453964}" type="datetimeFigureOut">
              <a:rPr lang="en-US" smtClean="0"/>
              <a:t>2/23/2025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999234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DA1498-92C7-4E4B-8045-C9195F453964}" type="datetimeFigureOut">
              <a:rPr lang="en-US" smtClean="0"/>
              <a:t>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4631999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DA1498-92C7-4E4B-8045-C9195F453964}" type="datetimeFigureOut">
              <a:rPr lang="en-US" smtClean="0"/>
              <a:t>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906257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0DA1498-92C7-4E4B-8045-C9195F453964}" type="datetimeFigureOut">
              <a:rPr lang="en-US" smtClean="0"/>
              <a:t>2/23/2025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648881155"/>
      </p:ext>
    </p:extLst>
  </p:cSld>
  <p:clrMap bg1="dk1" tx1="lt1" bg2="dk2" tx2="lt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commons.wikimedia.org/wiki/File:Meeting_room,_table_and_paper_board.jpg"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6.emf"/><Relationship Id="rId4" Type="http://schemas.openxmlformats.org/officeDocument/2006/relationships/hyperlink" Target="https://24slides.com/?utm_campaign=mp&amp;utm_medium=ppt&amp;utm_source=pptlink&amp;utm_content=&amp;utm_ter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837473B0-CC2E-450A-ABE3-18F120FF3D39}">
                <a1611:picAttrSrcUrl xmlns:a1611="http://schemas.microsoft.com/office/drawing/2016/11/main" r:id="rId4"/>
              </a:ext>
            </a:extLst>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00AEF-1595-4419-801B-6E36A33BB8CF}"/>
              </a:ext>
            </a:extLst>
          </p:cNvPr>
          <p:cNvSpPr>
            <a:spLocks noGrp="1"/>
          </p:cNvSpPr>
          <p:nvPr>
            <p:ph type="ctrTitle"/>
          </p:nvPr>
        </p:nvSpPr>
        <p:spPr>
          <a:xfrm>
            <a:off x="1524000" y="4927504"/>
            <a:ext cx="9144000" cy="1169551"/>
          </a:xfrm>
        </p:spPr>
        <p:txBody>
          <a:bodyPr lIns="0" tIns="0" rIns="0" bIns="0" anchor="t">
            <a:spAutoFit/>
          </a:bodyPr>
          <a:lstStyle/>
          <a:p>
            <a:pPr algn="ctr"/>
            <a:r>
              <a:rPr lang="en-US" sz="3600" b="1" dirty="0">
                <a:solidFill>
                  <a:srgbClr val="002060"/>
                </a:solidFill>
              </a:rPr>
              <a:t>M4 Project Work: First Tables and Graphs</a:t>
            </a:r>
            <a:br>
              <a:rPr lang="en-US" b="1" dirty="0">
                <a:solidFill>
                  <a:srgbClr val="002060"/>
                </a:solidFill>
              </a:rPr>
            </a:br>
            <a:r>
              <a:rPr lang="en-US" sz="4000" b="1" dirty="0">
                <a:solidFill>
                  <a:srgbClr val="002060"/>
                </a:solidFill>
              </a:rPr>
              <a:t>Presentation</a:t>
            </a:r>
            <a:endParaRPr lang="en-US" b="1" dirty="0">
              <a:solidFill>
                <a:srgbClr val="002060"/>
              </a:solidFill>
            </a:endParaRPr>
          </a:p>
        </p:txBody>
      </p:sp>
      <p:sp>
        <p:nvSpPr>
          <p:cNvPr id="4" name="Diamond 3">
            <a:extLst>
              <a:ext uri="{FF2B5EF4-FFF2-40B4-BE49-F238E27FC236}">
                <a16:creationId xmlns:a16="http://schemas.microsoft.com/office/drawing/2014/main" id="{1C59176D-59A8-4C02-B448-EE01232FB3E7}"/>
              </a:ext>
              <a:ext uri="{C183D7F6-B498-43B3-948B-1728B52AA6E4}">
                <adec:decorative xmlns:adec="http://schemas.microsoft.com/office/drawing/2017/decorative" val="1"/>
              </a:ext>
            </a:extLst>
          </p:cNvPr>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iamond 4">
            <a:extLst>
              <a:ext uri="{FF2B5EF4-FFF2-40B4-BE49-F238E27FC236}">
                <a16:creationId xmlns:a16="http://schemas.microsoft.com/office/drawing/2014/main" id="{A50B1817-3C7F-41BC-8557-7A00C928EE16}"/>
              </a:ext>
              <a:ext uri="{C183D7F6-B498-43B3-948B-1728B52AA6E4}">
                <adec:decorative xmlns:adec="http://schemas.microsoft.com/office/drawing/2017/decorative" val="1"/>
              </a:ext>
            </a:extLst>
          </p:cNvPr>
          <p:cNvSpPr/>
          <p:nvPr/>
        </p:nvSpPr>
        <p:spPr>
          <a:xfrm>
            <a:off x="4325257" y="-1770743"/>
            <a:ext cx="3569909" cy="323547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descr="Icon of chart. ">
            <a:extLst>
              <a:ext uri="{FF2B5EF4-FFF2-40B4-BE49-F238E27FC236}">
                <a16:creationId xmlns:a16="http://schemas.microsoft.com/office/drawing/2014/main" id="{B95DF07A-CE7E-4D89-9AA0-25F4FFF3B9C7}"/>
              </a:ext>
            </a:extLst>
          </p:cNvPr>
          <p:cNvGrpSpPr/>
          <p:nvPr/>
        </p:nvGrpSpPr>
        <p:grpSpPr>
          <a:xfrm>
            <a:off x="5851021" y="3469064"/>
            <a:ext cx="813730" cy="748584"/>
            <a:chOff x="2025650" y="4786313"/>
            <a:chExt cx="285750" cy="287338"/>
          </a:xfrm>
          <a:solidFill>
            <a:schemeClr val="bg1"/>
          </a:solidFill>
        </p:grpSpPr>
        <p:sp>
          <p:nvSpPr>
            <p:cNvPr id="8" name="Freeform 565">
              <a:extLst>
                <a:ext uri="{FF2B5EF4-FFF2-40B4-BE49-F238E27FC236}">
                  <a16:creationId xmlns:a16="http://schemas.microsoft.com/office/drawing/2014/main" id="{548FC78B-EF83-4185-A63D-1A5A85640B62}"/>
                </a:ext>
              </a:extLst>
            </p:cNvPr>
            <p:cNvSpPr>
              <a:spLocks noEditPoints="1"/>
            </p:cNvSpPr>
            <p:nvPr/>
          </p:nvSpPr>
          <p:spPr bwMode="auto">
            <a:xfrm>
              <a:off x="2025650" y="4786313"/>
              <a:ext cx="285750" cy="287338"/>
            </a:xfrm>
            <a:custGeom>
              <a:avLst/>
              <a:gdLst>
                <a:gd name="T0" fmla="*/ 812 w 903"/>
                <a:gd name="T1" fmla="*/ 500 h 903"/>
                <a:gd name="T2" fmla="*/ 810 w 903"/>
                <a:gd name="T3" fmla="*/ 505 h 903"/>
                <a:gd name="T4" fmla="*/ 806 w 903"/>
                <a:gd name="T5" fmla="*/ 509 h 903"/>
                <a:gd name="T6" fmla="*/ 800 w 903"/>
                <a:gd name="T7" fmla="*/ 511 h 903"/>
                <a:gd name="T8" fmla="*/ 105 w 903"/>
                <a:gd name="T9" fmla="*/ 511 h 903"/>
                <a:gd name="T10" fmla="*/ 99 w 903"/>
                <a:gd name="T11" fmla="*/ 510 h 903"/>
                <a:gd name="T12" fmla="*/ 95 w 903"/>
                <a:gd name="T13" fmla="*/ 507 h 903"/>
                <a:gd name="T14" fmla="*/ 92 w 903"/>
                <a:gd name="T15" fmla="*/ 502 h 903"/>
                <a:gd name="T16" fmla="*/ 90 w 903"/>
                <a:gd name="T17" fmla="*/ 496 h 903"/>
                <a:gd name="T18" fmla="*/ 90 w 903"/>
                <a:gd name="T19" fmla="*/ 105 h 903"/>
                <a:gd name="T20" fmla="*/ 92 w 903"/>
                <a:gd name="T21" fmla="*/ 100 h 903"/>
                <a:gd name="T22" fmla="*/ 95 w 903"/>
                <a:gd name="T23" fmla="*/ 94 h 903"/>
                <a:gd name="T24" fmla="*/ 99 w 903"/>
                <a:gd name="T25" fmla="*/ 91 h 903"/>
                <a:gd name="T26" fmla="*/ 105 w 903"/>
                <a:gd name="T27" fmla="*/ 90 h 903"/>
                <a:gd name="T28" fmla="*/ 800 w 903"/>
                <a:gd name="T29" fmla="*/ 90 h 903"/>
                <a:gd name="T30" fmla="*/ 806 w 903"/>
                <a:gd name="T31" fmla="*/ 92 h 903"/>
                <a:gd name="T32" fmla="*/ 810 w 903"/>
                <a:gd name="T33" fmla="*/ 96 h 903"/>
                <a:gd name="T34" fmla="*/ 812 w 903"/>
                <a:gd name="T35" fmla="*/ 102 h 903"/>
                <a:gd name="T36" fmla="*/ 813 w 903"/>
                <a:gd name="T37" fmla="*/ 496 h 903"/>
                <a:gd name="T38" fmla="*/ 15 w 903"/>
                <a:gd name="T39" fmla="*/ 0 h 903"/>
                <a:gd name="T40" fmla="*/ 9 w 903"/>
                <a:gd name="T41" fmla="*/ 1 h 903"/>
                <a:gd name="T42" fmla="*/ 5 w 903"/>
                <a:gd name="T43" fmla="*/ 4 h 903"/>
                <a:gd name="T44" fmla="*/ 1 w 903"/>
                <a:gd name="T45" fmla="*/ 8 h 903"/>
                <a:gd name="T46" fmla="*/ 0 w 903"/>
                <a:gd name="T47" fmla="*/ 15 h 903"/>
                <a:gd name="T48" fmla="*/ 0 w 903"/>
                <a:gd name="T49" fmla="*/ 590 h 903"/>
                <a:gd name="T50" fmla="*/ 2 w 903"/>
                <a:gd name="T51" fmla="*/ 595 h 903"/>
                <a:gd name="T52" fmla="*/ 7 w 903"/>
                <a:gd name="T53" fmla="*/ 599 h 903"/>
                <a:gd name="T54" fmla="*/ 12 w 903"/>
                <a:gd name="T55" fmla="*/ 602 h 903"/>
                <a:gd name="T56" fmla="*/ 437 w 903"/>
                <a:gd name="T57" fmla="*/ 602 h 903"/>
                <a:gd name="T58" fmla="*/ 260 w 903"/>
                <a:gd name="T59" fmla="*/ 877 h 903"/>
                <a:gd name="T60" fmla="*/ 257 w 903"/>
                <a:gd name="T61" fmla="*/ 883 h 903"/>
                <a:gd name="T62" fmla="*/ 256 w 903"/>
                <a:gd name="T63" fmla="*/ 888 h 903"/>
                <a:gd name="T64" fmla="*/ 257 w 903"/>
                <a:gd name="T65" fmla="*/ 893 h 903"/>
                <a:gd name="T66" fmla="*/ 260 w 903"/>
                <a:gd name="T67" fmla="*/ 899 h 903"/>
                <a:gd name="T68" fmla="*/ 265 w 903"/>
                <a:gd name="T69" fmla="*/ 902 h 903"/>
                <a:gd name="T70" fmla="*/ 271 w 903"/>
                <a:gd name="T71" fmla="*/ 903 h 903"/>
                <a:gd name="T72" fmla="*/ 277 w 903"/>
                <a:gd name="T73" fmla="*/ 902 h 903"/>
                <a:gd name="T74" fmla="*/ 281 w 903"/>
                <a:gd name="T75" fmla="*/ 899 h 903"/>
                <a:gd name="T76" fmla="*/ 621 w 903"/>
                <a:gd name="T77" fmla="*/ 899 h 903"/>
                <a:gd name="T78" fmla="*/ 627 w 903"/>
                <a:gd name="T79" fmla="*/ 902 h 903"/>
                <a:gd name="T80" fmla="*/ 632 w 903"/>
                <a:gd name="T81" fmla="*/ 903 h 903"/>
                <a:gd name="T82" fmla="*/ 637 w 903"/>
                <a:gd name="T83" fmla="*/ 902 h 903"/>
                <a:gd name="T84" fmla="*/ 643 w 903"/>
                <a:gd name="T85" fmla="*/ 899 h 903"/>
                <a:gd name="T86" fmla="*/ 646 w 903"/>
                <a:gd name="T87" fmla="*/ 893 h 903"/>
                <a:gd name="T88" fmla="*/ 647 w 903"/>
                <a:gd name="T89" fmla="*/ 888 h 903"/>
                <a:gd name="T90" fmla="*/ 646 w 903"/>
                <a:gd name="T91" fmla="*/ 883 h 903"/>
                <a:gd name="T92" fmla="*/ 643 w 903"/>
                <a:gd name="T93" fmla="*/ 877 h 903"/>
                <a:gd name="T94" fmla="*/ 467 w 903"/>
                <a:gd name="T95" fmla="*/ 602 h 903"/>
                <a:gd name="T96" fmla="*/ 892 w 903"/>
                <a:gd name="T97" fmla="*/ 602 h 903"/>
                <a:gd name="T98" fmla="*/ 897 w 903"/>
                <a:gd name="T99" fmla="*/ 599 h 903"/>
                <a:gd name="T100" fmla="*/ 900 w 903"/>
                <a:gd name="T101" fmla="*/ 595 h 903"/>
                <a:gd name="T102" fmla="*/ 902 w 903"/>
                <a:gd name="T103" fmla="*/ 590 h 903"/>
                <a:gd name="T104" fmla="*/ 903 w 903"/>
                <a:gd name="T105" fmla="*/ 15 h 903"/>
                <a:gd name="T106" fmla="*/ 902 w 903"/>
                <a:gd name="T107" fmla="*/ 8 h 903"/>
                <a:gd name="T108" fmla="*/ 899 w 903"/>
                <a:gd name="T109" fmla="*/ 4 h 903"/>
                <a:gd name="T110" fmla="*/ 894 w 903"/>
                <a:gd name="T111" fmla="*/ 1 h 903"/>
                <a:gd name="T112" fmla="*/ 888 w 903"/>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3" h="903">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1" dirty="0"/>
            </a:p>
          </p:txBody>
        </p:sp>
        <p:sp>
          <p:nvSpPr>
            <p:cNvPr id="9" name="Freeform 566">
              <a:extLst>
                <a:ext uri="{FF2B5EF4-FFF2-40B4-BE49-F238E27FC236}">
                  <a16:creationId xmlns:a16="http://schemas.microsoft.com/office/drawing/2014/main" id="{B7B50F87-A3AA-4FB6-9692-24BF5512FC5B}"/>
                </a:ext>
              </a:extLst>
            </p:cNvPr>
            <p:cNvSpPr>
              <a:spLocks/>
            </p:cNvSpPr>
            <p:nvPr/>
          </p:nvSpPr>
          <p:spPr bwMode="auto">
            <a:xfrm>
              <a:off x="2054225" y="4843463"/>
              <a:ext cx="200025" cy="73025"/>
            </a:xfrm>
            <a:custGeom>
              <a:avLst/>
              <a:gdLst>
                <a:gd name="T0" fmla="*/ 151 w 632"/>
                <a:gd name="T1" fmla="*/ 151 h 226"/>
                <a:gd name="T2" fmla="*/ 157 w 632"/>
                <a:gd name="T3" fmla="*/ 149 h 226"/>
                <a:gd name="T4" fmla="*/ 161 w 632"/>
                <a:gd name="T5" fmla="*/ 146 h 226"/>
                <a:gd name="T6" fmla="*/ 288 w 632"/>
                <a:gd name="T7" fmla="*/ 217 h 226"/>
                <a:gd name="T8" fmla="*/ 292 w 632"/>
                <a:gd name="T9" fmla="*/ 223 h 226"/>
                <a:gd name="T10" fmla="*/ 299 w 632"/>
                <a:gd name="T11" fmla="*/ 226 h 226"/>
                <a:gd name="T12" fmla="*/ 302 w 632"/>
                <a:gd name="T13" fmla="*/ 226 h 226"/>
                <a:gd name="T14" fmla="*/ 307 w 632"/>
                <a:gd name="T15" fmla="*/ 225 h 226"/>
                <a:gd name="T16" fmla="*/ 313 w 632"/>
                <a:gd name="T17" fmla="*/ 222 h 226"/>
                <a:gd name="T18" fmla="*/ 471 w 632"/>
                <a:gd name="T19" fmla="*/ 191 h 226"/>
                <a:gd name="T20" fmla="*/ 477 w 632"/>
                <a:gd name="T21" fmla="*/ 195 h 226"/>
                <a:gd name="T22" fmla="*/ 483 w 632"/>
                <a:gd name="T23" fmla="*/ 196 h 226"/>
                <a:gd name="T24" fmla="*/ 488 w 632"/>
                <a:gd name="T25" fmla="*/ 194 h 226"/>
                <a:gd name="T26" fmla="*/ 494 w 632"/>
                <a:gd name="T27" fmla="*/ 191 h 226"/>
                <a:gd name="T28" fmla="*/ 631 w 632"/>
                <a:gd name="T29" fmla="*/ 23 h 226"/>
                <a:gd name="T30" fmla="*/ 632 w 632"/>
                <a:gd name="T31" fmla="*/ 16 h 226"/>
                <a:gd name="T32" fmla="*/ 632 w 632"/>
                <a:gd name="T33" fmla="*/ 11 h 226"/>
                <a:gd name="T34" fmla="*/ 629 w 632"/>
                <a:gd name="T35" fmla="*/ 5 h 226"/>
                <a:gd name="T36" fmla="*/ 625 w 632"/>
                <a:gd name="T37" fmla="*/ 2 h 226"/>
                <a:gd name="T38" fmla="*/ 619 w 632"/>
                <a:gd name="T39" fmla="*/ 0 h 226"/>
                <a:gd name="T40" fmla="*/ 613 w 632"/>
                <a:gd name="T41" fmla="*/ 1 h 226"/>
                <a:gd name="T42" fmla="*/ 607 w 632"/>
                <a:gd name="T43" fmla="*/ 3 h 226"/>
                <a:gd name="T44" fmla="*/ 481 w 632"/>
                <a:gd name="T45" fmla="*/ 159 h 226"/>
                <a:gd name="T46" fmla="*/ 415 w 632"/>
                <a:gd name="T47" fmla="*/ 93 h 226"/>
                <a:gd name="T48" fmla="*/ 409 w 632"/>
                <a:gd name="T49" fmla="*/ 91 h 226"/>
                <a:gd name="T50" fmla="*/ 404 w 632"/>
                <a:gd name="T51" fmla="*/ 91 h 226"/>
                <a:gd name="T52" fmla="*/ 398 w 632"/>
                <a:gd name="T53" fmla="*/ 93 h 226"/>
                <a:gd name="T54" fmla="*/ 307 w 632"/>
                <a:gd name="T55" fmla="*/ 185 h 226"/>
                <a:gd name="T56" fmla="*/ 247 w 632"/>
                <a:gd name="T57" fmla="*/ 39 h 226"/>
                <a:gd name="T58" fmla="*/ 242 w 632"/>
                <a:gd name="T59" fmla="*/ 34 h 226"/>
                <a:gd name="T60" fmla="*/ 234 w 632"/>
                <a:gd name="T61" fmla="*/ 33 h 226"/>
                <a:gd name="T62" fmla="*/ 227 w 632"/>
                <a:gd name="T63" fmla="*/ 35 h 226"/>
                <a:gd name="T64" fmla="*/ 144 w 632"/>
                <a:gd name="T65" fmla="*/ 121 h 226"/>
                <a:gd name="T66" fmla="*/ 12 w 632"/>
                <a:gd name="T67" fmla="*/ 121 h 226"/>
                <a:gd name="T68" fmla="*/ 7 w 632"/>
                <a:gd name="T69" fmla="*/ 123 h 226"/>
                <a:gd name="T70" fmla="*/ 3 w 632"/>
                <a:gd name="T71" fmla="*/ 128 h 226"/>
                <a:gd name="T72" fmla="*/ 0 w 632"/>
                <a:gd name="T73" fmla="*/ 133 h 226"/>
                <a:gd name="T74" fmla="*/ 0 w 632"/>
                <a:gd name="T75" fmla="*/ 138 h 226"/>
                <a:gd name="T76" fmla="*/ 3 w 632"/>
                <a:gd name="T77" fmla="*/ 144 h 226"/>
                <a:gd name="T78" fmla="*/ 7 w 632"/>
                <a:gd name="T79" fmla="*/ 148 h 226"/>
                <a:gd name="T80" fmla="*/ 12 w 632"/>
                <a:gd name="T81" fmla="*/ 150 h 226"/>
                <a:gd name="T82" fmla="*/ 15 w 632"/>
                <a:gd name="T83" fmla="*/ 15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226">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b="1" dirty="0"/>
            </a:p>
          </p:txBody>
        </p:sp>
      </p:grpSp>
      <p:sp>
        <p:nvSpPr>
          <p:cNvPr id="3" name="TextBox 2"/>
          <p:cNvSpPr txBox="1"/>
          <p:nvPr/>
        </p:nvSpPr>
        <p:spPr>
          <a:xfrm>
            <a:off x="322448" y="1770395"/>
            <a:ext cx="4412491" cy="3200876"/>
          </a:xfrm>
          <a:prstGeom prst="rect">
            <a:avLst/>
          </a:prstGeom>
          <a:noFill/>
        </p:spPr>
        <p:txBody>
          <a:bodyPr wrap="square" rtlCol="0">
            <a:spAutoFit/>
          </a:bodyPr>
          <a:lstStyle/>
          <a:p>
            <a:r>
              <a:rPr lang="en-US" sz="2000" b="1" u="sng" dirty="0"/>
              <a:t>TEAM MEMBERS:</a:t>
            </a:r>
          </a:p>
          <a:p>
            <a:endParaRPr lang="en-US" sz="2000" b="1" u="sng" dirty="0"/>
          </a:p>
          <a:p>
            <a:pPr>
              <a:lnSpc>
                <a:spcPct val="200000"/>
              </a:lnSpc>
            </a:pPr>
            <a:r>
              <a:rPr lang="en-US" b="1" dirty="0"/>
              <a:t>Sylvester </a:t>
            </a:r>
            <a:r>
              <a:rPr lang="en-US" b="1" dirty="0" err="1"/>
              <a:t>Vhashe</a:t>
            </a:r>
            <a:endParaRPr lang="en-US" b="1" dirty="0"/>
          </a:p>
          <a:p>
            <a:pPr>
              <a:lnSpc>
                <a:spcPct val="200000"/>
              </a:lnSpc>
            </a:pPr>
            <a:r>
              <a:rPr lang="en-US" b="1" dirty="0"/>
              <a:t>Bekithemba Nkomo</a:t>
            </a:r>
          </a:p>
          <a:p>
            <a:pPr>
              <a:lnSpc>
                <a:spcPct val="200000"/>
              </a:lnSpc>
            </a:pPr>
            <a:r>
              <a:rPr lang="en-US" b="1" dirty="0"/>
              <a:t>Innocent </a:t>
            </a:r>
            <a:r>
              <a:rPr lang="en-US" b="1" dirty="0" err="1"/>
              <a:t>Mujokoro</a:t>
            </a:r>
            <a:endParaRPr lang="en-US" b="1" dirty="0"/>
          </a:p>
          <a:p>
            <a:pPr>
              <a:lnSpc>
                <a:spcPct val="200000"/>
              </a:lnSpc>
            </a:pPr>
            <a:r>
              <a:rPr lang="en-US" b="1" dirty="0"/>
              <a:t>Tapiwanashe </a:t>
            </a:r>
            <a:r>
              <a:rPr lang="en-US" b="1" dirty="0" err="1"/>
              <a:t>Mutarimanja</a:t>
            </a:r>
            <a:endParaRPr lang="en-US" b="1" dirty="0"/>
          </a:p>
          <a:p>
            <a:endParaRPr lang="en-US" dirty="0">
              <a:solidFill>
                <a:schemeClr val="bg1"/>
              </a:solidFill>
            </a:endParaRPr>
          </a:p>
        </p:txBody>
      </p:sp>
      <p:sp>
        <p:nvSpPr>
          <p:cNvPr id="11" name="Title 1">
            <a:extLst>
              <a:ext uri="{FF2B5EF4-FFF2-40B4-BE49-F238E27FC236}">
                <a16:creationId xmlns:a16="http://schemas.microsoft.com/office/drawing/2014/main" id="{C4300AEF-1595-4419-801B-6E36A33BB8CF}"/>
              </a:ext>
            </a:extLst>
          </p:cNvPr>
          <p:cNvSpPr txBox="1">
            <a:spLocks/>
          </p:cNvSpPr>
          <p:nvPr/>
        </p:nvSpPr>
        <p:spPr>
          <a:xfrm>
            <a:off x="-106731" y="41224"/>
            <a:ext cx="4317230" cy="1661993"/>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NEXTGEN</a:t>
            </a:r>
          </a:p>
          <a:p>
            <a:r>
              <a:rPr lang="en-US" dirty="0"/>
              <a:t>ANALYTICS </a:t>
            </a:r>
          </a:p>
        </p:txBody>
      </p:sp>
    </p:spTree>
    <p:extLst>
      <p:ext uri="{BB962C8B-B14F-4D97-AF65-F5344CB8AC3E}">
        <p14:creationId xmlns:p14="http://schemas.microsoft.com/office/powerpoint/2010/main" val="238784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6666"/>
        </a:solidFill>
        <a:effectLst/>
      </p:bgPr>
    </p:bg>
    <p:spTree>
      <p:nvGrpSpPr>
        <p:cNvPr id="1" name=""/>
        <p:cNvGrpSpPr/>
        <p:nvPr/>
      </p:nvGrpSpPr>
      <p:grpSpPr>
        <a:xfrm>
          <a:off x="0" y="0"/>
          <a:ext cx="0" cy="0"/>
          <a:chOff x="0" y="0"/>
          <a:chExt cx="0" cy="0"/>
        </a:xfrm>
      </p:grpSpPr>
      <p:sp>
        <p:nvSpPr>
          <p:cNvPr id="4" name="Diamond 3">
            <a:extLst>
              <a:ext uri="{FF2B5EF4-FFF2-40B4-BE49-F238E27FC236}">
                <a16:creationId xmlns:a16="http://schemas.microsoft.com/office/drawing/2014/main" id="{1C59176D-59A8-4C02-B448-EE01232FB3E7}"/>
              </a:ext>
              <a:ext uri="{C183D7F6-B498-43B3-948B-1728B52AA6E4}">
                <adec:decorative xmlns:adec="http://schemas.microsoft.com/office/drawing/2017/decorative" val="1"/>
              </a:ext>
            </a:extLst>
          </p:cNvPr>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iamond 4">
            <a:extLst>
              <a:ext uri="{FF2B5EF4-FFF2-40B4-BE49-F238E27FC236}">
                <a16:creationId xmlns:a16="http://schemas.microsoft.com/office/drawing/2014/main" id="{A50B1817-3C7F-41BC-8557-7A00C928EE16}"/>
              </a:ext>
              <a:ext uri="{C183D7F6-B498-43B3-948B-1728B52AA6E4}">
                <adec:decorative xmlns:adec="http://schemas.microsoft.com/office/drawing/2017/decorative" val="1"/>
              </a:ext>
            </a:extLst>
          </p:cNvPr>
          <p:cNvSpPr/>
          <p:nvPr/>
        </p:nvSpPr>
        <p:spPr>
          <a:xfrm>
            <a:off x="4325258" y="-1770743"/>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p:cNvSpPr txBox="1"/>
          <p:nvPr/>
        </p:nvSpPr>
        <p:spPr>
          <a:xfrm>
            <a:off x="968325" y="1516045"/>
            <a:ext cx="10874326" cy="3139321"/>
          </a:xfrm>
          <a:prstGeom prst="rect">
            <a:avLst/>
          </a:prstGeom>
          <a:noFill/>
        </p:spPr>
        <p:txBody>
          <a:bodyPr wrap="square" rtlCol="0">
            <a:spAutoFit/>
          </a:bodyPr>
          <a:lstStyle/>
          <a:p>
            <a:r>
              <a:rPr lang="en-US" dirty="0">
                <a:solidFill>
                  <a:schemeClr val="bg1"/>
                </a:solidFill>
              </a:rPr>
              <a:t>TITLE : </a:t>
            </a:r>
          </a:p>
          <a:p>
            <a:r>
              <a:rPr lang="en-US" sz="5400" b="1" dirty="0">
                <a:solidFill>
                  <a:schemeClr val="bg1"/>
                </a:solidFill>
                <a:latin typeface="Times New Roman" panose="02020603050405020304" pitchFamily="18" charset="0"/>
                <a:cs typeface="Times New Roman" panose="02020603050405020304" pitchFamily="18" charset="0"/>
              </a:rPr>
              <a:t>Data-Driven Enforcement for Improved Housing Conditions and Code Compliance in NYC</a:t>
            </a:r>
          </a:p>
          <a:p>
            <a:endParaRPr lang="en-US" dirty="0"/>
          </a:p>
        </p:txBody>
      </p:sp>
      <p:sp>
        <p:nvSpPr>
          <p:cNvPr id="11" name="Title 1">
            <a:extLst>
              <a:ext uri="{FF2B5EF4-FFF2-40B4-BE49-F238E27FC236}">
                <a16:creationId xmlns:a16="http://schemas.microsoft.com/office/drawing/2014/main" id="{C4300AEF-1595-4419-801B-6E36A33BB8CF}"/>
              </a:ext>
            </a:extLst>
          </p:cNvPr>
          <p:cNvSpPr txBox="1">
            <a:spLocks/>
          </p:cNvSpPr>
          <p:nvPr/>
        </p:nvSpPr>
        <p:spPr>
          <a:xfrm>
            <a:off x="725658" y="4780972"/>
            <a:ext cx="10515600" cy="1772793"/>
          </a:xfrm>
          <a:prstGeom prst="rect">
            <a:avLst/>
          </a:prstGeom>
          <a:noFill/>
        </p:spPr>
        <p:txBody>
          <a:bodyPr vert="horz" lIns="0" tIns="0" rIns="0" bIns="0" rtlCol="0" anchor="t">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i="1" dirty="0">
                <a:solidFill>
                  <a:schemeClr val="bg1"/>
                </a:solidFill>
              </a:rPr>
              <a:t>Welcome to our analysis of housing conditions and code compliance in New York City, where we leverage data to understand tenant experiences and identify critical areas for improvement.</a:t>
            </a:r>
          </a:p>
        </p:txBody>
      </p:sp>
    </p:spTree>
    <p:extLst>
      <p:ext uri="{BB962C8B-B14F-4D97-AF65-F5344CB8AC3E}">
        <p14:creationId xmlns:p14="http://schemas.microsoft.com/office/powerpoint/2010/main" val="1487643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20" name="Picture 19" descr="Desk with productivity items">
            <a:extLst>
              <a:ext uri="{FF2B5EF4-FFF2-40B4-BE49-F238E27FC236}">
                <a16:creationId xmlns:a16="http://schemas.microsoft.com/office/drawing/2014/main" id="{303902D6-B328-E1B8-2A5F-F78611E4989F}"/>
              </a:ext>
            </a:extLst>
          </p:cNvPr>
          <p:cNvPicPr>
            <a:picLocks noChangeAspect="1"/>
          </p:cNvPicPr>
          <p:nvPr/>
        </p:nvPicPr>
        <p:blipFill>
          <a:blip r:embed="rId3"/>
          <a:srcRect l="27966" r="12716" b="-1"/>
          <a:stretch/>
        </p:blipFill>
        <p:spPr>
          <a:xfrm>
            <a:off x="-2" y="10"/>
            <a:ext cx="6094407" cy="6857990"/>
          </a:xfrm>
          <a:prstGeom prst="rect">
            <a:avLst/>
          </a:prstGeom>
        </p:spPr>
      </p:pic>
      <p:sp>
        <p:nvSpPr>
          <p:cNvPr id="10" name="Content Placeholder 9"/>
          <p:cNvSpPr>
            <a:spLocks noGrp="1"/>
          </p:cNvSpPr>
          <p:nvPr>
            <p:ph idx="1"/>
          </p:nvPr>
        </p:nvSpPr>
        <p:spPr>
          <a:xfrm>
            <a:off x="6349139" y="1400013"/>
            <a:ext cx="5708542" cy="4969789"/>
          </a:xfrm>
        </p:spPr>
        <p:txBody>
          <a:bodyPr>
            <a:normAutofit/>
          </a:bodyPr>
          <a:lstStyle/>
          <a:p>
            <a:pPr marL="0" indent="0">
              <a:lnSpc>
                <a:spcPct val="90000"/>
              </a:lnSpc>
              <a:buNone/>
            </a:pPr>
            <a:r>
              <a:rPr lang="en-US" sz="1600" b="1" dirty="0">
                <a:latin typeface="Times New Roman" panose="02020603050405020304" pitchFamily="18" charset="0"/>
                <a:cs typeface="Times New Roman" panose="02020603050405020304" pitchFamily="18" charset="0"/>
              </a:rPr>
              <a:t>Table 1 </a:t>
            </a:r>
            <a:r>
              <a:rPr lang="en-US" sz="1600" dirty="0">
                <a:latin typeface="Times New Roman" panose="02020603050405020304" pitchFamily="18" charset="0"/>
                <a:cs typeface="Times New Roman" panose="02020603050405020304" pitchFamily="18" charset="0"/>
              </a:rPr>
              <a:t>illustrates the percentage change in complaints across different boroughs from 2019 to 2024. Understanding these trends is crucial for assessing service performance, identifying areas of concern, and allocating resources effectively.</a:t>
            </a:r>
          </a:p>
          <a:p>
            <a:pPr marL="0" indent="0">
              <a:lnSpc>
                <a:spcPct val="90000"/>
              </a:lnSpc>
              <a:buNone/>
            </a:pPr>
            <a:r>
              <a:rPr lang="en-US" sz="1600" b="1" dirty="0">
                <a:latin typeface="Times New Roman" panose="02020603050405020304" pitchFamily="18" charset="0"/>
                <a:cs typeface="Times New Roman" panose="02020603050405020304" pitchFamily="18" charset="0"/>
              </a:rPr>
              <a:t>Key Insights:</a:t>
            </a:r>
            <a:endParaRPr lang="en-US" sz="1600" dirty="0">
              <a:latin typeface="Times New Roman" panose="02020603050405020304" pitchFamily="18" charset="0"/>
              <a:cs typeface="Times New Roman" panose="02020603050405020304" pitchFamily="18" charset="0"/>
            </a:endParaRPr>
          </a:p>
          <a:p>
            <a:pPr>
              <a:lnSpc>
                <a:spcPct val="90000"/>
              </a:lnSpc>
            </a:pPr>
            <a:r>
              <a:rPr lang="en-US" sz="1600" b="1" dirty="0">
                <a:latin typeface="Times New Roman" panose="02020603050405020304" pitchFamily="18" charset="0"/>
                <a:cs typeface="Times New Roman" panose="02020603050405020304" pitchFamily="18" charset="0"/>
              </a:rPr>
              <a:t>Trends Over Time:</a:t>
            </a:r>
            <a:r>
              <a:rPr lang="en-US" sz="1600" dirty="0">
                <a:latin typeface="Times New Roman" panose="02020603050405020304" pitchFamily="18" charset="0"/>
                <a:cs typeface="Times New Roman" panose="02020603050405020304" pitchFamily="18" charset="0"/>
              </a:rPr>
              <a:t> The data reveals how complaint volumes have fluctuated in each borough, highlighting periods of significant increase or decrease.</a:t>
            </a:r>
          </a:p>
          <a:p>
            <a:pPr>
              <a:lnSpc>
                <a:spcPct val="90000"/>
              </a:lnSpc>
            </a:pPr>
            <a:r>
              <a:rPr lang="en-US" sz="1600" b="1" dirty="0">
                <a:latin typeface="Times New Roman" panose="02020603050405020304" pitchFamily="18" charset="0"/>
                <a:cs typeface="Times New Roman" panose="02020603050405020304" pitchFamily="18" charset="0"/>
              </a:rPr>
              <a:t>Borough Comparisons:</a:t>
            </a:r>
            <a:r>
              <a:rPr lang="en-US" sz="1600" dirty="0">
                <a:latin typeface="Times New Roman" panose="02020603050405020304" pitchFamily="18" charset="0"/>
                <a:cs typeface="Times New Roman" panose="02020603050405020304" pitchFamily="18" charset="0"/>
              </a:rPr>
              <a:t> We can compare the percentage changes among boroughs to identify which areas may require more attention or support.</a:t>
            </a:r>
          </a:p>
          <a:p>
            <a:pPr>
              <a:lnSpc>
                <a:spcPct val="90000"/>
              </a:lnSpc>
            </a:pPr>
            <a:r>
              <a:rPr lang="en-US" sz="1600" b="1" dirty="0">
                <a:latin typeface="Times New Roman" panose="02020603050405020304" pitchFamily="18" charset="0"/>
                <a:cs typeface="Times New Roman" panose="02020603050405020304" pitchFamily="18" charset="0"/>
              </a:rPr>
              <a:t>Strategic Planning:</a:t>
            </a:r>
            <a:r>
              <a:rPr lang="en-US" sz="1600" dirty="0">
                <a:latin typeface="Times New Roman" panose="02020603050405020304" pitchFamily="18" charset="0"/>
                <a:cs typeface="Times New Roman" panose="02020603050405020304" pitchFamily="18" charset="0"/>
              </a:rPr>
              <a:t> By analyzing these changes, we can better inform our strategies for improving response times and addressing the most pressing issues faced by residents.</a:t>
            </a:r>
          </a:p>
          <a:p>
            <a:pPr marL="0" lvl="0" indent="0" eaLnBrk="0" fontAlgn="base" hangingPunct="0">
              <a:lnSpc>
                <a:spcPct val="90000"/>
              </a:lnSpc>
              <a:spcAft>
                <a:spcPct val="0"/>
              </a:spcAft>
              <a:buNone/>
            </a:pPr>
            <a:endParaRPr lang="sv-SE"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5812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5" name="Picture 54">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56" name="Picture 55">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57" name="Oval 56">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8" name="Picture 57">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59" name="Picture 58">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60" name="Rectangle 5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61" name="Rectangle 60">
            <a:extLst>
              <a:ext uri="{FF2B5EF4-FFF2-40B4-BE49-F238E27FC236}">
                <a16:creationId xmlns:a16="http://schemas.microsoft.com/office/drawing/2014/main" id="{20F6071B-48FA-4685-A9C9-A7B21E1C1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
            <a:ext cx="12191695" cy="4730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6675" y="715322"/>
            <a:ext cx="11111922" cy="2971239"/>
          </a:xfrm>
          <a:prstGeom prst="rect">
            <a:avLst/>
          </a:prstGeom>
          <a:effectLst/>
        </p:spPr>
      </p:pic>
      <p:sp>
        <p:nvSpPr>
          <p:cNvPr id="62" name="Rectangle 61">
            <a:extLst>
              <a:ext uri="{FF2B5EF4-FFF2-40B4-BE49-F238E27FC236}">
                <a16:creationId xmlns:a16="http://schemas.microsoft.com/office/drawing/2014/main" id="{8C56044C-1580-4C45-8AA3-F2A07478B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3" name="Freeform: Shape 62">
            <a:extLst>
              <a:ext uri="{FF2B5EF4-FFF2-40B4-BE49-F238E27FC236}">
                <a16:creationId xmlns:a16="http://schemas.microsoft.com/office/drawing/2014/main" id="{51A8E3CE-561F-42BE-B6A2-FBE96F9A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3579207"/>
            <a:ext cx="12191696" cy="3278793"/>
          </a:xfrm>
          <a:custGeom>
            <a:avLst/>
            <a:gdLst>
              <a:gd name="connsiteX0" fmla="*/ 1 w 12191696"/>
              <a:gd name="connsiteY0" fmla="*/ 0 h 3278793"/>
              <a:gd name="connsiteX1" fmla="*/ 71932 w 12191696"/>
              <a:gd name="connsiteY1" fmla="*/ 12261 h 3278793"/>
              <a:gd name="connsiteX2" fmla="*/ 282849 w 12191696"/>
              <a:gd name="connsiteY2" fmla="*/ 48343 h 3278793"/>
              <a:gd name="connsiteX3" fmla="*/ 436464 w 12191696"/>
              <a:gd name="connsiteY3" fmla="*/ 73565 h 3278793"/>
              <a:gd name="connsiteX4" fmla="*/ 619339 w 12191696"/>
              <a:gd name="connsiteY4" fmla="*/ 100188 h 3278793"/>
              <a:gd name="connsiteX5" fmla="*/ 836351 w 12191696"/>
              <a:gd name="connsiteY5" fmla="*/ 132066 h 3278793"/>
              <a:gd name="connsiteX6" fmla="*/ 1076528 w 12191696"/>
              <a:gd name="connsiteY6" fmla="*/ 165696 h 3278793"/>
              <a:gd name="connsiteX7" fmla="*/ 1347183 w 12191696"/>
              <a:gd name="connsiteY7" fmla="*/ 201077 h 3278793"/>
              <a:gd name="connsiteX8" fmla="*/ 1642223 w 12191696"/>
              <a:gd name="connsiteY8" fmla="*/ 238560 h 3278793"/>
              <a:gd name="connsiteX9" fmla="*/ 1962864 w 12191696"/>
              <a:gd name="connsiteY9" fmla="*/ 276043 h 3278793"/>
              <a:gd name="connsiteX10" fmla="*/ 2304232 w 12191696"/>
              <a:gd name="connsiteY10" fmla="*/ 314227 h 3278793"/>
              <a:gd name="connsiteX11" fmla="*/ 2672421 w 12191696"/>
              <a:gd name="connsiteY11" fmla="*/ 349608 h 3278793"/>
              <a:gd name="connsiteX12" fmla="*/ 3057678 w 12191696"/>
              <a:gd name="connsiteY12" fmla="*/ 383588 h 3278793"/>
              <a:gd name="connsiteX13" fmla="*/ 3464881 w 12191696"/>
              <a:gd name="connsiteY13" fmla="*/ 414415 h 3278793"/>
              <a:gd name="connsiteX14" fmla="*/ 3889152 w 12191696"/>
              <a:gd name="connsiteY14" fmla="*/ 443841 h 3278793"/>
              <a:gd name="connsiteX15" fmla="*/ 4331710 w 12191696"/>
              <a:gd name="connsiteY15" fmla="*/ 471515 h 3278793"/>
              <a:gd name="connsiteX16" fmla="*/ 4558476 w 12191696"/>
              <a:gd name="connsiteY16" fmla="*/ 481324 h 3278793"/>
              <a:gd name="connsiteX17" fmla="*/ 4790118 w 12191696"/>
              <a:gd name="connsiteY17" fmla="*/ 492183 h 3278793"/>
              <a:gd name="connsiteX18" fmla="*/ 5025418 w 12191696"/>
              <a:gd name="connsiteY18" fmla="*/ 502342 h 3278793"/>
              <a:gd name="connsiteX19" fmla="*/ 5261937 w 12191696"/>
              <a:gd name="connsiteY19" fmla="*/ 508998 h 3278793"/>
              <a:gd name="connsiteX20" fmla="*/ 5503333 w 12191696"/>
              <a:gd name="connsiteY20" fmla="*/ 514953 h 3278793"/>
              <a:gd name="connsiteX21" fmla="*/ 5747166 w 12191696"/>
              <a:gd name="connsiteY21" fmla="*/ 521259 h 3278793"/>
              <a:gd name="connsiteX22" fmla="*/ 5995877 w 12191696"/>
              <a:gd name="connsiteY22" fmla="*/ 525463 h 3278793"/>
              <a:gd name="connsiteX23" fmla="*/ 6247026 w 12191696"/>
              <a:gd name="connsiteY23" fmla="*/ 525463 h 3278793"/>
              <a:gd name="connsiteX24" fmla="*/ 6500613 w 12191696"/>
              <a:gd name="connsiteY24" fmla="*/ 527565 h 3278793"/>
              <a:gd name="connsiteX25" fmla="*/ 6756639 w 12191696"/>
              <a:gd name="connsiteY25" fmla="*/ 525463 h 3278793"/>
              <a:gd name="connsiteX26" fmla="*/ 7016322 w 12191696"/>
              <a:gd name="connsiteY26" fmla="*/ 521259 h 3278793"/>
              <a:gd name="connsiteX27" fmla="*/ 7276005 w 12191696"/>
              <a:gd name="connsiteY27" fmla="*/ 517406 h 3278793"/>
              <a:gd name="connsiteX28" fmla="*/ 7539345 w 12191696"/>
              <a:gd name="connsiteY28" fmla="*/ 508998 h 3278793"/>
              <a:gd name="connsiteX29" fmla="*/ 7805124 w 12191696"/>
              <a:gd name="connsiteY29" fmla="*/ 500241 h 3278793"/>
              <a:gd name="connsiteX30" fmla="*/ 8070903 w 12191696"/>
              <a:gd name="connsiteY30" fmla="*/ 490082 h 3278793"/>
              <a:gd name="connsiteX31" fmla="*/ 8339121 w 12191696"/>
              <a:gd name="connsiteY31" fmla="*/ 475719 h 3278793"/>
              <a:gd name="connsiteX32" fmla="*/ 8609776 w 12191696"/>
              <a:gd name="connsiteY32" fmla="*/ 458554 h 3278793"/>
              <a:gd name="connsiteX33" fmla="*/ 8881651 w 12191696"/>
              <a:gd name="connsiteY33" fmla="*/ 442089 h 3278793"/>
              <a:gd name="connsiteX34" fmla="*/ 9153526 w 12191696"/>
              <a:gd name="connsiteY34" fmla="*/ 421071 h 3278793"/>
              <a:gd name="connsiteX35" fmla="*/ 9429058 w 12191696"/>
              <a:gd name="connsiteY35" fmla="*/ 395849 h 3278793"/>
              <a:gd name="connsiteX36" fmla="*/ 9700933 w 12191696"/>
              <a:gd name="connsiteY36" fmla="*/ 370626 h 3278793"/>
              <a:gd name="connsiteX37" fmla="*/ 9977684 w 12191696"/>
              <a:gd name="connsiteY37" fmla="*/ 341551 h 3278793"/>
              <a:gd name="connsiteX38" fmla="*/ 10255655 w 12191696"/>
              <a:gd name="connsiteY38" fmla="*/ 309673 h 3278793"/>
              <a:gd name="connsiteX39" fmla="*/ 10529968 w 12191696"/>
              <a:gd name="connsiteY39" fmla="*/ 276043 h 3278793"/>
              <a:gd name="connsiteX40" fmla="*/ 10807939 w 12191696"/>
              <a:gd name="connsiteY40" fmla="*/ 236809 h 3278793"/>
              <a:gd name="connsiteX41" fmla="*/ 11084690 w 12191696"/>
              <a:gd name="connsiteY41" fmla="*/ 194772 h 3278793"/>
              <a:gd name="connsiteX42" fmla="*/ 11362661 w 12191696"/>
              <a:gd name="connsiteY42" fmla="*/ 153085 h 3278793"/>
              <a:gd name="connsiteX43" fmla="*/ 11639412 w 12191696"/>
              <a:gd name="connsiteY43" fmla="*/ 104392 h 3278793"/>
              <a:gd name="connsiteX44" fmla="*/ 11914945 w 12191696"/>
              <a:gd name="connsiteY44" fmla="*/ 54648 h 3278793"/>
              <a:gd name="connsiteX45" fmla="*/ 12191696 w 12191696"/>
              <a:gd name="connsiteY45" fmla="*/ 2452 h 3278793"/>
              <a:gd name="connsiteX46" fmla="*/ 12191696 w 12191696"/>
              <a:gd name="connsiteY46" fmla="*/ 2802467 h 3278793"/>
              <a:gd name="connsiteX47" fmla="*/ 12191695 w 12191696"/>
              <a:gd name="connsiteY47" fmla="*/ 2802467 h 3278793"/>
              <a:gd name="connsiteX48" fmla="*/ 12191695 w 12191696"/>
              <a:gd name="connsiteY48" fmla="*/ 3278793 h 3278793"/>
              <a:gd name="connsiteX49" fmla="*/ 0 w 12191696"/>
              <a:gd name="connsiteY49" fmla="*/ 3278793 h 3278793"/>
              <a:gd name="connsiteX50" fmla="*/ 0 w 12191696"/>
              <a:gd name="connsiteY50" fmla="*/ 2134639 h 3278793"/>
              <a:gd name="connsiteX51" fmla="*/ 1 w 12191696"/>
              <a:gd name="connsiteY51" fmla="*/ 2134639 h 327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1696" h="3278793">
                <a:moveTo>
                  <a:pt x="1" y="0"/>
                </a:moveTo>
                <a:lnTo>
                  <a:pt x="71932" y="12261"/>
                </a:lnTo>
                <a:lnTo>
                  <a:pt x="282849" y="48343"/>
                </a:lnTo>
                <a:lnTo>
                  <a:pt x="436464" y="73565"/>
                </a:lnTo>
                <a:lnTo>
                  <a:pt x="619339" y="100188"/>
                </a:lnTo>
                <a:lnTo>
                  <a:pt x="836351" y="132066"/>
                </a:lnTo>
                <a:lnTo>
                  <a:pt x="1076528" y="165696"/>
                </a:lnTo>
                <a:lnTo>
                  <a:pt x="1347183"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3" y="514953"/>
                </a:lnTo>
                <a:lnTo>
                  <a:pt x="5747166"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802467"/>
                </a:lnTo>
                <a:lnTo>
                  <a:pt x="12191695" y="2802467"/>
                </a:lnTo>
                <a:lnTo>
                  <a:pt x="12191695" y="3278793"/>
                </a:lnTo>
                <a:lnTo>
                  <a:pt x="0" y="3278793"/>
                </a:lnTo>
                <a:lnTo>
                  <a:pt x="0" y="2134639"/>
                </a:lnTo>
                <a:lnTo>
                  <a:pt x="1" y="2134639"/>
                </a:lnTo>
                <a:close/>
              </a:path>
            </a:pathLst>
          </a:custGeom>
          <a:ln>
            <a:noFill/>
          </a:ln>
        </p:spPr>
        <p:style>
          <a:lnRef idx="0">
            <a:scrgbClr r="0" g="0" b="0"/>
          </a:lnRef>
          <a:fillRef idx="1003">
            <a:schemeClr val="dk2"/>
          </a:fillRef>
          <a:effectRef idx="0">
            <a:scrgbClr r="0" g="0" b="0"/>
          </a:effectRef>
          <a:fontRef idx="major"/>
        </p:style>
        <p:txBody>
          <a:bodyPr/>
          <a:lstStyle/>
          <a:p>
            <a:endParaRPr lang="en-US"/>
          </a:p>
        </p:txBody>
      </p:sp>
      <p:sp>
        <p:nvSpPr>
          <p:cNvPr id="4" name="TextBox 3"/>
          <p:cNvSpPr txBox="1"/>
          <p:nvPr/>
        </p:nvSpPr>
        <p:spPr>
          <a:xfrm>
            <a:off x="636916" y="4371849"/>
            <a:ext cx="9149350" cy="1350523"/>
          </a:xfrm>
          <a:prstGeom prst="rect">
            <a:avLst/>
          </a:prstGeom>
        </p:spPr>
        <p:txBody>
          <a:bodyPr vert="horz" lIns="91440" tIns="45720" rIns="91440" bIns="45720" rtlCol="0" anchor="b">
            <a:normAutofit/>
          </a:bodyPr>
          <a:lstStyle/>
          <a:p>
            <a:pPr>
              <a:spcBef>
                <a:spcPct val="0"/>
              </a:spcBef>
              <a:spcAft>
                <a:spcPts val="600"/>
              </a:spcAft>
            </a:pPr>
            <a:r>
              <a:rPr lang="en-US" sz="6000" b="0" i="0" kern="1200" cap="all" spc="200" baseline="0">
                <a:solidFill>
                  <a:srgbClr val="EBEBEB"/>
                </a:solidFill>
                <a:latin typeface="+mj-lt"/>
                <a:ea typeface="+mj-ea"/>
                <a:cs typeface="+mj-cs"/>
              </a:rPr>
              <a:t>TABLE 1</a:t>
            </a:r>
          </a:p>
        </p:txBody>
      </p:sp>
      <p:sp>
        <p:nvSpPr>
          <p:cNvPr id="64" name="Freeform 16">
            <a:extLst>
              <a:ext uri="{FF2B5EF4-FFF2-40B4-BE49-F238E27FC236}">
                <a16:creationId xmlns:a16="http://schemas.microsoft.com/office/drawing/2014/main" id="{7DE548AA-7E1A-497C-8B79-C74F42ACF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40" y="3280011"/>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15555498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23320"/>
          <a:stretch/>
        </p:blipFill>
        <p:spPr>
          <a:xfrm>
            <a:off x="8605878" y="6228080"/>
            <a:ext cx="993734" cy="762000"/>
          </a:xfrm>
          <a:prstGeom prst="rect">
            <a:avLst/>
          </a:prstGeom>
        </p:spPr>
      </p:pic>
      <p:sp>
        <p:nvSpPr>
          <p:cNvPr id="23"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p:cNvSpPr>
            <a:spLocks noGrp="1"/>
          </p:cNvSpPr>
          <p:nvPr>
            <p:ph idx="1"/>
          </p:nvPr>
        </p:nvSpPr>
        <p:spPr>
          <a:xfrm>
            <a:off x="4752814" y="749085"/>
            <a:ext cx="6622977" cy="5304243"/>
          </a:xfrm>
        </p:spPr>
        <p:txBody>
          <a:bodyPr anchor="ctr">
            <a:normAutofit/>
          </a:bodyPr>
          <a:lstStyle/>
          <a:p>
            <a:pPr marL="0" indent="0">
              <a:lnSpc>
                <a:spcPct val="90000"/>
              </a:lnSpc>
              <a:buNone/>
            </a:pPr>
            <a:r>
              <a:rPr lang="en-US" sz="1400" b="1" dirty="0">
                <a:latin typeface="Times New Roman" panose="02020603050405020304" pitchFamily="18" charset="0"/>
                <a:cs typeface="Times New Roman" panose="02020603050405020304" pitchFamily="18" charset="0"/>
              </a:rPr>
              <a:t>Table 2 </a:t>
            </a:r>
            <a:r>
              <a:rPr lang="en-US" sz="1400" dirty="0">
                <a:latin typeface="Times New Roman" panose="02020603050405020304" pitchFamily="18" charset="0"/>
                <a:cs typeface="Times New Roman" panose="02020603050405020304" pitchFamily="18" charset="0"/>
              </a:rPr>
              <a:t>provides a comprehensive breakdown of total incidents reported across the over the years 2019 to 2024. It focuses on several key areas, including the major categories of incidents (Electric, Flooring/Stairs, Heat/Hot Water, Plumbing, and Water Leak) and their corresponding counts and average response times in seconds.</a:t>
            </a:r>
          </a:p>
          <a:p>
            <a:pPr marL="0" indent="0">
              <a:lnSpc>
                <a:spcPct val="90000"/>
              </a:lnSpc>
              <a:buNone/>
            </a:pPr>
            <a:r>
              <a:rPr lang="en-US" sz="1400" b="1" dirty="0">
                <a:latin typeface="Times New Roman" panose="02020603050405020304" pitchFamily="18" charset="0"/>
                <a:cs typeface="Times New Roman" panose="02020603050405020304" pitchFamily="18" charset="0"/>
              </a:rPr>
              <a:t>Context</a:t>
            </a:r>
            <a:r>
              <a:rPr lang="en-US" sz="1400" dirty="0">
                <a:latin typeface="Times New Roman" panose="02020603050405020304" pitchFamily="18" charset="0"/>
                <a:cs typeface="Times New Roman" panose="02020603050405020304" pitchFamily="18" charset="0"/>
              </a:rPr>
              <a:t>:</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Understanding the frequency and response times of incidents is crucial for evaluating the effectiveness of the services and identifying areas for improvement. This data allows us to pinpoint trends over time, assess resource allocation, and determine if response times are meeting  performance standards.</a:t>
            </a:r>
          </a:p>
          <a:p>
            <a:pPr marL="0" lvl="0" indent="0" eaLnBrk="0" fontAlgn="base" hangingPunct="0">
              <a:lnSpc>
                <a:spcPct val="90000"/>
              </a:lnSpc>
              <a:spcAft>
                <a:spcPct val="0"/>
              </a:spcAft>
              <a:buNone/>
            </a:pP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Key Insights:</a:t>
            </a:r>
          </a:p>
          <a:p>
            <a:pPr marL="0" lvl="0" indent="0" eaLnBrk="0" fontAlgn="base" hangingPunct="0">
              <a:lnSpc>
                <a:spcPct val="90000"/>
              </a:lnSpc>
              <a:spcAft>
                <a:spcPct val="0"/>
              </a:spcAft>
              <a:buNone/>
            </a:pPr>
            <a:endParaRPr lang="en-US" sz="1400" dirty="0">
              <a:latin typeface="Times New Roman" panose="02020603050405020304" pitchFamily="18" charset="0"/>
              <a:cs typeface="Times New Roman" panose="02020603050405020304" pitchFamily="18" charset="0"/>
            </a:endParaRPr>
          </a:p>
          <a:p>
            <a:pPr marL="0" lvl="0" indent="0" eaLnBrk="0" fontAlgn="base" hangingPunct="0">
              <a:lnSpc>
                <a:spcPct val="90000"/>
              </a:lnSpc>
              <a:spcAft>
                <a:spcPct val="0"/>
              </a:spcAft>
              <a:buNone/>
            </a:pPr>
            <a:r>
              <a:rPr lang="en-US" sz="1400" b="1" dirty="0">
                <a:latin typeface="Times New Roman" panose="02020603050405020304" pitchFamily="18" charset="0"/>
                <a:cs typeface="Times New Roman" panose="02020603050405020304" pitchFamily="18" charset="0"/>
              </a:rPr>
              <a:t>Incident Counts</a:t>
            </a:r>
            <a:r>
              <a:rPr lang="en-US" sz="1400" dirty="0">
                <a:latin typeface="Times New Roman" panose="02020603050405020304" pitchFamily="18" charset="0"/>
                <a:cs typeface="Times New Roman" panose="02020603050405020304" pitchFamily="18" charset="0"/>
              </a:rPr>
              <a:t>: The data reveals how many incidents were reported in each borough, helping to identify hotspots or areas with higher service demands. For instance, if Brooklyn shows a significantly higher count of Plumbing incidents, it may indicate a need for increased resources or targeted initiatives in that area.</a:t>
            </a:r>
          </a:p>
          <a:p>
            <a:pPr marL="0" lvl="0" indent="0" eaLnBrk="0" fontAlgn="base" hangingPunct="0">
              <a:lnSpc>
                <a:spcPct val="90000"/>
              </a:lnSpc>
              <a:spcAft>
                <a:spcPct val="0"/>
              </a:spcAft>
              <a:buNone/>
            </a:pPr>
            <a:r>
              <a:rPr lang="en-US" sz="1400" b="1" dirty="0">
                <a:latin typeface="Times New Roman" panose="02020603050405020304" pitchFamily="18" charset="0"/>
                <a:cs typeface="Times New Roman" panose="02020603050405020304" pitchFamily="18" charset="0"/>
              </a:rPr>
              <a:t>Response Times</a:t>
            </a:r>
            <a:r>
              <a:rPr lang="en-US" sz="1400" dirty="0">
                <a:latin typeface="Times New Roman" panose="02020603050405020304" pitchFamily="18" charset="0"/>
                <a:cs typeface="Times New Roman" panose="02020603050405020304" pitchFamily="18" charset="0"/>
              </a:rPr>
              <a:t>: Average response times across different incident categories provide insight into operational efficiency. If certain categories consistently show longer response times, this could signal a need for process improvements or additional training for staff.</a:t>
            </a:r>
          </a:p>
          <a:p>
            <a:pPr marL="0" lvl="0" indent="0" eaLnBrk="0" fontAlgn="base" hangingPunct="0">
              <a:lnSpc>
                <a:spcPct val="90000"/>
              </a:lnSpc>
              <a:spcAft>
                <a:spcPct val="0"/>
              </a:spcAft>
              <a:buNone/>
            </a:pPr>
            <a:r>
              <a:rPr lang="en-US" sz="1400" b="1" dirty="0">
                <a:latin typeface="Times New Roman" panose="02020603050405020304" pitchFamily="18" charset="0"/>
                <a:cs typeface="Times New Roman" panose="02020603050405020304" pitchFamily="18" charset="0"/>
              </a:rPr>
              <a:t>Trend Analysis</a:t>
            </a:r>
            <a:r>
              <a:rPr lang="en-US" sz="1400" dirty="0">
                <a:latin typeface="Times New Roman" panose="02020603050405020304" pitchFamily="18" charset="0"/>
                <a:cs typeface="Times New Roman" panose="02020603050405020304" pitchFamily="18" charset="0"/>
              </a:rPr>
              <a:t>: By examining data over the years, we can identify trends or patterns—such as seasonal spikes in certain types of incidents—that could inform proactive measures and strategic planning.</a:t>
            </a:r>
            <a:endParaRPr lang="sv-SE" sz="1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114C603-8335-3C12-5508-DC8C19AEAAF8}"/>
              </a:ext>
            </a:extLst>
          </p:cNvPr>
          <p:cNvPicPr>
            <a:picLocks noChangeAspect="1"/>
          </p:cNvPicPr>
          <p:nvPr/>
        </p:nvPicPr>
        <p:blipFill>
          <a:blip r:embed="rId4"/>
          <a:stretch>
            <a:fillRect/>
          </a:stretch>
        </p:blipFill>
        <p:spPr>
          <a:xfrm>
            <a:off x="680297" y="1088806"/>
            <a:ext cx="3735090" cy="4630069"/>
          </a:xfrm>
          <a:prstGeom prst="rect">
            <a:avLst/>
          </a:prstGeom>
        </p:spPr>
      </p:pic>
    </p:spTree>
    <p:extLst>
      <p:ext uri="{BB962C8B-B14F-4D97-AF65-F5344CB8AC3E}">
        <p14:creationId xmlns:p14="http://schemas.microsoft.com/office/powerpoint/2010/main" val="3760985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7" name="Picture 46">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49" name="Picture 48">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51" name="Oval 50">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3" name="Picture 52">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55" name="Picture 54">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57" name="Rectangle 56">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59" name="Rectangle 58">
            <a:extLst>
              <a:ext uri="{FF2B5EF4-FFF2-40B4-BE49-F238E27FC236}">
                <a16:creationId xmlns:a16="http://schemas.microsoft.com/office/drawing/2014/main" id="{D27CF008-4B18-436D-B2D5-C1346C1243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
            <a:ext cx="12191695" cy="4730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CE22DAD8-5F67-4B73-ADA9-06EF381F7A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3" name="Freeform 16">
            <a:extLst>
              <a:ext uri="{FF2B5EF4-FFF2-40B4-BE49-F238E27FC236}">
                <a16:creationId xmlns:a16="http://schemas.microsoft.com/office/drawing/2014/main" id="{E4F17063-EDA4-417B-946F-BA357F3B3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3753695"/>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12636" y="114301"/>
            <a:ext cx="8085461" cy="4199282"/>
          </a:xfrm>
          <a:prstGeom prst="rect">
            <a:avLst/>
          </a:prstGeom>
          <a:effectLst/>
        </p:spPr>
      </p:pic>
      <p:sp>
        <p:nvSpPr>
          <p:cNvPr id="65" name="Freeform: Shape 64">
            <a:extLst>
              <a:ext uri="{FF2B5EF4-FFF2-40B4-BE49-F238E27FC236}">
                <a16:creationId xmlns:a16="http://schemas.microsoft.com/office/drawing/2014/main" id="{D36F3EEA-55D4-4677-80E7-92D00B8F3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55533"/>
            <a:ext cx="12192000" cy="2802467"/>
          </a:xfrm>
          <a:custGeom>
            <a:avLst/>
            <a:gdLst>
              <a:gd name="connsiteX0" fmla="*/ 1 w 12192000"/>
              <a:gd name="connsiteY0" fmla="*/ 0 h 2802467"/>
              <a:gd name="connsiteX1" fmla="*/ 71932 w 12192000"/>
              <a:gd name="connsiteY1" fmla="*/ 12261 h 2802467"/>
              <a:gd name="connsiteX2" fmla="*/ 282848 w 12192000"/>
              <a:gd name="connsiteY2" fmla="*/ 48342 h 2802467"/>
              <a:gd name="connsiteX3" fmla="*/ 436464 w 12192000"/>
              <a:gd name="connsiteY3" fmla="*/ 73565 h 2802467"/>
              <a:gd name="connsiteX4" fmla="*/ 619339 w 12192000"/>
              <a:gd name="connsiteY4" fmla="*/ 100188 h 2802467"/>
              <a:gd name="connsiteX5" fmla="*/ 836351 w 12192000"/>
              <a:gd name="connsiteY5" fmla="*/ 132066 h 2802467"/>
              <a:gd name="connsiteX6" fmla="*/ 1076528 w 12192000"/>
              <a:gd name="connsiteY6" fmla="*/ 165696 h 2802467"/>
              <a:gd name="connsiteX7" fmla="*/ 1347183 w 12192000"/>
              <a:gd name="connsiteY7" fmla="*/ 201077 h 2802467"/>
              <a:gd name="connsiteX8" fmla="*/ 1642223 w 12192000"/>
              <a:gd name="connsiteY8" fmla="*/ 238560 h 2802467"/>
              <a:gd name="connsiteX9" fmla="*/ 1962864 w 12192000"/>
              <a:gd name="connsiteY9" fmla="*/ 276043 h 2802467"/>
              <a:gd name="connsiteX10" fmla="*/ 2304232 w 12192000"/>
              <a:gd name="connsiteY10" fmla="*/ 314226 h 2802467"/>
              <a:gd name="connsiteX11" fmla="*/ 2672421 w 12192000"/>
              <a:gd name="connsiteY11" fmla="*/ 349608 h 2802467"/>
              <a:gd name="connsiteX12" fmla="*/ 3057678 w 12192000"/>
              <a:gd name="connsiteY12" fmla="*/ 383587 h 2802467"/>
              <a:gd name="connsiteX13" fmla="*/ 3464881 w 12192000"/>
              <a:gd name="connsiteY13" fmla="*/ 414415 h 2802467"/>
              <a:gd name="connsiteX14" fmla="*/ 3889152 w 12192000"/>
              <a:gd name="connsiteY14" fmla="*/ 443840 h 2802467"/>
              <a:gd name="connsiteX15" fmla="*/ 4331710 w 12192000"/>
              <a:gd name="connsiteY15" fmla="*/ 471515 h 2802467"/>
              <a:gd name="connsiteX16" fmla="*/ 4558476 w 12192000"/>
              <a:gd name="connsiteY16" fmla="*/ 481323 h 2802467"/>
              <a:gd name="connsiteX17" fmla="*/ 4790118 w 12192000"/>
              <a:gd name="connsiteY17" fmla="*/ 492183 h 2802467"/>
              <a:gd name="connsiteX18" fmla="*/ 5025418 w 12192000"/>
              <a:gd name="connsiteY18" fmla="*/ 502342 h 2802467"/>
              <a:gd name="connsiteX19" fmla="*/ 5261937 w 12192000"/>
              <a:gd name="connsiteY19" fmla="*/ 508998 h 2802467"/>
              <a:gd name="connsiteX20" fmla="*/ 5503332 w 12192000"/>
              <a:gd name="connsiteY20" fmla="*/ 514953 h 2802467"/>
              <a:gd name="connsiteX21" fmla="*/ 5747166 w 12192000"/>
              <a:gd name="connsiteY21" fmla="*/ 521259 h 2802467"/>
              <a:gd name="connsiteX22" fmla="*/ 5995877 w 12192000"/>
              <a:gd name="connsiteY22" fmla="*/ 525462 h 2802467"/>
              <a:gd name="connsiteX23" fmla="*/ 6247026 w 12192000"/>
              <a:gd name="connsiteY23" fmla="*/ 525462 h 2802467"/>
              <a:gd name="connsiteX24" fmla="*/ 6500613 w 12192000"/>
              <a:gd name="connsiteY24" fmla="*/ 527564 h 2802467"/>
              <a:gd name="connsiteX25" fmla="*/ 6756639 w 12192000"/>
              <a:gd name="connsiteY25" fmla="*/ 525462 h 2802467"/>
              <a:gd name="connsiteX26" fmla="*/ 7016322 w 12192000"/>
              <a:gd name="connsiteY26" fmla="*/ 521259 h 2802467"/>
              <a:gd name="connsiteX27" fmla="*/ 7276005 w 12192000"/>
              <a:gd name="connsiteY27" fmla="*/ 517405 h 2802467"/>
              <a:gd name="connsiteX28" fmla="*/ 7539345 w 12192000"/>
              <a:gd name="connsiteY28" fmla="*/ 508998 h 2802467"/>
              <a:gd name="connsiteX29" fmla="*/ 7805124 w 12192000"/>
              <a:gd name="connsiteY29" fmla="*/ 500240 h 2802467"/>
              <a:gd name="connsiteX30" fmla="*/ 8070903 w 12192000"/>
              <a:gd name="connsiteY30" fmla="*/ 490081 h 2802467"/>
              <a:gd name="connsiteX31" fmla="*/ 8339121 w 12192000"/>
              <a:gd name="connsiteY31" fmla="*/ 475719 h 2802467"/>
              <a:gd name="connsiteX32" fmla="*/ 8609776 w 12192000"/>
              <a:gd name="connsiteY32" fmla="*/ 458553 h 2802467"/>
              <a:gd name="connsiteX33" fmla="*/ 8881651 w 12192000"/>
              <a:gd name="connsiteY33" fmla="*/ 442089 h 2802467"/>
              <a:gd name="connsiteX34" fmla="*/ 9153526 w 12192000"/>
              <a:gd name="connsiteY34" fmla="*/ 421070 h 2802467"/>
              <a:gd name="connsiteX35" fmla="*/ 9429058 w 12192000"/>
              <a:gd name="connsiteY35" fmla="*/ 395848 h 2802467"/>
              <a:gd name="connsiteX36" fmla="*/ 9700933 w 12192000"/>
              <a:gd name="connsiteY36" fmla="*/ 370626 h 2802467"/>
              <a:gd name="connsiteX37" fmla="*/ 9977684 w 12192000"/>
              <a:gd name="connsiteY37" fmla="*/ 341550 h 2802467"/>
              <a:gd name="connsiteX38" fmla="*/ 10255655 w 12192000"/>
              <a:gd name="connsiteY38" fmla="*/ 309672 h 2802467"/>
              <a:gd name="connsiteX39" fmla="*/ 10529968 w 12192000"/>
              <a:gd name="connsiteY39" fmla="*/ 276043 h 2802467"/>
              <a:gd name="connsiteX40" fmla="*/ 10807939 w 12192000"/>
              <a:gd name="connsiteY40" fmla="*/ 236808 h 2802467"/>
              <a:gd name="connsiteX41" fmla="*/ 11084690 w 12192000"/>
              <a:gd name="connsiteY41" fmla="*/ 194771 h 2802467"/>
              <a:gd name="connsiteX42" fmla="*/ 11362661 w 12192000"/>
              <a:gd name="connsiteY42" fmla="*/ 153085 h 2802467"/>
              <a:gd name="connsiteX43" fmla="*/ 11639412 w 12192000"/>
              <a:gd name="connsiteY43" fmla="*/ 104392 h 2802467"/>
              <a:gd name="connsiteX44" fmla="*/ 11914945 w 12192000"/>
              <a:gd name="connsiteY44" fmla="*/ 54648 h 2802467"/>
              <a:gd name="connsiteX45" fmla="*/ 12191696 w 12192000"/>
              <a:gd name="connsiteY45" fmla="*/ 2452 h 2802467"/>
              <a:gd name="connsiteX46" fmla="*/ 12191696 w 12192000"/>
              <a:gd name="connsiteY46" fmla="*/ 2236410 h 2802467"/>
              <a:gd name="connsiteX47" fmla="*/ 12192000 w 12192000"/>
              <a:gd name="connsiteY47" fmla="*/ 2236410 h 2802467"/>
              <a:gd name="connsiteX48" fmla="*/ 12192000 w 12192000"/>
              <a:gd name="connsiteY48" fmla="*/ 2802467 h 2802467"/>
              <a:gd name="connsiteX49" fmla="*/ 12191696 w 12192000"/>
              <a:gd name="connsiteY49" fmla="*/ 2802467 h 2802467"/>
              <a:gd name="connsiteX50" fmla="*/ 0 w 12192000"/>
              <a:gd name="connsiteY50" fmla="*/ 2802467 h 2802467"/>
              <a:gd name="connsiteX51" fmla="*/ 0 w 12192000"/>
              <a:gd name="connsiteY51" fmla="*/ 2236410 h 2802467"/>
              <a:gd name="connsiteX52" fmla="*/ 1 w 12192000"/>
              <a:gd name="connsiteY52" fmla="*/ 2236410 h 2802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192000" h="2802467">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636916" y="4854346"/>
            <a:ext cx="9149350" cy="868026"/>
          </a:xfrm>
          <a:prstGeom prst="rect">
            <a:avLst/>
          </a:prstGeom>
        </p:spPr>
        <p:txBody>
          <a:bodyPr vert="horz" lIns="91440" tIns="45720" rIns="91440" bIns="45720" rtlCol="0" anchor="b">
            <a:normAutofit/>
          </a:bodyPr>
          <a:lstStyle/>
          <a:p>
            <a:pPr>
              <a:spcBef>
                <a:spcPct val="0"/>
              </a:spcBef>
              <a:spcAft>
                <a:spcPts val="600"/>
              </a:spcAft>
            </a:pPr>
            <a:r>
              <a:rPr lang="en-US" sz="4800" b="0" i="0" kern="1200" cap="all" spc="200" baseline="0">
                <a:solidFill>
                  <a:srgbClr val="EBEBEB"/>
                </a:solidFill>
                <a:latin typeface="+mj-lt"/>
                <a:ea typeface="+mj-ea"/>
                <a:cs typeface="+mj-cs"/>
              </a:rPr>
              <a:t>TABLE 2</a:t>
            </a:r>
          </a:p>
        </p:txBody>
      </p:sp>
    </p:spTree>
    <p:extLst>
      <p:ext uri="{BB962C8B-B14F-4D97-AF65-F5344CB8AC3E}">
        <p14:creationId xmlns:p14="http://schemas.microsoft.com/office/powerpoint/2010/main" val="374995526"/>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8" name="Rectangle 27">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32" name="Picture 31">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23320"/>
          <a:stretch/>
        </p:blipFill>
        <p:spPr>
          <a:xfrm>
            <a:off x="8605878" y="6228080"/>
            <a:ext cx="993734" cy="762000"/>
          </a:xfrm>
          <a:prstGeom prst="rect">
            <a:avLst/>
          </a:prstGeom>
        </p:spPr>
      </p:pic>
      <p:sp>
        <p:nvSpPr>
          <p:cNvPr id="34"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p:cNvSpPr>
            <a:spLocks noGrp="1"/>
          </p:cNvSpPr>
          <p:nvPr>
            <p:ph idx="1"/>
          </p:nvPr>
        </p:nvSpPr>
        <p:spPr>
          <a:xfrm>
            <a:off x="4701156" y="516611"/>
            <a:ext cx="6674635" cy="5536718"/>
          </a:xfrm>
        </p:spPr>
        <p:txBody>
          <a:bodyPr anchor="ctr">
            <a:normAutofit/>
          </a:bodyPr>
          <a:lstStyle/>
          <a:p>
            <a:pPr marL="0" lvl="0" indent="0" eaLnBrk="0" fontAlgn="base" hangingPunct="0">
              <a:lnSpc>
                <a:spcPct val="90000"/>
              </a:lnSpc>
              <a:spcAft>
                <a:spcPct val="0"/>
              </a:spcAft>
              <a:buNone/>
            </a:pPr>
            <a:r>
              <a:rPr lang="en-US" sz="1400" b="1" dirty="0">
                <a:latin typeface="Times New Roman" panose="02020603050405020304" pitchFamily="18" charset="0"/>
                <a:cs typeface="Times New Roman" panose="02020603050405020304" pitchFamily="18" charset="0"/>
              </a:rPr>
              <a:t>Table 3 </a:t>
            </a:r>
            <a:r>
              <a:rPr lang="en-US" sz="1400" dirty="0">
                <a:latin typeface="Times New Roman" panose="02020603050405020304" pitchFamily="18" charset="0"/>
                <a:cs typeface="Times New Roman" panose="02020603050405020304" pitchFamily="18" charset="0"/>
              </a:rPr>
              <a:t>provides a comprehensive overview of complaints categorized by Unit Type and Major Category across different boroughs. The data spans various complaint types, such as Appliance, Plumbing, and Water Leak, offering insights into the frequency and distribution of issues reported in residential and building-wide settings.</a:t>
            </a:r>
          </a:p>
          <a:p>
            <a:pPr marL="0" lvl="0" indent="0" eaLnBrk="0" fontAlgn="base" hangingPunct="0">
              <a:lnSpc>
                <a:spcPct val="90000"/>
              </a:lnSpc>
              <a:spcAft>
                <a:spcPct val="0"/>
              </a:spcAft>
              <a:buNone/>
            </a:pPr>
            <a:r>
              <a:rPr lang="en-US" sz="1400" b="1" dirty="0">
                <a:latin typeface="Times New Roman" panose="02020603050405020304" pitchFamily="18" charset="0"/>
                <a:cs typeface="Times New Roman" panose="02020603050405020304" pitchFamily="18" charset="0"/>
              </a:rPr>
              <a:t>Key Context for the Project Sponsor</a:t>
            </a:r>
            <a:r>
              <a:rPr lang="en-US" sz="1400" dirty="0">
                <a:latin typeface="Times New Roman" panose="02020603050405020304" pitchFamily="18" charset="0"/>
                <a:cs typeface="Times New Roman" panose="02020603050405020304" pitchFamily="18" charset="0"/>
              </a:rPr>
              <a:t>:</a:t>
            </a:r>
          </a:p>
          <a:p>
            <a:pPr eaLnBrk="0" fontAlgn="base" hangingPunct="0">
              <a:lnSpc>
                <a:spcPct val="90000"/>
              </a:lnSpc>
              <a:spcAft>
                <a:spcPct val="0"/>
              </a:spcAft>
            </a:pPr>
            <a:r>
              <a:rPr lang="en-US" sz="1400" dirty="0">
                <a:latin typeface="Times New Roman" panose="02020603050405020304" pitchFamily="18" charset="0"/>
                <a:cs typeface="Times New Roman" panose="02020603050405020304" pitchFamily="18" charset="0"/>
              </a:rPr>
              <a:t>Borough-Specific Insights:</a:t>
            </a:r>
          </a:p>
          <a:p>
            <a:pPr marL="0" indent="0" eaLnBrk="0" fontAlgn="base" hangingPunct="0">
              <a:lnSpc>
                <a:spcPct val="90000"/>
              </a:lnSpc>
              <a:spcAft>
                <a:spcPct val="0"/>
              </a:spcAft>
              <a:buNone/>
            </a:pPr>
            <a:r>
              <a:rPr lang="en-US" sz="1400" dirty="0">
                <a:latin typeface="Times New Roman" panose="02020603050405020304" pitchFamily="18" charset="0"/>
                <a:cs typeface="Times New Roman" panose="02020603050405020304" pitchFamily="18" charset="0"/>
              </a:rPr>
              <a:t>The breakdown by borough (Bronx, Brooklyn, Manhattan, Queens, Staten Island) allows us to identify which areas are experiencing the highest volume of complaints. This information can help prioritize resource allocation and response strategies.</a:t>
            </a:r>
          </a:p>
          <a:p>
            <a:pPr eaLnBrk="0" fontAlgn="base" hangingPunct="0">
              <a:lnSpc>
                <a:spcPct val="90000"/>
              </a:lnSpc>
              <a:spcAft>
                <a:spcPct val="0"/>
              </a:spcAft>
            </a:pPr>
            <a:r>
              <a:rPr lang="en-US" sz="1400" dirty="0">
                <a:latin typeface="Times New Roman" panose="02020603050405020304" pitchFamily="18" charset="0"/>
                <a:cs typeface="Times New Roman" panose="02020603050405020304" pitchFamily="18" charset="0"/>
              </a:rPr>
              <a:t>Unit Type Focus:</a:t>
            </a:r>
          </a:p>
          <a:p>
            <a:pPr marL="0" indent="0" eaLnBrk="0" fontAlgn="base" hangingPunct="0">
              <a:lnSpc>
                <a:spcPct val="90000"/>
              </a:lnSpc>
              <a:spcAft>
                <a:spcPct val="0"/>
              </a:spcAft>
              <a:buNone/>
            </a:pPr>
            <a:r>
              <a:rPr lang="en-US" sz="1400" dirty="0">
                <a:latin typeface="Times New Roman" panose="02020603050405020304" pitchFamily="18" charset="0"/>
                <a:cs typeface="Times New Roman" panose="02020603050405020304" pitchFamily="18" charset="0"/>
              </a:rPr>
              <a:t> By distinguishing between Apartment and Building-Wide unit types, we can assess whether complaints are more prevalent in individual units or common areas. This can inform targeted maintenance or communication efforts.</a:t>
            </a:r>
          </a:p>
          <a:p>
            <a:pPr eaLnBrk="0" fontAlgn="base" hangingPunct="0">
              <a:lnSpc>
                <a:spcPct val="90000"/>
              </a:lnSpc>
              <a:spcAft>
                <a:spcPct val="0"/>
              </a:spcAft>
            </a:pPr>
            <a:r>
              <a:rPr lang="en-US" sz="1400" dirty="0">
                <a:latin typeface="Times New Roman" panose="02020603050405020304" pitchFamily="18" charset="0"/>
                <a:cs typeface="Times New Roman" panose="02020603050405020304" pitchFamily="18" charset="0"/>
              </a:rPr>
              <a:t>Major Categories of Complaints:</a:t>
            </a:r>
          </a:p>
          <a:p>
            <a:pPr marL="0" indent="0" eaLnBrk="0" fontAlgn="base" hangingPunct="0">
              <a:lnSpc>
                <a:spcPct val="90000"/>
              </a:lnSpc>
              <a:spcAft>
                <a:spcPct val="0"/>
              </a:spcAft>
              <a:buNone/>
            </a:pPr>
            <a:r>
              <a:rPr lang="en-US" sz="1400" dirty="0">
                <a:latin typeface="Times New Roman" panose="02020603050405020304" pitchFamily="18" charset="0"/>
                <a:cs typeface="Times New Roman" panose="02020603050405020304" pitchFamily="18" charset="0"/>
              </a:rPr>
              <a:t>Understanding the major categories of complaints enables us to pinpoint recurring issues that may need systemic solutions, whether through improved communication, enhanced maintenance protocols, or policy changes.</a:t>
            </a:r>
          </a:p>
          <a:p>
            <a:pPr eaLnBrk="0" fontAlgn="base" hangingPunct="0">
              <a:lnSpc>
                <a:spcPct val="90000"/>
              </a:lnSpc>
              <a:spcAft>
                <a:spcPct val="0"/>
              </a:spcAft>
            </a:pPr>
            <a:r>
              <a:rPr lang="en-US" sz="1400" dirty="0">
                <a:latin typeface="Times New Roman" panose="02020603050405020304" pitchFamily="18" charset="0"/>
                <a:cs typeface="Times New Roman" panose="02020603050405020304" pitchFamily="18" charset="0"/>
              </a:rPr>
              <a:t>Total Complaints:</a:t>
            </a:r>
          </a:p>
          <a:p>
            <a:pPr marL="0" indent="0" eaLnBrk="0" fontAlgn="base" hangingPunct="0">
              <a:lnSpc>
                <a:spcPct val="90000"/>
              </a:lnSpc>
              <a:spcAft>
                <a:spcPct val="0"/>
              </a:spcAft>
              <a:buNone/>
            </a:pPr>
            <a:r>
              <a:rPr lang="en-US" sz="1400" dirty="0">
                <a:latin typeface="Times New Roman" panose="02020603050405020304" pitchFamily="18" charset="0"/>
                <a:cs typeface="Times New Roman" panose="02020603050405020304" pitchFamily="18" charset="0"/>
              </a:rPr>
              <a:t>The Grand Total column provides a quick reference for the overall volume of complaints, facilitating a holistic view of the situation across all unit types and boroughs.</a:t>
            </a:r>
            <a:endParaRPr lang="sv-SE" sz="1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E9D57C4-E1EC-A8C3-D3A4-4F46E19A029F}"/>
              </a:ext>
            </a:extLst>
          </p:cNvPr>
          <p:cNvPicPr>
            <a:picLocks noChangeAspect="1"/>
          </p:cNvPicPr>
          <p:nvPr/>
        </p:nvPicPr>
        <p:blipFill>
          <a:blip r:embed="rId4"/>
          <a:stretch>
            <a:fillRect/>
          </a:stretch>
        </p:blipFill>
        <p:spPr>
          <a:xfrm>
            <a:off x="680297" y="1088806"/>
            <a:ext cx="3735090" cy="4630069"/>
          </a:xfrm>
          <a:prstGeom prst="rect">
            <a:avLst/>
          </a:prstGeom>
        </p:spPr>
      </p:pic>
    </p:spTree>
    <p:extLst>
      <p:ext uri="{BB962C8B-B14F-4D97-AF65-F5344CB8AC3E}">
        <p14:creationId xmlns:p14="http://schemas.microsoft.com/office/powerpoint/2010/main" val="3686661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8" name="Picture 47">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50" name="Picture 49">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52" name="Oval 51">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4" name="Picture 53">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55" name="Picture 54">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56" name="Rectangle 55">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47" name="Rectangle 46">
            <a:extLst>
              <a:ext uri="{FF2B5EF4-FFF2-40B4-BE49-F238E27FC236}">
                <a16:creationId xmlns:a16="http://schemas.microsoft.com/office/drawing/2014/main" id="{DE92A8BB-07B9-40DB-984F-2CB1A2535B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
            <a:ext cx="12191695" cy="473074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2CDDB745-6C26-4B79-9EF2-08E3E4AB90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 name="Freeform 16">
            <a:extLst>
              <a:ext uri="{FF2B5EF4-FFF2-40B4-BE49-F238E27FC236}">
                <a16:creationId xmlns:a16="http://schemas.microsoft.com/office/drawing/2014/main" id="{80B3FE6C-0A59-4114-88CB-3C3172D6AF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2835162"/>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05779" y="246701"/>
            <a:ext cx="8831333" cy="3267594"/>
          </a:xfrm>
          <a:prstGeom prst="rect">
            <a:avLst/>
          </a:prstGeom>
          <a:effectLst/>
        </p:spPr>
      </p:pic>
      <p:sp>
        <p:nvSpPr>
          <p:cNvPr id="53" name="Freeform: Shape 52">
            <a:extLst>
              <a:ext uri="{FF2B5EF4-FFF2-40B4-BE49-F238E27FC236}">
                <a16:creationId xmlns:a16="http://schemas.microsoft.com/office/drawing/2014/main" id="{DDA3A238-516A-4076-B3C2-230D913508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136999"/>
            <a:ext cx="12191696" cy="3721001"/>
          </a:xfrm>
          <a:custGeom>
            <a:avLst/>
            <a:gdLst>
              <a:gd name="connsiteX0" fmla="*/ 1 w 12191696"/>
              <a:gd name="connsiteY0" fmla="*/ 0 h 3721001"/>
              <a:gd name="connsiteX1" fmla="*/ 71932 w 12191696"/>
              <a:gd name="connsiteY1" fmla="*/ 12261 h 3721001"/>
              <a:gd name="connsiteX2" fmla="*/ 282849 w 12191696"/>
              <a:gd name="connsiteY2" fmla="*/ 48342 h 3721001"/>
              <a:gd name="connsiteX3" fmla="*/ 436464 w 12191696"/>
              <a:gd name="connsiteY3" fmla="*/ 73565 h 3721001"/>
              <a:gd name="connsiteX4" fmla="*/ 619339 w 12191696"/>
              <a:gd name="connsiteY4" fmla="*/ 100188 h 3721001"/>
              <a:gd name="connsiteX5" fmla="*/ 836351 w 12191696"/>
              <a:gd name="connsiteY5" fmla="*/ 132066 h 3721001"/>
              <a:gd name="connsiteX6" fmla="*/ 1076528 w 12191696"/>
              <a:gd name="connsiteY6" fmla="*/ 165696 h 3721001"/>
              <a:gd name="connsiteX7" fmla="*/ 1347183 w 12191696"/>
              <a:gd name="connsiteY7" fmla="*/ 201077 h 3721001"/>
              <a:gd name="connsiteX8" fmla="*/ 1642223 w 12191696"/>
              <a:gd name="connsiteY8" fmla="*/ 238560 h 3721001"/>
              <a:gd name="connsiteX9" fmla="*/ 1962864 w 12191696"/>
              <a:gd name="connsiteY9" fmla="*/ 276043 h 3721001"/>
              <a:gd name="connsiteX10" fmla="*/ 2304232 w 12191696"/>
              <a:gd name="connsiteY10" fmla="*/ 314226 h 3721001"/>
              <a:gd name="connsiteX11" fmla="*/ 2672421 w 12191696"/>
              <a:gd name="connsiteY11" fmla="*/ 349608 h 3721001"/>
              <a:gd name="connsiteX12" fmla="*/ 3057678 w 12191696"/>
              <a:gd name="connsiteY12" fmla="*/ 383588 h 3721001"/>
              <a:gd name="connsiteX13" fmla="*/ 3464881 w 12191696"/>
              <a:gd name="connsiteY13" fmla="*/ 414415 h 3721001"/>
              <a:gd name="connsiteX14" fmla="*/ 3889152 w 12191696"/>
              <a:gd name="connsiteY14" fmla="*/ 443841 h 3721001"/>
              <a:gd name="connsiteX15" fmla="*/ 4331710 w 12191696"/>
              <a:gd name="connsiteY15" fmla="*/ 471515 h 3721001"/>
              <a:gd name="connsiteX16" fmla="*/ 4558476 w 12191696"/>
              <a:gd name="connsiteY16" fmla="*/ 481324 h 3721001"/>
              <a:gd name="connsiteX17" fmla="*/ 4790118 w 12191696"/>
              <a:gd name="connsiteY17" fmla="*/ 492183 h 3721001"/>
              <a:gd name="connsiteX18" fmla="*/ 5025418 w 12191696"/>
              <a:gd name="connsiteY18" fmla="*/ 502342 h 3721001"/>
              <a:gd name="connsiteX19" fmla="*/ 5261937 w 12191696"/>
              <a:gd name="connsiteY19" fmla="*/ 508998 h 3721001"/>
              <a:gd name="connsiteX20" fmla="*/ 5503333 w 12191696"/>
              <a:gd name="connsiteY20" fmla="*/ 514953 h 3721001"/>
              <a:gd name="connsiteX21" fmla="*/ 5747166 w 12191696"/>
              <a:gd name="connsiteY21" fmla="*/ 521259 h 3721001"/>
              <a:gd name="connsiteX22" fmla="*/ 5995877 w 12191696"/>
              <a:gd name="connsiteY22" fmla="*/ 525462 h 3721001"/>
              <a:gd name="connsiteX23" fmla="*/ 6247026 w 12191696"/>
              <a:gd name="connsiteY23" fmla="*/ 525462 h 3721001"/>
              <a:gd name="connsiteX24" fmla="*/ 6500613 w 12191696"/>
              <a:gd name="connsiteY24" fmla="*/ 527564 h 3721001"/>
              <a:gd name="connsiteX25" fmla="*/ 6756639 w 12191696"/>
              <a:gd name="connsiteY25" fmla="*/ 525462 h 3721001"/>
              <a:gd name="connsiteX26" fmla="*/ 7016322 w 12191696"/>
              <a:gd name="connsiteY26" fmla="*/ 521259 h 3721001"/>
              <a:gd name="connsiteX27" fmla="*/ 7276005 w 12191696"/>
              <a:gd name="connsiteY27" fmla="*/ 517405 h 3721001"/>
              <a:gd name="connsiteX28" fmla="*/ 7539345 w 12191696"/>
              <a:gd name="connsiteY28" fmla="*/ 508998 h 3721001"/>
              <a:gd name="connsiteX29" fmla="*/ 7805124 w 12191696"/>
              <a:gd name="connsiteY29" fmla="*/ 500240 h 3721001"/>
              <a:gd name="connsiteX30" fmla="*/ 8070903 w 12191696"/>
              <a:gd name="connsiteY30" fmla="*/ 490081 h 3721001"/>
              <a:gd name="connsiteX31" fmla="*/ 8339121 w 12191696"/>
              <a:gd name="connsiteY31" fmla="*/ 475719 h 3721001"/>
              <a:gd name="connsiteX32" fmla="*/ 8609776 w 12191696"/>
              <a:gd name="connsiteY32" fmla="*/ 458554 h 3721001"/>
              <a:gd name="connsiteX33" fmla="*/ 8881651 w 12191696"/>
              <a:gd name="connsiteY33" fmla="*/ 442089 h 3721001"/>
              <a:gd name="connsiteX34" fmla="*/ 9153526 w 12191696"/>
              <a:gd name="connsiteY34" fmla="*/ 421071 h 3721001"/>
              <a:gd name="connsiteX35" fmla="*/ 9429058 w 12191696"/>
              <a:gd name="connsiteY35" fmla="*/ 395848 h 3721001"/>
              <a:gd name="connsiteX36" fmla="*/ 9700933 w 12191696"/>
              <a:gd name="connsiteY36" fmla="*/ 370626 h 3721001"/>
              <a:gd name="connsiteX37" fmla="*/ 9977684 w 12191696"/>
              <a:gd name="connsiteY37" fmla="*/ 341551 h 3721001"/>
              <a:gd name="connsiteX38" fmla="*/ 10255655 w 12191696"/>
              <a:gd name="connsiteY38" fmla="*/ 309672 h 3721001"/>
              <a:gd name="connsiteX39" fmla="*/ 10529968 w 12191696"/>
              <a:gd name="connsiteY39" fmla="*/ 276043 h 3721001"/>
              <a:gd name="connsiteX40" fmla="*/ 10807939 w 12191696"/>
              <a:gd name="connsiteY40" fmla="*/ 236808 h 3721001"/>
              <a:gd name="connsiteX41" fmla="*/ 11084690 w 12191696"/>
              <a:gd name="connsiteY41" fmla="*/ 194771 h 3721001"/>
              <a:gd name="connsiteX42" fmla="*/ 11362661 w 12191696"/>
              <a:gd name="connsiteY42" fmla="*/ 153085 h 3721001"/>
              <a:gd name="connsiteX43" fmla="*/ 11639412 w 12191696"/>
              <a:gd name="connsiteY43" fmla="*/ 104392 h 3721001"/>
              <a:gd name="connsiteX44" fmla="*/ 11914945 w 12191696"/>
              <a:gd name="connsiteY44" fmla="*/ 54648 h 3721001"/>
              <a:gd name="connsiteX45" fmla="*/ 12191696 w 12191696"/>
              <a:gd name="connsiteY45" fmla="*/ 2452 h 3721001"/>
              <a:gd name="connsiteX46" fmla="*/ 12191696 w 12191696"/>
              <a:gd name="connsiteY46" fmla="*/ 2802467 h 3721001"/>
              <a:gd name="connsiteX47" fmla="*/ 12191695 w 12191696"/>
              <a:gd name="connsiteY47" fmla="*/ 2802467 h 3721001"/>
              <a:gd name="connsiteX48" fmla="*/ 12191695 w 12191696"/>
              <a:gd name="connsiteY48" fmla="*/ 3721001 h 3721001"/>
              <a:gd name="connsiteX49" fmla="*/ 0 w 12191696"/>
              <a:gd name="connsiteY49" fmla="*/ 3721001 h 3721001"/>
              <a:gd name="connsiteX50" fmla="*/ 0 w 12191696"/>
              <a:gd name="connsiteY50" fmla="*/ 2233825 h 3721001"/>
              <a:gd name="connsiteX51" fmla="*/ 1 w 12191696"/>
              <a:gd name="connsiteY51" fmla="*/ 2233825 h 3721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1696" h="3721001">
                <a:moveTo>
                  <a:pt x="1" y="0"/>
                </a:moveTo>
                <a:lnTo>
                  <a:pt x="71932" y="12261"/>
                </a:lnTo>
                <a:lnTo>
                  <a:pt x="282849"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3"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4"/>
                </a:lnTo>
                <a:lnTo>
                  <a:pt x="8881651" y="442089"/>
                </a:lnTo>
                <a:lnTo>
                  <a:pt x="9153526" y="421071"/>
                </a:lnTo>
                <a:lnTo>
                  <a:pt x="9429058" y="395848"/>
                </a:lnTo>
                <a:lnTo>
                  <a:pt x="9700933" y="370626"/>
                </a:lnTo>
                <a:lnTo>
                  <a:pt x="9977684" y="341551"/>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802467"/>
                </a:lnTo>
                <a:lnTo>
                  <a:pt x="12191695" y="2802467"/>
                </a:lnTo>
                <a:lnTo>
                  <a:pt x="12191695" y="3721001"/>
                </a:lnTo>
                <a:lnTo>
                  <a:pt x="0" y="3721001"/>
                </a:lnTo>
                <a:lnTo>
                  <a:pt x="0" y="2233825"/>
                </a:lnTo>
                <a:lnTo>
                  <a:pt x="1" y="2233825"/>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7" name="TextBox 6"/>
          <p:cNvSpPr txBox="1"/>
          <p:nvPr/>
        </p:nvSpPr>
        <p:spPr>
          <a:xfrm>
            <a:off x="636915" y="3928983"/>
            <a:ext cx="9182945" cy="1793390"/>
          </a:xfrm>
          <a:prstGeom prst="rect">
            <a:avLst/>
          </a:prstGeom>
        </p:spPr>
        <p:txBody>
          <a:bodyPr vert="horz" lIns="91440" tIns="45720" rIns="91440" bIns="45720" rtlCol="0" anchor="b">
            <a:normAutofit/>
          </a:bodyPr>
          <a:lstStyle/>
          <a:p>
            <a:pPr>
              <a:spcBef>
                <a:spcPct val="0"/>
              </a:spcBef>
              <a:spcAft>
                <a:spcPts val="600"/>
              </a:spcAft>
            </a:pPr>
            <a:r>
              <a:rPr lang="en-US" sz="6600" b="0" i="0" kern="1200" cap="all" spc="200" baseline="0">
                <a:solidFill>
                  <a:srgbClr val="EBEBEB"/>
                </a:solidFill>
                <a:latin typeface="+mj-lt"/>
                <a:ea typeface="+mj-ea"/>
                <a:cs typeface="+mj-cs"/>
              </a:rPr>
              <a:t>TABLE 3</a:t>
            </a:r>
          </a:p>
        </p:txBody>
      </p:sp>
    </p:spTree>
    <p:extLst>
      <p:ext uri="{BB962C8B-B14F-4D97-AF65-F5344CB8AC3E}">
        <p14:creationId xmlns:p14="http://schemas.microsoft.com/office/powerpoint/2010/main" val="2758681090"/>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23320"/>
          <a:stretch/>
        </p:blipFill>
        <p:spPr>
          <a:xfrm>
            <a:off x="8605878" y="6228080"/>
            <a:ext cx="993734" cy="762000"/>
          </a:xfrm>
          <a:prstGeom prst="rect">
            <a:avLst/>
          </a:prstGeom>
        </p:spPr>
      </p:pic>
      <p:sp>
        <p:nvSpPr>
          <p:cNvPr id="23"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p:cNvSpPr>
            <a:spLocks noGrp="1"/>
          </p:cNvSpPr>
          <p:nvPr>
            <p:ph idx="1"/>
          </p:nvPr>
        </p:nvSpPr>
        <p:spPr>
          <a:xfrm>
            <a:off x="4975861" y="804671"/>
            <a:ext cx="6399930" cy="5248657"/>
          </a:xfrm>
        </p:spPr>
        <p:txBody>
          <a:bodyPr anchor="ctr">
            <a:normAutofit/>
          </a:bodyPr>
          <a:lstStyle/>
          <a:p>
            <a:pPr marL="0" lvl="0" indent="0" eaLnBrk="0" fontAlgn="base" hangingPunct="0">
              <a:lnSpc>
                <a:spcPct val="90000"/>
              </a:lnSpc>
              <a:spcAft>
                <a:spcPct val="0"/>
              </a:spcAft>
              <a:buNone/>
            </a:pPr>
            <a:r>
              <a:rPr lang="en-US" sz="1700" dirty="0">
                <a:latin typeface="Times New Roman" panose="02020603050405020304" pitchFamily="18" charset="0"/>
                <a:cs typeface="Times New Roman" panose="02020603050405020304" pitchFamily="18" charset="0"/>
              </a:rPr>
              <a:t>The </a:t>
            </a:r>
            <a:r>
              <a:rPr lang="en-US" sz="1700" b="1" dirty="0">
                <a:latin typeface="Times New Roman" panose="02020603050405020304" pitchFamily="18" charset="0"/>
                <a:cs typeface="Times New Roman" panose="02020603050405020304" pitchFamily="18" charset="0"/>
              </a:rPr>
              <a:t>Bar chart </a:t>
            </a:r>
            <a:r>
              <a:rPr lang="en-US" sz="1700" dirty="0">
                <a:latin typeface="Times New Roman" panose="02020603050405020304" pitchFamily="18" charset="0"/>
                <a:cs typeface="Times New Roman" panose="02020603050405020304" pitchFamily="18" charset="0"/>
              </a:rPr>
              <a:t>visualization provides a comprehensive overview of the incidents reported across different boroughs from 2019 to 2024, highlighting trends over the years.</a:t>
            </a:r>
          </a:p>
          <a:p>
            <a:pPr marL="0" lvl="0" indent="0" eaLnBrk="0" fontAlgn="base" hangingPunct="0">
              <a:lnSpc>
                <a:spcPct val="90000"/>
              </a:lnSpc>
              <a:spcAft>
                <a:spcPct val="0"/>
              </a:spcAft>
              <a:buNone/>
            </a:pPr>
            <a:r>
              <a:rPr lang="en-US" sz="1700" b="1" dirty="0">
                <a:latin typeface="Times New Roman" panose="02020603050405020304" pitchFamily="18" charset="0"/>
                <a:cs typeface="Times New Roman" panose="02020603050405020304" pitchFamily="18" charset="0"/>
              </a:rPr>
              <a:t>Key Insights</a:t>
            </a:r>
          </a:p>
          <a:p>
            <a:pPr eaLnBrk="0" fontAlgn="base" hangingPunct="0">
              <a:lnSpc>
                <a:spcPct val="90000"/>
              </a:lnSpc>
              <a:spcAft>
                <a:spcPct val="0"/>
              </a:spcAft>
            </a:pPr>
            <a:r>
              <a:rPr lang="en-US" sz="1700" b="1" dirty="0">
                <a:latin typeface="Times New Roman" panose="02020603050405020304" pitchFamily="18" charset="0"/>
                <a:cs typeface="Times New Roman" panose="02020603050405020304" pitchFamily="18" charset="0"/>
              </a:rPr>
              <a:t>Incident Trends</a:t>
            </a:r>
            <a:r>
              <a:rPr lang="en-US" sz="1700" dirty="0">
                <a:latin typeface="Times New Roman" panose="02020603050405020304" pitchFamily="18" charset="0"/>
                <a:cs typeface="Times New Roman" panose="02020603050405020304" pitchFamily="18" charset="0"/>
              </a:rPr>
              <a:t>: The graph illustrates the count of complaints received by each borough annually. This allows us to identify patterns, such as increases or decreases in incidents over time.</a:t>
            </a:r>
          </a:p>
          <a:p>
            <a:pPr eaLnBrk="0" fontAlgn="base" hangingPunct="0">
              <a:lnSpc>
                <a:spcPct val="90000"/>
              </a:lnSpc>
              <a:spcAft>
                <a:spcPct val="0"/>
              </a:spcAft>
            </a:pPr>
            <a:r>
              <a:rPr lang="en-US" sz="1700" b="1" dirty="0">
                <a:latin typeface="Times New Roman" panose="02020603050405020304" pitchFamily="18" charset="0"/>
                <a:cs typeface="Times New Roman" panose="02020603050405020304" pitchFamily="18" charset="0"/>
              </a:rPr>
              <a:t>Borough Comparison</a:t>
            </a:r>
            <a:r>
              <a:rPr lang="en-US" sz="1700" dirty="0">
                <a:latin typeface="Times New Roman" panose="02020603050405020304" pitchFamily="18" charset="0"/>
                <a:cs typeface="Times New Roman" panose="02020603050405020304" pitchFamily="18" charset="0"/>
              </a:rPr>
              <a:t>: By comparing the complaint counts across boroughs, we can pinpoint areas with the highest incident rates, which may require targeted interventions or resource allocation.</a:t>
            </a:r>
          </a:p>
          <a:p>
            <a:pPr eaLnBrk="0" fontAlgn="base" hangingPunct="0">
              <a:lnSpc>
                <a:spcPct val="90000"/>
              </a:lnSpc>
              <a:spcAft>
                <a:spcPct val="0"/>
              </a:spcAft>
            </a:pPr>
            <a:r>
              <a:rPr lang="en-US" sz="1700" b="1" dirty="0">
                <a:latin typeface="Times New Roman" panose="02020603050405020304" pitchFamily="18" charset="0"/>
                <a:cs typeface="Times New Roman" panose="02020603050405020304" pitchFamily="18" charset="0"/>
              </a:rPr>
              <a:t>Yearly Analysis: </a:t>
            </a:r>
            <a:r>
              <a:rPr lang="en-US" sz="1700" dirty="0">
                <a:latin typeface="Times New Roman" panose="02020603050405020304" pitchFamily="18" charset="0"/>
                <a:cs typeface="Times New Roman" panose="02020603050405020304" pitchFamily="18" charset="0"/>
              </a:rPr>
              <a:t>The data highlights significant fluctuations in complaints per year, enabling us to investigate the factors contributing to these changes, whether they be policy shifts, demographic changes, or external events.</a:t>
            </a:r>
          </a:p>
          <a:p>
            <a:pPr eaLnBrk="0" fontAlgn="base" hangingPunct="0">
              <a:lnSpc>
                <a:spcPct val="90000"/>
              </a:lnSpc>
              <a:spcAft>
                <a:spcPct val="0"/>
              </a:spcAft>
            </a:pPr>
            <a:r>
              <a:rPr lang="en-US" sz="1700" b="1" dirty="0">
                <a:latin typeface="Times New Roman" panose="02020603050405020304" pitchFamily="18" charset="0"/>
                <a:cs typeface="Times New Roman" panose="02020603050405020304" pitchFamily="18" charset="0"/>
              </a:rPr>
              <a:t>Strategic Decision-Making</a:t>
            </a:r>
            <a:r>
              <a:rPr lang="en-US" sz="1700" dirty="0">
                <a:latin typeface="Times New Roman" panose="02020603050405020304" pitchFamily="18" charset="0"/>
                <a:cs typeface="Times New Roman" panose="02020603050405020304" pitchFamily="18" charset="0"/>
              </a:rPr>
              <a:t>: Understanding these trends can guide strategic decision-making, helping to allocate resources effectively, improve response times, and enhance service delivery.</a:t>
            </a:r>
            <a:endParaRPr lang="sv-SE" sz="17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50B99FF3-D773-575D-E133-CBF454A40F7E}"/>
              </a:ext>
            </a:extLst>
          </p:cNvPr>
          <p:cNvPicPr>
            <a:picLocks noChangeAspect="1"/>
          </p:cNvPicPr>
          <p:nvPr/>
        </p:nvPicPr>
        <p:blipFill>
          <a:blip r:embed="rId4"/>
          <a:stretch>
            <a:fillRect/>
          </a:stretch>
        </p:blipFill>
        <p:spPr>
          <a:xfrm>
            <a:off x="680297" y="1088806"/>
            <a:ext cx="3735090" cy="4630069"/>
          </a:xfrm>
          <a:prstGeom prst="rect">
            <a:avLst/>
          </a:prstGeom>
        </p:spPr>
      </p:pic>
    </p:spTree>
    <p:extLst>
      <p:ext uri="{BB962C8B-B14F-4D97-AF65-F5344CB8AC3E}">
        <p14:creationId xmlns:p14="http://schemas.microsoft.com/office/powerpoint/2010/main" val="2861004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5" name="Picture 1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31">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7385967" y="1325880"/>
            <a:ext cx="4158334" cy="3066507"/>
          </a:xfrm>
          <a:prstGeom prst="rect">
            <a:avLst/>
          </a:prstGeom>
        </p:spPr>
        <p:txBody>
          <a:bodyPr vert="horz" lIns="91440" tIns="45720" rIns="91440" bIns="45720" rtlCol="0" anchor="b">
            <a:normAutofit/>
          </a:bodyPr>
          <a:lstStyle/>
          <a:p>
            <a:pPr>
              <a:spcBef>
                <a:spcPct val="0"/>
              </a:spcBef>
              <a:spcAft>
                <a:spcPts val="600"/>
              </a:spcAft>
            </a:pPr>
            <a:r>
              <a:rPr lang="en-US" sz="5400" b="0" i="0" kern="1200" cap="all" spc="200" baseline="0" dirty="0">
                <a:solidFill>
                  <a:srgbClr val="EBEBEB"/>
                </a:solidFill>
                <a:latin typeface="+mj-lt"/>
                <a:ea typeface="+mj-ea"/>
                <a:cs typeface="+mj-cs"/>
              </a:rPr>
              <a:t>Bar Graph</a:t>
            </a:r>
          </a:p>
        </p:txBody>
      </p:sp>
      <p:sp>
        <p:nvSpPr>
          <p:cNvPr id="33"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49646"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4" name="Freeform: Shape 33">
            <a:extLst>
              <a:ext uri="{FF2B5EF4-FFF2-40B4-BE49-F238E27FC236}">
                <a16:creationId xmlns:a16="http://schemas.microsoft.com/office/drawing/2014/main" id="{D8B22DE2-C518-4F77-BE90-E1B6B1909D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68960" y="-68960"/>
            <a:ext cx="6858001" cy="6995918"/>
          </a:xfrm>
          <a:custGeom>
            <a:avLst/>
            <a:gdLst>
              <a:gd name="connsiteX0" fmla="*/ 6858001 w 6858001"/>
              <a:gd name="connsiteY0" fmla="*/ 1344715 h 6995918"/>
              <a:gd name="connsiteX1" fmla="*/ 6858001 w 6858001"/>
              <a:gd name="connsiteY1" fmla="*/ 1177 h 6995918"/>
              <a:gd name="connsiteX2" fmla="*/ 6702324 w 6858001"/>
              <a:gd name="connsiteY2" fmla="*/ 26222 h 6995918"/>
              <a:gd name="connsiteX3" fmla="*/ 6547333 w 6858001"/>
              <a:gd name="connsiteY3" fmla="*/ 50091 h 6995918"/>
              <a:gd name="connsiteX4" fmla="*/ 6391657 w 6858001"/>
              <a:gd name="connsiteY4" fmla="*/ 73455 h 6995918"/>
              <a:gd name="connsiteX5" fmla="*/ 6235294 w 6858001"/>
              <a:gd name="connsiteY5" fmla="*/ 93458 h 6995918"/>
              <a:gd name="connsiteX6" fmla="*/ 6079618 w 6858001"/>
              <a:gd name="connsiteY6" fmla="*/ 113629 h 6995918"/>
              <a:gd name="connsiteX7" fmla="*/ 5923255 w 6858001"/>
              <a:gd name="connsiteY7" fmla="*/ 132455 h 6995918"/>
              <a:gd name="connsiteX8" fmla="*/ 5768950 w 6858001"/>
              <a:gd name="connsiteY8" fmla="*/ 148591 h 6995918"/>
              <a:gd name="connsiteX9" fmla="*/ 5612588 w 6858001"/>
              <a:gd name="connsiteY9" fmla="*/ 163887 h 6995918"/>
              <a:gd name="connsiteX10" fmla="*/ 5456911 w 6858001"/>
              <a:gd name="connsiteY10" fmla="*/ 177839 h 6995918"/>
              <a:gd name="connsiteX11" fmla="*/ 5303978 w 6858001"/>
              <a:gd name="connsiteY11" fmla="*/ 189941 h 6995918"/>
              <a:gd name="connsiteX12" fmla="*/ 5148987 w 6858001"/>
              <a:gd name="connsiteY12" fmla="*/ 202044 h 6995918"/>
              <a:gd name="connsiteX13" fmla="*/ 4996054 w 6858001"/>
              <a:gd name="connsiteY13" fmla="*/ 212129 h 6995918"/>
              <a:gd name="connsiteX14" fmla="*/ 4843120 w 6858001"/>
              <a:gd name="connsiteY14" fmla="*/ 220029 h 6995918"/>
              <a:gd name="connsiteX15" fmla="*/ 4690873 w 6858001"/>
              <a:gd name="connsiteY15" fmla="*/ 228266 h 6995918"/>
              <a:gd name="connsiteX16" fmla="*/ 4539997 w 6858001"/>
              <a:gd name="connsiteY16" fmla="*/ 235157 h 6995918"/>
              <a:gd name="connsiteX17" fmla="*/ 4390492 w 6858001"/>
              <a:gd name="connsiteY17" fmla="*/ 240032 h 6995918"/>
              <a:gd name="connsiteX18" fmla="*/ 4240988 w 6858001"/>
              <a:gd name="connsiteY18" fmla="*/ 244234 h 6995918"/>
              <a:gd name="connsiteX19" fmla="*/ 4092855 w 6858001"/>
              <a:gd name="connsiteY19" fmla="*/ 248268 h 6995918"/>
              <a:gd name="connsiteX20" fmla="*/ 3946780 w 6858001"/>
              <a:gd name="connsiteY20" fmla="*/ 250117 h 6995918"/>
              <a:gd name="connsiteX21" fmla="*/ 3800704 w 6858001"/>
              <a:gd name="connsiteY21" fmla="*/ 252134 h 6995918"/>
              <a:gd name="connsiteX22" fmla="*/ 3656686 w 6858001"/>
              <a:gd name="connsiteY22" fmla="*/ 253143 h 6995918"/>
              <a:gd name="connsiteX23" fmla="*/ 3514040 w 6858001"/>
              <a:gd name="connsiteY23" fmla="*/ 252134 h 6995918"/>
              <a:gd name="connsiteX24" fmla="*/ 3372765 w 6858001"/>
              <a:gd name="connsiteY24" fmla="*/ 252134 h 6995918"/>
              <a:gd name="connsiteX25" fmla="*/ 3232862 w 6858001"/>
              <a:gd name="connsiteY25" fmla="*/ 250117 h 6995918"/>
              <a:gd name="connsiteX26" fmla="*/ 3095702 w 6858001"/>
              <a:gd name="connsiteY26" fmla="*/ 247092 h 6995918"/>
              <a:gd name="connsiteX27" fmla="*/ 2959914 w 6858001"/>
              <a:gd name="connsiteY27" fmla="*/ 244234 h 6995918"/>
              <a:gd name="connsiteX28" fmla="*/ 2826868 w 6858001"/>
              <a:gd name="connsiteY28" fmla="*/ 241040 h 6995918"/>
              <a:gd name="connsiteX29" fmla="*/ 2694509 w 6858001"/>
              <a:gd name="connsiteY29" fmla="*/ 236166 h 6995918"/>
              <a:gd name="connsiteX30" fmla="*/ 2564208 w 6858001"/>
              <a:gd name="connsiteY30" fmla="*/ 230955 h 6995918"/>
              <a:gd name="connsiteX31" fmla="*/ 2436649 w 6858001"/>
              <a:gd name="connsiteY31" fmla="*/ 226249 h 6995918"/>
              <a:gd name="connsiteX32" fmla="*/ 2187703 w 6858001"/>
              <a:gd name="connsiteY32" fmla="*/ 212969 h 6995918"/>
              <a:gd name="connsiteX33" fmla="*/ 1949045 w 6858001"/>
              <a:gd name="connsiteY33" fmla="*/ 198850 h 6995918"/>
              <a:gd name="connsiteX34" fmla="*/ 1719988 w 6858001"/>
              <a:gd name="connsiteY34" fmla="*/ 184058 h 6995918"/>
              <a:gd name="connsiteX35" fmla="*/ 1503275 w 6858001"/>
              <a:gd name="connsiteY35" fmla="*/ 167753 h 6995918"/>
              <a:gd name="connsiteX36" fmla="*/ 1296163 w 6858001"/>
              <a:gd name="connsiteY36" fmla="*/ 150776 h 6995918"/>
              <a:gd name="connsiteX37" fmla="*/ 1104139 w 6858001"/>
              <a:gd name="connsiteY37" fmla="*/ 132455 h 6995918"/>
              <a:gd name="connsiteX38" fmla="*/ 923774 w 6858001"/>
              <a:gd name="connsiteY38" fmla="*/ 114469 h 6995918"/>
              <a:gd name="connsiteX39" fmla="*/ 757810 w 6858001"/>
              <a:gd name="connsiteY39" fmla="*/ 96484 h 6995918"/>
              <a:gd name="connsiteX40" fmla="*/ 605563 w 6858001"/>
              <a:gd name="connsiteY40" fmla="*/ 79507 h 6995918"/>
              <a:gd name="connsiteX41" fmla="*/ 470460 w 6858001"/>
              <a:gd name="connsiteY41" fmla="*/ 63370 h 6995918"/>
              <a:gd name="connsiteX42" fmla="*/ 348388 w 6858001"/>
              <a:gd name="connsiteY42" fmla="*/ 48074 h 6995918"/>
              <a:gd name="connsiteX43" fmla="*/ 245518 w 6858001"/>
              <a:gd name="connsiteY43" fmla="*/ 35299 h 6995918"/>
              <a:gd name="connsiteX44" fmla="*/ 159107 w 6858001"/>
              <a:gd name="connsiteY44" fmla="*/ 23197 h 6995918"/>
              <a:gd name="connsiteX45" fmla="*/ 40463 w 6858001"/>
              <a:gd name="connsiteY45" fmla="*/ 5883 h 6995918"/>
              <a:gd name="connsiteX46" fmla="*/ 1 w 6858001"/>
              <a:gd name="connsiteY46" fmla="*/ 0 h 6995918"/>
              <a:gd name="connsiteX47" fmla="*/ 1 w 6858001"/>
              <a:gd name="connsiteY47" fmla="*/ 905354 h 6995918"/>
              <a:gd name="connsiteX48" fmla="*/ 0 w 6858001"/>
              <a:gd name="connsiteY48" fmla="*/ 905354 h 6995918"/>
              <a:gd name="connsiteX49" fmla="*/ 0 w 6858001"/>
              <a:gd name="connsiteY49" fmla="*/ 6995918 h 6995918"/>
              <a:gd name="connsiteX50" fmla="*/ 6858000 w 6858001"/>
              <a:gd name="connsiteY50" fmla="*/ 6995918 h 6995918"/>
              <a:gd name="connsiteX51" fmla="*/ 6858000 w 6858001"/>
              <a:gd name="connsiteY51" fmla="*/ 1344715 h 699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95918">
                <a:moveTo>
                  <a:pt x="6858001" y="1344715"/>
                </a:moveTo>
                <a:lnTo>
                  <a:pt x="6858001" y="1177"/>
                </a:lnTo>
                <a:lnTo>
                  <a:pt x="6702324" y="26222"/>
                </a:lnTo>
                <a:lnTo>
                  <a:pt x="6547333" y="50091"/>
                </a:lnTo>
                <a:lnTo>
                  <a:pt x="6391657" y="73455"/>
                </a:lnTo>
                <a:lnTo>
                  <a:pt x="6235294" y="93458"/>
                </a:lnTo>
                <a:lnTo>
                  <a:pt x="6079618" y="113629"/>
                </a:lnTo>
                <a:lnTo>
                  <a:pt x="5923255" y="132455"/>
                </a:lnTo>
                <a:lnTo>
                  <a:pt x="5768950" y="148591"/>
                </a:lnTo>
                <a:lnTo>
                  <a:pt x="5612588" y="163887"/>
                </a:lnTo>
                <a:lnTo>
                  <a:pt x="5456911" y="177839"/>
                </a:lnTo>
                <a:lnTo>
                  <a:pt x="5303978" y="189941"/>
                </a:lnTo>
                <a:lnTo>
                  <a:pt x="5148987" y="202044"/>
                </a:lnTo>
                <a:lnTo>
                  <a:pt x="4996054" y="212129"/>
                </a:lnTo>
                <a:lnTo>
                  <a:pt x="4843120" y="220029"/>
                </a:lnTo>
                <a:lnTo>
                  <a:pt x="4690873" y="228266"/>
                </a:lnTo>
                <a:lnTo>
                  <a:pt x="4539997" y="235157"/>
                </a:lnTo>
                <a:lnTo>
                  <a:pt x="4390492" y="240032"/>
                </a:lnTo>
                <a:lnTo>
                  <a:pt x="4240988" y="244234"/>
                </a:lnTo>
                <a:lnTo>
                  <a:pt x="4092855" y="248268"/>
                </a:lnTo>
                <a:lnTo>
                  <a:pt x="3946780" y="250117"/>
                </a:lnTo>
                <a:lnTo>
                  <a:pt x="3800704" y="252134"/>
                </a:lnTo>
                <a:lnTo>
                  <a:pt x="3656686" y="253143"/>
                </a:lnTo>
                <a:lnTo>
                  <a:pt x="3514040" y="252134"/>
                </a:lnTo>
                <a:lnTo>
                  <a:pt x="3372765" y="252134"/>
                </a:lnTo>
                <a:lnTo>
                  <a:pt x="3232862" y="250117"/>
                </a:lnTo>
                <a:lnTo>
                  <a:pt x="3095702" y="247092"/>
                </a:lnTo>
                <a:lnTo>
                  <a:pt x="2959914" y="244234"/>
                </a:lnTo>
                <a:lnTo>
                  <a:pt x="2826868" y="241040"/>
                </a:lnTo>
                <a:lnTo>
                  <a:pt x="2694509" y="236166"/>
                </a:lnTo>
                <a:lnTo>
                  <a:pt x="2564208" y="230955"/>
                </a:lnTo>
                <a:lnTo>
                  <a:pt x="2436649" y="226249"/>
                </a:lnTo>
                <a:lnTo>
                  <a:pt x="2187703" y="212969"/>
                </a:lnTo>
                <a:lnTo>
                  <a:pt x="1949045" y="198850"/>
                </a:lnTo>
                <a:lnTo>
                  <a:pt x="1719988" y="184058"/>
                </a:lnTo>
                <a:lnTo>
                  <a:pt x="1503275" y="167753"/>
                </a:lnTo>
                <a:lnTo>
                  <a:pt x="1296163" y="150776"/>
                </a:lnTo>
                <a:lnTo>
                  <a:pt x="1104139" y="132455"/>
                </a:lnTo>
                <a:lnTo>
                  <a:pt x="923774" y="114469"/>
                </a:lnTo>
                <a:lnTo>
                  <a:pt x="757810" y="96484"/>
                </a:lnTo>
                <a:lnTo>
                  <a:pt x="605563" y="79507"/>
                </a:lnTo>
                <a:lnTo>
                  <a:pt x="470460" y="63370"/>
                </a:lnTo>
                <a:lnTo>
                  <a:pt x="348388" y="48074"/>
                </a:lnTo>
                <a:lnTo>
                  <a:pt x="245518" y="35299"/>
                </a:lnTo>
                <a:lnTo>
                  <a:pt x="159107" y="23197"/>
                </a:lnTo>
                <a:lnTo>
                  <a:pt x="40463" y="5883"/>
                </a:lnTo>
                <a:lnTo>
                  <a:pt x="1" y="0"/>
                </a:lnTo>
                <a:lnTo>
                  <a:pt x="1" y="905354"/>
                </a:lnTo>
                <a:lnTo>
                  <a:pt x="0" y="905354"/>
                </a:lnTo>
                <a:lnTo>
                  <a:pt x="0" y="6995918"/>
                </a:lnTo>
                <a:lnTo>
                  <a:pt x="6858000" y="6995918"/>
                </a:lnTo>
                <a:lnTo>
                  <a:pt x="6858000" y="1344715"/>
                </a:lnTo>
                <a:close/>
              </a:path>
            </a:pathLst>
          </a:custGeom>
          <a:ln>
            <a:noFill/>
          </a:ln>
        </p:spPr>
        <p:txBody>
          <a:bodyPr/>
          <a:lstStyle/>
          <a:p>
            <a:endParaRPr lang="en-US"/>
          </a:p>
        </p:txBody>
      </p:sp>
      <p:sp>
        <p:nvSpPr>
          <p:cNvPr id="35" name="Rectangle 34">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 name="Picture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3592" y="315567"/>
            <a:ext cx="6180165" cy="6226866"/>
          </a:xfrm>
          <a:prstGeom prst="rect">
            <a:avLst/>
          </a:prstGeom>
          <a:effectLst/>
        </p:spPr>
      </p:pic>
    </p:spTree>
    <p:extLst>
      <p:ext uri="{BB962C8B-B14F-4D97-AF65-F5344CB8AC3E}">
        <p14:creationId xmlns:p14="http://schemas.microsoft.com/office/powerpoint/2010/main" val="2014538895"/>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23320"/>
          <a:stretch/>
        </p:blipFill>
        <p:spPr>
          <a:xfrm>
            <a:off x="8605878" y="6228080"/>
            <a:ext cx="993734" cy="762000"/>
          </a:xfrm>
          <a:prstGeom prst="rect">
            <a:avLst/>
          </a:prstGeom>
        </p:spPr>
      </p:pic>
      <p:sp>
        <p:nvSpPr>
          <p:cNvPr id="23"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p:cNvSpPr>
            <a:spLocks noGrp="1"/>
          </p:cNvSpPr>
          <p:nvPr>
            <p:ph idx="1"/>
          </p:nvPr>
        </p:nvSpPr>
        <p:spPr>
          <a:xfrm>
            <a:off x="4975861" y="804671"/>
            <a:ext cx="6399930" cy="5248657"/>
          </a:xfrm>
        </p:spPr>
        <p:txBody>
          <a:bodyPr anchor="ctr">
            <a:normAutofit/>
          </a:bodyPr>
          <a:lstStyle/>
          <a:p>
            <a:pPr marL="0" lvl="0" indent="0" eaLnBrk="0" fontAlgn="base" hangingPunct="0">
              <a:lnSpc>
                <a:spcPct val="90000"/>
              </a:lnSpc>
              <a:spcAft>
                <a:spcPct val="0"/>
              </a:spcAft>
              <a:buNone/>
            </a:pPr>
            <a:r>
              <a:rPr lang="en-US" sz="1600">
                <a:latin typeface="Times New Roman" panose="02020603050405020304" pitchFamily="18" charset="0"/>
                <a:cs typeface="Times New Roman" panose="02020603050405020304" pitchFamily="18" charset="0"/>
              </a:rPr>
              <a:t>The </a:t>
            </a:r>
            <a:r>
              <a:rPr lang="en-US" sz="1600" b="1">
                <a:latin typeface="Times New Roman" panose="02020603050405020304" pitchFamily="18" charset="0"/>
                <a:cs typeface="Times New Roman" panose="02020603050405020304" pitchFamily="18" charset="0"/>
              </a:rPr>
              <a:t>Line Chart </a:t>
            </a:r>
            <a:r>
              <a:rPr lang="en-US" sz="1600">
                <a:latin typeface="Times New Roman" panose="02020603050405020304" pitchFamily="18" charset="0"/>
                <a:cs typeface="Times New Roman" panose="02020603050405020304" pitchFamily="18" charset="0"/>
              </a:rPr>
              <a:t>presents the number of complaints received each month across various minor categories. It highlights trends and variations in complaints over the year, providing valuable insights into areas that may require targeted attention or resources.</a:t>
            </a:r>
          </a:p>
          <a:p>
            <a:pPr marL="0" lvl="0" indent="0" eaLnBrk="0" fontAlgn="base" hangingPunct="0">
              <a:lnSpc>
                <a:spcPct val="90000"/>
              </a:lnSpc>
              <a:spcAft>
                <a:spcPct val="0"/>
              </a:spcAft>
              <a:buNone/>
            </a:pPr>
            <a:endParaRPr lang="en-US" sz="1600">
              <a:latin typeface="Times New Roman" panose="02020603050405020304" pitchFamily="18" charset="0"/>
              <a:cs typeface="Times New Roman" panose="02020603050405020304" pitchFamily="18" charset="0"/>
            </a:endParaRPr>
          </a:p>
          <a:p>
            <a:pPr marL="0" indent="0">
              <a:lnSpc>
                <a:spcPct val="90000"/>
              </a:lnSpc>
              <a:buNone/>
            </a:pPr>
            <a:r>
              <a:rPr lang="en-US" sz="1600" b="1">
                <a:latin typeface="Times New Roman" panose="02020603050405020304" pitchFamily="18" charset="0"/>
                <a:cs typeface="Times New Roman" panose="02020603050405020304" pitchFamily="18" charset="0"/>
              </a:rPr>
              <a:t>Key insights:</a:t>
            </a:r>
          </a:p>
          <a:p>
            <a:pPr>
              <a:lnSpc>
                <a:spcPct val="90000"/>
              </a:lnSpc>
            </a:pPr>
            <a:r>
              <a:rPr lang="en-US" sz="1600" b="1">
                <a:latin typeface="Times New Roman" panose="02020603050405020304" pitchFamily="18" charset="0"/>
                <a:cs typeface="Times New Roman" panose="02020603050405020304" pitchFamily="18" charset="0"/>
              </a:rPr>
              <a:t>Trend Analysis</a:t>
            </a:r>
            <a:r>
              <a:rPr lang="en-US" sz="1600">
                <a:latin typeface="Times New Roman" panose="02020603050405020304" pitchFamily="18" charset="0"/>
                <a:cs typeface="Times New Roman" panose="02020603050405020304" pitchFamily="18" charset="0"/>
              </a:rPr>
              <a:t>: The line chart allows us to observe how complaints fluctuate month-to-month, identifying peak periods where certain issues are more prevalent.</a:t>
            </a:r>
          </a:p>
          <a:p>
            <a:pPr>
              <a:lnSpc>
                <a:spcPct val="90000"/>
              </a:lnSpc>
            </a:pPr>
            <a:r>
              <a:rPr lang="en-US" sz="1600" b="1">
                <a:latin typeface="Times New Roman" panose="02020603050405020304" pitchFamily="18" charset="0"/>
                <a:cs typeface="Times New Roman" panose="02020603050405020304" pitchFamily="18" charset="0"/>
              </a:rPr>
              <a:t>Category Breakdown</a:t>
            </a:r>
            <a:r>
              <a:rPr lang="en-US" sz="1600">
                <a:latin typeface="Times New Roman" panose="02020603050405020304" pitchFamily="18" charset="0"/>
                <a:cs typeface="Times New Roman" panose="02020603050405020304" pitchFamily="18" charset="0"/>
              </a:rPr>
              <a:t>: Each line represents a different minor category of complaints (e.g., Carbon Monoxide, Electric Gas Range, etc.), which helps in understanding which specific issues are driving the overall complaint volume.</a:t>
            </a:r>
          </a:p>
          <a:p>
            <a:pPr>
              <a:lnSpc>
                <a:spcPct val="90000"/>
              </a:lnSpc>
            </a:pPr>
            <a:r>
              <a:rPr lang="en-US" sz="1600" b="1">
                <a:latin typeface="Times New Roman" panose="02020603050405020304" pitchFamily="18" charset="0"/>
                <a:cs typeface="Times New Roman" panose="02020603050405020304" pitchFamily="18" charset="0"/>
              </a:rPr>
              <a:t>Seasonal Patterns</a:t>
            </a:r>
            <a:r>
              <a:rPr lang="en-US" sz="1600">
                <a:latin typeface="Times New Roman" panose="02020603050405020304" pitchFamily="18" charset="0"/>
                <a:cs typeface="Times New Roman" panose="02020603050405020304" pitchFamily="18" charset="0"/>
              </a:rPr>
              <a:t>: We can analyze whether certain types of complaints are seasonal, enabling proactive measures during peak months.</a:t>
            </a:r>
          </a:p>
          <a:p>
            <a:pPr>
              <a:lnSpc>
                <a:spcPct val="90000"/>
              </a:lnSpc>
            </a:pPr>
            <a:r>
              <a:rPr lang="en-US" sz="1600" b="1">
                <a:latin typeface="Times New Roman" panose="02020603050405020304" pitchFamily="18" charset="0"/>
                <a:cs typeface="Times New Roman" panose="02020603050405020304" pitchFamily="18" charset="0"/>
              </a:rPr>
              <a:t>Actionable Insights</a:t>
            </a:r>
            <a:r>
              <a:rPr lang="en-US" sz="1600">
                <a:latin typeface="Times New Roman" panose="02020603050405020304" pitchFamily="18" charset="0"/>
                <a:cs typeface="Times New Roman" panose="02020603050405020304" pitchFamily="18" charset="0"/>
              </a:rPr>
              <a:t>: By identifying trends, we can allocate resources effectively, implement preventive measures, and improve response strategies to enhance overall service quality.</a:t>
            </a:r>
          </a:p>
          <a:p>
            <a:pPr marL="0" lvl="0" indent="0" eaLnBrk="0" fontAlgn="base" hangingPunct="0">
              <a:lnSpc>
                <a:spcPct val="90000"/>
              </a:lnSpc>
              <a:spcAft>
                <a:spcPct val="0"/>
              </a:spcAft>
              <a:buNone/>
            </a:pPr>
            <a:endParaRPr lang="sv-SE" sz="160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6243223-AB25-BFC1-5044-F55F9335C93A}"/>
              </a:ext>
            </a:extLst>
          </p:cNvPr>
          <p:cNvPicPr>
            <a:picLocks noChangeAspect="1"/>
          </p:cNvPicPr>
          <p:nvPr/>
        </p:nvPicPr>
        <p:blipFill>
          <a:blip r:embed="rId4"/>
          <a:stretch>
            <a:fillRect/>
          </a:stretch>
        </p:blipFill>
        <p:spPr>
          <a:xfrm>
            <a:off x="680297" y="1088806"/>
            <a:ext cx="3735090" cy="4630069"/>
          </a:xfrm>
          <a:prstGeom prst="rect">
            <a:avLst/>
          </a:prstGeom>
        </p:spPr>
      </p:pic>
    </p:spTree>
    <p:extLst>
      <p:ext uri="{BB962C8B-B14F-4D97-AF65-F5344CB8AC3E}">
        <p14:creationId xmlns:p14="http://schemas.microsoft.com/office/powerpoint/2010/main" val="2062728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5" name="Picture 1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0">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7385967" y="1325880"/>
            <a:ext cx="4158334" cy="3066507"/>
          </a:xfrm>
          <a:prstGeom prst="rect">
            <a:avLst/>
          </a:prstGeom>
        </p:spPr>
        <p:txBody>
          <a:bodyPr vert="horz" lIns="91440" tIns="45720" rIns="91440" bIns="45720" rtlCol="0" anchor="b">
            <a:normAutofit/>
          </a:bodyPr>
          <a:lstStyle/>
          <a:p>
            <a:pPr>
              <a:spcBef>
                <a:spcPct val="0"/>
              </a:spcBef>
              <a:spcAft>
                <a:spcPts val="600"/>
              </a:spcAft>
            </a:pPr>
            <a:r>
              <a:rPr lang="en-US" sz="5400" b="0" i="0" kern="1200" cap="all" spc="200" baseline="0" dirty="0">
                <a:solidFill>
                  <a:srgbClr val="EBEBEB"/>
                </a:solidFill>
                <a:latin typeface="+mj-lt"/>
                <a:ea typeface="+mj-ea"/>
                <a:cs typeface="+mj-cs"/>
              </a:rPr>
              <a:t>Line Chart</a:t>
            </a:r>
          </a:p>
        </p:txBody>
      </p:sp>
      <p:sp>
        <p:nvSpPr>
          <p:cNvPr id="23"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49646"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5" name="Freeform: Shape 24">
            <a:extLst>
              <a:ext uri="{FF2B5EF4-FFF2-40B4-BE49-F238E27FC236}">
                <a16:creationId xmlns:a16="http://schemas.microsoft.com/office/drawing/2014/main" id="{D8B22DE2-C518-4F77-BE90-E1B6B1909D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68960" y="-68960"/>
            <a:ext cx="6858001" cy="6995918"/>
          </a:xfrm>
          <a:custGeom>
            <a:avLst/>
            <a:gdLst>
              <a:gd name="connsiteX0" fmla="*/ 6858001 w 6858001"/>
              <a:gd name="connsiteY0" fmla="*/ 1344715 h 6995918"/>
              <a:gd name="connsiteX1" fmla="*/ 6858001 w 6858001"/>
              <a:gd name="connsiteY1" fmla="*/ 1177 h 6995918"/>
              <a:gd name="connsiteX2" fmla="*/ 6702324 w 6858001"/>
              <a:gd name="connsiteY2" fmla="*/ 26222 h 6995918"/>
              <a:gd name="connsiteX3" fmla="*/ 6547333 w 6858001"/>
              <a:gd name="connsiteY3" fmla="*/ 50091 h 6995918"/>
              <a:gd name="connsiteX4" fmla="*/ 6391657 w 6858001"/>
              <a:gd name="connsiteY4" fmla="*/ 73455 h 6995918"/>
              <a:gd name="connsiteX5" fmla="*/ 6235294 w 6858001"/>
              <a:gd name="connsiteY5" fmla="*/ 93458 h 6995918"/>
              <a:gd name="connsiteX6" fmla="*/ 6079618 w 6858001"/>
              <a:gd name="connsiteY6" fmla="*/ 113629 h 6995918"/>
              <a:gd name="connsiteX7" fmla="*/ 5923255 w 6858001"/>
              <a:gd name="connsiteY7" fmla="*/ 132455 h 6995918"/>
              <a:gd name="connsiteX8" fmla="*/ 5768950 w 6858001"/>
              <a:gd name="connsiteY8" fmla="*/ 148591 h 6995918"/>
              <a:gd name="connsiteX9" fmla="*/ 5612588 w 6858001"/>
              <a:gd name="connsiteY9" fmla="*/ 163887 h 6995918"/>
              <a:gd name="connsiteX10" fmla="*/ 5456911 w 6858001"/>
              <a:gd name="connsiteY10" fmla="*/ 177839 h 6995918"/>
              <a:gd name="connsiteX11" fmla="*/ 5303978 w 6858001"/>
              <a:gd name="connsiteY11" fmla="*/ 189941 h 6995918"/>
              <a:gd name="connsiteX12" fmla="*/ 5148987 w 6858001"/>
              <a:gd name="connsiteY12" fmla="*/ 202044 h 6995918"/>
              <a:gd name="connsiteX13" fmla="*/ 4996054 w 6858001"/>
              <a:gd name="connsiteY13" fmla="*/ 212129 h 6995918"/>
              <a:gd name="connsiteX14" fmla="*/ 4843120 w 6858001"/>
              <a:gd name="connsiteY14" fmla="*/ 220029 h 6995918"/>
              <a:gd name="connsiteX15" fmla="*/ 4690873 w 6858001"/>
              <a:gd name="connsiteY15" fmla="*/ 228266 h 6995918"/>
              <a:gd name="connsiteX16" fmla="*/ 4539997 w 6858001"/>
              <a:gd name="connsiteY16" fmla="*/ 235157 h 6995918"/>
              <a:gd name="connsiteX17" fmla="*/ 4390492 w 6858001"/>
              <a:gd name="connsiteY17" fmla="*/ 240032 h 6995918"/>
              <a:gd name="connsiteX18" fmla="*/ 4240988 w 6858001"/>
              <a:gd name="connsiteY18" fmla="*/ 244234 h 6995918"/>
              <a:gd name="connsiteX19" fmla="*/ 4092855 w 6858001"/>
              <a:gd name="connsiteY19" fmla="*/ 248268 h 6995918"/>
              <a:gd name="connsiteX20" fmla="*/ 3946780 w 6858001"/>
              <a:gd name="connsiteY20" fmla="*/ 250117 h 6995918"/>
              <a:gd name="connsiteX21" fmla="*/ 3800704 w 6858001"/>
              <a:gd name="connsiteY21" fmla="*/ 252134 h 6995918"/>
              <a:gd name="connsiteX22" fmla="*/ 3656686 w 6858001"/>
              <a:gd name="connsiteY22" fmla="*/ 253143 h 6995918"/>
              <a:gd name="connsiteX23" fmla="*/ 3514040 w 6858001"/>
              <a:gd name="connsiteY23" fmla="*/ 252134 h 6995918"/>
              <a:gd name="connsiteX24" fmla="*/ 3372765 w 6858001"/>
              <a:gd name="connsiteY24" fmla="*/ 252134 h 6995918"/>
              <a:gd name="connsiteX25" fmla="*/ 3232862 w 6858001"/>
              <a:gd name="connsiteY25" fmla="*/ 250117 h 6995918"/>
              <a:gd name="connsiteX26" fmla="*/ 3095702 w 6858001"/>
              <a:gd name="connsiteY26" fmla="*/ 247092 h 6995918"/>
              <a:gd name="connsiteX27" fmla="*/ 2959914 w 6858001"/>
              <a:gd name="connsiteY27" fmla="*/ 244234 h 6995918"/>
              <a:gd name="connsiteX28" fmla="*/ 2826868 w 6858001"/>
              <a:gd name="connsiteY28" fmla="*/ 241040 h 6995918"/>
              <a:gd name="connsiteX29" fmla="*/ 2694509 w 6858001"/>
              <a:gd name="connsiteY29" fmla="*/ 236166 h 6995918"/>
              <a:gd name="connsiteX30" fmla="*/ 2564208 w 6858001"/>
              <a:gd name="connsiteY30" fmla="*/ 230955 h 6995918"/>
              <a:gd name="connsiteX31" fmla="*/ 2436649 w 6858001"/>
              <a:gd name="connsiteY31" fmla="*/ 226249 h 6995918"/>
              <a:gd name="connsiteX32" fmla="*/ 2187703 w 6858001"/>
              <a:gd name="connsiteY32" fmla="*/ 212969 h 6995918"/>
              <a:gd name="connsiteX33" fmla="*/ 1949045 w 6858001"/>
              <a:gd name="connsiteY33" fmla="*/ 198850 h 6995918"/>
              <a:gd name="connsiteX34" fmla="*/ 1719988 w 6858001"/>
              <a:gd name="connsiteY34" fmla="*/ 184058 h 6995918"/>
              <a:gd name="connsiteX35" fmla="*/ 1503275 w 6858001"/>
              <a:gd name="connsiteY35" fmla="*/ 167753 h 6995918"/>
              <a:gd name="connsiteX36" fmla="*/ 1296163 w 6858001"/>
              <a:gd name="connsiteY36" fmla="*/ 150776 h 6995918"/>
              <a:gd name="connsiteX37" fmla="*/ 1104139 w 6858001"/>
              <a:gd name="connsiteY37" fmla="*/ 132455 h 6995918"/>
              <a:gd name="connsiteX38" fmla="*/ 923774 w 6858001"/>
              <a:gd name="connsiteY38" fmla="*/ 114469 h 6995918"/>
              <a:gd name="connsiteX39" fmla="*/ 757810 w 6858001"/>
              <a:gd name="connsiteY39" fmla="*/ 96484 h 6995918"/>
              <a:gd name="connsiteX40" fmla="*/ 605563 w 6858001"/>
              <a:gd name="connsiteY40" fmla="*/ 79507 h 6995918"/>
              <a:gd name="connsiteX41" fmla="*/ 470460 w 6858001"/>
              <a:gd name="connsiteY41" fmla="*/ 63370 h 6995918"/>
              <a:gd name="connsiteX42" fmla="*/ 348388 w 6858001"/>
              <a:gd name="connsiteY42" fmla="*/ 48074 h 6995918"/>
              <a:gd name="connsiteX43" fmla="*/ 245518 w 6858001"/>
              <a:gd name="connsiteY43" fmla="*/ 35299 h 6995918"/>
              <a:gd name="connsiteX44" fmla="*/ 159107 w 6858001"/>
              <a:gd name="connsiteY44" fmla="*/ 23197 h 6995918"/>
              <a:gd name="connsiteX45" fmla="*/ 40463 w 6858001"/>
              <a:gd name="connsiteY45" fmla="*/ 5883 h 6995918"/>
              <a:gd name="connsiteX46" fmla="*/ 1 w 6858001"/>
              <a:gd name="connsiteY46" fmla="*/ 0 h 6995918"/>
              <a:gd name="connsiteX47" fmla="*/ 1 w 6858001"/>
              <a:gd name="connsiteY47" fmla="*/ 905354 h 6995918"/>
              <a:gd name="connsiteX48" fmla="*/ 0 w 6858001"/>
              <a:gd name="connsiteY48" fmla="*/ 905354 h 6995918"/>
              <a:gd name="connsiteX49" fmla="*/ 0 w 6858001"/>
              <a:gd name="connsiteY49" fmla="*/ 6995918 h 6995918"/>
              <a:gd name="connsiteX50" fmla="*/ 6858000 w 6858001"/>
              <a:gd name="connsiteY50" fmla="*/ 6995918 h 6995918"/>
              <a:gd name="connsiteX51" fmla="*/ 6858000 w 6858001"/>
              <a:gd name="connsiteY51" fmla="*/ 1344715 h 699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95918">
                <a:moveTo>
                  <a:pt x="6858001" y="1344715"/>
                </a:moveTo>
                <a:lnTo>
                  <a:pt x="6858001" y="1177"/>
                </a:lnTo>
                <a:lnTo>
                  <a:pt x="6702324" y="26222"/>
                </a:lnTo>
                <a:lnTo>
                  <a:pt x="6547333" y="50091"/>
                </a:lnTo>
                <a:lnTo>
                  <a:pt x="6391657" y="73455"/>
                </a:lnTo>
                <a:lnTo>
                  <a:pt x="6235294" y="93458"/>
                </a:lnTo>
                <a:lnTo>
                  <a:pt x="6079618" y="113629"/>
                </a:lnTo>
                <a:lnTo>
                  <a:pt x="5923255" y="132455"/>
                </a:lnTo>
                <a:lnTo>
                  <a:pt x="5768950" y="148591"/>
                </a:lnTo>
                <a:lnTo>
                  <a:pt x="5612588" y="163887"/>
                </a:lnTo>
                <a:lnTo>
                  <a:pt x="5456911" y="177839"/>
                </a:lnTo>
                <a:lnTo>
                  <a:pt x="5303978" y="189941"/>
                </a:lnTo>
                <a:lnTo>
                  <a:pt x="5148987" y="202044"/>
                </a:lnTo>
                <a:lnTo>
                  <a:pt x="4996054" y="212129"/>
                </a:lnTo>
                <a:lnTo>
                  <a:pt x="4843120" y="220029"/>
                </a:lnTo>
                <a:lnTo>
                  <a:pt x="4690873" y="228266"/>
                </a:lnTo>
                <a:lnTo>
                  <a:pt x="4539997" y="235157"/>
                </a:lnTo>
                <a:lnTo>
                  <a:pt x="4390492" y="240032"/>
                </a:lnTo>
                <a:lnTo>
                  <a:pt x="4240988" y="244234"/>
                </a:lnTo>
                <a:lnTo>
                  <a:pt x="4092855" y="248268"/>
                </a:lnTo>
                <a:lnTo>
                  <a:pt x="3946780" y="250117"/>
                </a:lnTo>
                <a:lnTo>
                  <a:pt x="3800704" y="252134"/>
                </a:lnTo>
                <a:lnTo>
                  <a:pt x="3656686" y="253143"/>
                </a:lnTo>
                <a:lnTo>
                  <a:pt x="3514040" y="252134"/>
                </a:lnTo>
                <a:lnTo>
                  <a:pt x="3372765" y="252134"/>
                </a:lnTo>
                <a:lnTo>
                  <a:pt x="3232862" y="250117"/>
                </a:lnTo>
                <a:lnTo>
                  <a:pt x="3095702" y="247092"/>
                </a:lnTo>
                <a:lnTo>
                  <a:pt x="2959914" y="244234"/>
                </a:lnTo>
                <a:lnTo>
                  <a:pt x="2826868" y="241040"/>
                </a:lnTo>
                <a:lnTo>
                  <a:pt x="2694509" y="236166"/>
                </a:lnTo>
                <a:lnTo>
                  <a:pt x="2564208" y="230955"/>
                </a:lnTo>
                <a:lnTo>
                  <a:pt x="2436649" y="226249"/>
                </a:lnTo>
                <a:lnTo>
                  <a:pt x="2187703" y="212969"/>
                </a:lnTo>
                <a:lnTo>
                  <a:pt x="1949045" y="198850"/>
                </a:lnTo>
                <a:lnTo>
                  <a:pt x="1719988" y="184058"/>
                </a:lnTo>
                <a:lnTo>
                  <a:pt x="1503275" y="167753"/>
                </a:lnTo>
                <a:lnTo>
                  <a:pt x="1296163" y="150776"/>
                </a:lnTo>
                <a:lnTo>
                  <a:pt x="1104139" y="132455"/>
                </a:lnTo>
                <a:lnTo>
                  <a:pt x="923774" y="114469"/>
                </a:lnTo>
                <a:lnTo>
                  <a:pt x="757810" y="96484"/>
                </a:lnTo>
                <a:lnTo>
                  <a:pt x="605563" y="79507"/>
                </a:lnTo>
                <a:lnTo>
                  <a:pt x="470460" y="63370"/>
                </a:lnTo>
                <a:lnTo>
                  <a:pt x="348388" y="48074"/>
                </a:lnTo>
                <a:lnTo>
                  <a:pt x="245518" y="35299"/>
                </a:lnTo>
                <a:lnTo>
                  <a:pt x="159107" y="23197"/>
                </a:lnTo>
                <a:lnTo>
                  <a:pt x="40463" y="5883"/>
                </a:lnTo>
                <a:lnTo>
                  <a:pt x="1" y="0"/>
                </a:lnTo>
                <a:lnTo>
                  <a:pt x="1" y="905354"/>
                </a:lnTo>
                <a:lnTo>
                  <a:pt x="0" y="905354"/>
                </a:lnTo>
                <a:lnTo>
                  <a:pt x="0" y="6995918"/>
                </a:lnTo>
                <a:lnTo>
                  <a:pt x="6858000" y="6995918"/>
                </a:lnTo>
                <a:lnTo>
                  <a:pt x="6858000" y="1344715"/>
                </a:lnTo>
                <a:close/>
              </a:path>
            </a:pathLst>
          </a:custGeom>
          <a:ln>
            <a:noFill/>
          </a:ln>
        </p:spPr>
        <p:txBody>
          <a:bodyPr/>
          <a:lstStyle/>
          <a:p>
            <a:endParaRPr lang="en-US"/>
          </a:p>
        </p:txBody>
      </p:sp>
      <p:sp>
        <p:nvSpPr>
          <p:cNvPr id="27" name="Rectangle 26">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 name="Picture 2" descr="A graph with lines and numbers&#10;&#10;AI-generated content may be incorrect."/>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8710" y="1505689"/>
            <a:ext cx="6363277" cy="3225337"/>
          </a:xfrm>
          <a:prstGeom prst="rect">
            <a:avLst/>
          </a:prstGeom>
          <a:effectLst/>
        </p:spPr>
      </p:pic>
    </p:spTree>
    <p:extLst>
      <p:ext uri="{BB962C8B-B14F-4D97-AF65-F5344CB8AC3E}">
        <p14:creationId xmlns:p14="http://schemas.microsoft.com/office/powerpoint/2010/main" val="1228221545"/>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ectangle 16">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23320"/>
          <a:stretch/>
        </p:blipFill>
        <p:spPr>
          <a:xfrm>
            <a:off x="8605878" y="6228080"/>
            <a:ext cx="993734" cy="762000"/>
          </a:xfrm>
          <a:prstGeom prst="rect">
            <a:avLst/>
          </a:prstGeom>
        </p:spPr>
      </p:pic>
      <p:sp>
        <p:nvSpPr>
          <p:cNvPr id="23"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0" name="Content Placeholder 9"/>
          <p:cNvSpPr>
            <a:spLocks noGrp="1"/>
          </p:cNvSpPr>
          <p:nvPr>
            <p:ph idx="1"/>
          </p:nvPr>
        </p:nvSpPr>
        <p:spPr>
          <a:xfrm>
            <a:off x="4975861" y="804671"/>
            <a:ext cx="6399930" cy="5248657"/>
          </a:xfrm>
        </p:spPr>
        <p:txBody>
          <a:bodyPr anchor="ctr">
            <a:normAutofit/>
          </a:bodyPr>
          <a:lstStyle/>
          <a:p>
            <a:pPr marL="0" lvl="0" indent="0" eaLnBrk="0" fontAlgn="base" hangingPunct="0">
              <a:lnSpc>
                <a:spcPct val="90000"/>
              </a:lnSpc>
              <a:spcAft>
                <a:spcPct val="0"/>
              </a:spcAft>
              <a:buNone/>
            </a:pPr>
            <a:r>
              <a:rPr lang="en-US" sz="1700" dirty="0">
                <a:latin typeface="Times New Roman" panose="02020603050405020304" pitchFamily="18" charset="0"/>
                <a:cs typeface="Times New Roman" panose="02020603050405020304" pitchFamily="18" charset="0"/>
              </a:rPr>
              <a:t>The </a:t>
            </a:r>
            <a:r>
              <a:rPr lang="en-US" sz="1700" b="1" dirty="0">
                <a:latin typeface="Times New Roman" panose="02020603050405020304" pitchFamily="18" charset="0"/>
                <a:cs typeface="Times New Roman" panose="02020603050405020304" pitchFamily="18" charset="0"/>
              </a:rPr>
              <a:t>Pie Chart </a:t>
            </a:r>
            <a:r>
              <a:rPr lang="en-US" sz="1700" dirty="0">
                <a:latin typeface="Times New Roman" panose="02020603050405020304" pitchFamily="18" charset="0"/>
                <a:cs typeface="Times New Roman" panose="02020603050405020304" pitchFamily="18" charset="0"/>
              </a:rPr>
              <a:t>presents the average response times for various major complaint categories. Understanding these response times is critical for evaluating the efficiency of service delivery and identifying areas for improvement.</a:t>
            </a:r>
          </a:p>
          <a:p>
            <a:pPr marL="0" lvl="0" indent="0" eaLnBrk="0" fontAlgn="base" hangingPunct="0">
              <a:lnSpc>
                <a:spcPct val="90000"/>
              </a:lnSpc>
              <a:spcAft>
                <a:spcPct val="0"/>
              </a:spcAft>
              <a:buNone/>
            </a:pPr>
            <a:endParaRPr lang="en-US" sz="1700" dirty="0">
              <a:latin typeface="Times New Roman" panose="02020603050405020304" pitchFamily="18" charset="0"/>
              <a:cs typeface="Times New Roman" panose="02020603050405020304" pitchFamily="18" charset="0"/>
            </a:endParaRPr>
          </a:p>
          <a:p>
            <a:pPr marL="0" indent="0">
              <a:lnSpc>
                <a:spcPct val="90000"/>
              </a:lnSpc>
              <a:buNone/>
            </a:pPr>
            <a:r>
              <a:rPr lang="en-US" sz="1700" b="1" dirty="0">
                <a:latin typeface="Times New Roman" panose="02020603050405020304" pitchFamily="18" charset="0"/>
                <a:cs typeface="Times New Roman" panose="02020603050405020304" pitchFamily="18" charset="0"/>
              </a:rPr>
              <a:t>Key Insights:</a:t>
            </a:r>
          </a:p>
          <a:p>
            <a:pPr>
              <a:lnSpc>
                <a:spcPct val="90000"/>
              </a:lnSpc>
            </a:pPr>
            <a:r>
              <a:rPr lang="en-US" sz="1700" b="1" dirty="0">
                <a:latin typeface="Times New Roman" panose="02020603050405020304" pitchFamily="18" charset="0"/>
                <a:cs typeface="Times New Roman" panose="02020603050405020304" pitchFamily="18" charset="0"/>
              </a:rPr>
              <a:t>Performance Overview</a:t>
            </a:r>
            <a:r>
              <a:rPr lang="en-US" sz="1700" dirty="0">
                <a:latin typeface="Times New Roman" panose="02020603050405020304" pitchFamily="18" charset="0"/>
                <a:cs typeface="Times New Roman" panose="02020603050405020304" pitchFamily="18" charset="0"/>
              </a:rPr>
              <a:t>: Each segment of the pie chart represents a major category of complaints, such as Appliance, Electric, Heat/Hot Water, Plumbing, Unsanitary Conditions, and Water Leak. The average response times are indicated in seconds, providing a clear comparison across categories.</a:t>
            </a:r>
          </a:p>
          <a:p>
            <a:pPr>
              <a:lnSpc>
                <a:spcPct val="90000"/>
              </a:lnSpc>
            </a:pPr>
            <a:r>
              <a:rPr lang="en-US" sz="1700" b="1" dirty="0">
                <a:latin typeface="Times New Roman" panose="02020603050405020304" pitchFamily="18" charset="0"/>
                <a:cs typeface="Times New Roman" panose="02020603050405020304" pitchFamily="18" charset="0"/>
              </a:rPr>
              <a:t>Identifying Priorities</a:t>
            </a:r>
            <a:r>
              <a:rPr lang="en-US" sz="1700" dirty="0">
                <a:latin typeface="Times New Roman" panose="02020603050405020304" pitchFamily="18" charset="0"/>
                <a:cs typeface="Times New Roman" panose="02020603050405020304" pitchFamily="18" charset="0"/>
              </a:rPr>
              <a:t>: By analyzing these averages, we can pinpoint which categories may require additional resources or process improvements to enhance our response times.</a:t>
            </a:r>
          </a:p>
          <a:p>
            <a:pPr>
              <a:lnSpc>
                <a:spcPct val="90000"/>
              </a:lnSpc>
            </a:pPr>
            <a:r>
              <a:rPr lang="en-US" sz="1700" b="1" dirty="0">
                <a:latin typeface="Times New Roman" panose="02020603050405020304" pitchFamily="18" charset="0"/>
                <a:cs typeface="Times New Roman" panose="02020603050405020304" pitchFamily="18" charset="0"/>
              </a:rPr>
              <a:t>Goal Alignment</a:t>
            </a:r>
            <a:r>
              <a:rPr lang="en-US" sz="1700" dirty="0">
                <a:latin typeface="Times New Roman" panose="02020603050405020304" pitchFamily="18" charset="0"/>
                <a:cs typeface="Times New Roman" panose="02020603050405020304" pitchFamily="18" charset="0"/>
              </a:rPr>
              <a:t>: This data aligns with our goal of improving customer satisfaction and ensuring timely resolutions to complaints.</a:t>
            </a:r>
          </a:p>
          <a:p>
            <a:pPr eaLnBrk="0" fontAlgn="base" hangingPunct="0">
              <a:lnSpc>
                <a:spcPct val="90000"/>
              </a:lnSpc>
              <a:spcAft>
                <a:spcPct val="0"/>
              </a:spcAft>
            </a:pPr>
            <a:endParaRPr lang="sv-SE" sz="17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771583E7-1218-E228-D19A-98A560728E86}"/>
              </a:ext>
            </a:extLst>
          </p:cNvPr>
          <p:cNvPicPr>
            <a:picLocks noChangeAspect="1"/>
          </p:cNvPicPr>
          <p:nvPr/>
        </p:nvPicPr>
        <p:blipFill>
          <a:blip r:embed="rId4"/>
          <a:stretch>
            <a:fillRect/>
          </a:stretch>
        </p:blipFill>
        <p:spPr>
          <a:xfrm>
            <a:off x="680297" y="1088806"/>
            <a:ext cx="3735090" cy="4630069"/>
          </a:xfrm>
          <a:prstGeom prst="rect">
            <a:avLst/>
          </a:prstGeom>
        </p:spPr>
      </p:pic>
    </p:spTree>
    <p:extLst>
      <p:ext uri="{BB962C8B-B14F-4D97-AF65-F5344CB8AC3E}">
        <p14:creationId xmlns:p14="http://schemas.microsoft.com/office/powerpoint/2010/main" val="1340356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AA89BB-1A88-EB7F-BD5A-3BDE73D5C7C6}"/>
            </a:ext>
          </a:extLst>
        </p:cNvPr>
        <p:cNvGrpSpPr/>
        <p:nvPr/>
      </p:nvGrpSpPr>
      <p:grpSpPr>
        <a:xfrm>
          <a:off x="0" y="0"/>
          <a:ext cx="0" cy="0"/>
          <a:chOff x="0" y="0"/>
          <a:chExt cx="0" cy="0"/>
        </a:xfrm>
      </p:grpSpPr>
      <p:pic>
        <p:nvPicPr>
          <p:cNvPr id="45" name="Picture 44">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47" name="Picture 46">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49" name="Oval 48">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1" name="Picture 50">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52" name="Picture 51">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53" name="Rectangle 52">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4" name="Rectangle 43">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5BC5A7A-6D89-EBFE-19E3-D136E76CD4CC}"/>
              </a:ext>
            </a:extLst>
          </p:cNvPr>
          <p:cNvSpPr txBox="1"/>
          <p:nvPr/>
        </p:nvSpPr>
        <p:spPr>
          <a:xfrm>
            <a:off x="8191925" y="1325880"/>
            <a:ext cx="3352375" cy="3066507"/>
          </a:xfrm>
          <a:prstGeom prst="rect">
            <a:avLst/>
          </a:prstGeom>
        </p:spPr>
        <p:txBody>
          <a:bodyPr vert="horz" lIns="91440" tIns="45720" rIns="91440" bIns="45720" rtlCol="0" anchor="b">
            <a:normAutofit/>
          </a:bodyPr>
          <a:lstStyle/>
          <a:p>
            <a:pPr>
              <a:spcBef>
                <a:spcPct val="0"/>
              </a:spcBef>
              <a:spcAft>
                <a:spcPts val="600"/>
              </a:spcAft>
            </a:pPr>
            <a:r>
              <a:rPr lang="en-US" sz="5400" b="0" i="0" kern="1200" cap="all" spc="200" baseline="0" dirty="0">
                <a:solidFill>
                  <a:srgbClr val="EBEBEB"/>
                </a:solidFill>
                <a:latin typeface="+mj-lt"/>
                <a:ea typeface="+mj-ea"/>
                <a:cs typeface="+mj-cs"/>
              </a:rPr>
              <a:t>Pie Chart</a:t>
            </a:r>
          </a:p>
        </p:txBody>
      </p:sp>
      <p:sp>
        <p:nvSpPr>
          <p:cNvPr id="46"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48" name="Freeform: Shape 47">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809954" cy="68580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Rectangle 49">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 name="Picture 1">
            <a:extLst>
              <a:ext uri="{FF2B5EF4-FFF2-40B4-BE49-F238E27FC236}">
                <a16:creationId xmlns:a16="http://schemas.microsoft.com/office/drawing/2014/main" id="{E11F2056-A657-A2D5-22CD-673BF6AA759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9630" y="1446144"/>
            <a:ext cx="6828707" cy="3546238"/>
          </a:xfrm>
          <a:prstGeom prst="rect">
            <a:avLst/>
          </a:prstGeom>
          <a:effectLst/>
        </p:spPr>
      </p:pic>
      <p:pic>
        <p:nvPicPr>
          <p:cNvPr id="5" name="Picture 4">
            <a:extLst>
              <a:ext uri="{FF2B5EF4-FFF2-40B4-BE49-F238E27FC236}">
                <a16:creationId xmlns:a16="http://schemas.microsoft.com/office/drawing/2014/main" id="{E6E52038-8B69-967F-9A66-E5A599FB68E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11465" y="2442565"/>
            <a:ext cx="2276556" cy="1738045"/>
          </a:xfrm>
          <a:prstGeom prst="rect">
            <a:avLst/>
          </a:prstGeom>
        </p:spPr>
      </p:pic>
    </p:spTree>
    <p:extLst>
      <p:ext uri="{BB962C8B-B14F-4D97-AF65-F5344CB8AC3E}">
        <p14:creationId xmlns:p14="http://schemas.microsoft.com/office/powerpoint/2010/main" val="4236041926"/>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23320"/>
          <a:stretch/>
        </p:blipFill>
        <p:spPr>
          <a:xfrm>
            <a:off x="8605878" y="6228080"/>
            <a:ext cx="993734" cy="762000"/>
          </a:xfrm>
          <a:prstGeom prst="rect">
            <a:avLst/>
          </a:prstGeom>
        </p:spPr>
      </p:pic>
      <p:sp>
        <p:nvSpPr>
          <p:cNvPr id="17"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3" name="Title 2">
            <a:extLst>
              <a:ext uri="{FF2B5EF4-FFF2-40B4-BE49-F238E27FC236}">
                <a16:creationId xmlns:a16="http://schemas.microsoft.com/office/drawing/2014/main" id="{0C5A0E12-A308-9BC9-3DA8-228E6ABA18B5}"/>
              </a:ext>
            </a:extLst>
          </p:cNvPr>
          <p:cNvSpPr>
            <a:spLocks noGrp="1"/>
          </p:cNvSpPr>
          <p:nvPr>
            <p:ph type="title"/>
          </p:nvPr>
        </p:nvSpPr>
        <p:spPr>
          <a:xfrm>
            <a:off x="806195" y="804672"/>
            <a:ext cx="3521359" cy="5248656"/>
          </a:xfrm>
        </p:spPr>
        <p:txBody>
          <a:bodyPr anchor="ctr">
            <a:normAutofit/>
          </a:bodyPr>
          <a:lstStyle/>
          <a:p>
            <a:pPr algn="ctr"/>
            <a:r>
              <a:rPr lang="en-US" dirty="0"/>
              <a:t>               Summary</a:t>
            </a:r>
          </a:p>
        </p:txBody>
      </p:sp>
      <p:sp>
        <p:nvSpPr>
          <p:cNvPr id="4" name="Content Placeholder 3">
            <a:extLst>
              <a:ext uri="{FF2B5EF4-FFF2-40B4-BE49-F238E27FC236}">
                <a16:creationId xmlns:a16="http://schemas.microsoft.com/office/drawing/2014/main" id="{7C337F64-F221-93BE-6CA8-3CC5AD2812BD}"/>
              </a:ext>
            </a:extLst>
          </p:cNvPr>
          <p:cNvSpPr>
            <a:spLocks noGrp="1"/>
          </p:cNvSpPr>
          <p:nvPr>
            <p:ph idx="1"/>
          </p:nvPr>
        </p:nvSpPr>
        <p:spPr>
          <a:xfrm>
            <a:off x="4722924" y="514905"/>
            <a:ext cx="6991155" cy="5823751"/>
          </a:xfrm>
        </p:spPr>
        <p:txBody>
          <a:bodyPr anchor="ctr">
            <a:normAutofit/>
          </a:bodyPr>
          <a:lstStyle/>
          <a:p>
            <a:pPr marL="0" indent="0">
              <a:lnSpc>
                <a:spcPct val="90000"/>
              </a:lnSpc>
              <a:buNone/>
            </a:pPr>
            <a:r>
              <a:rPr lang="en-US" sz="1600" dirty="0">
                <a:latin typeface="Times New Roman" panose="02020603050405020304" pitchFamily="18" charset="0"/>
                <a:cs typeface="Times New Roman" panose="02020603050405020304" pitchFamily="18" charset="0"/>
              </a:rPr>
              <a:t>The project "Data-Driven Enforcement for Improved Housing Conditions and Code Compliance in NYC" analyzes complaint trends from 2019 to 2024 to improve tenant experiences. It examines incident types, response times, and borough-specific patterns to optimize resource allocation and operational efficiency.</a:t>
            </a:r>
          </a:p>
          <a:p>
            <a:pPr marL="0" indent="0">
              <a:lnSpc>
                <a:spcPct val="90000"/>
              </a:lnSpc>
              <a:buNone/>
            </a:pPr>
            <a:r>
              <a:rPr lang="en-US" sz="1600" b="1" dirty="0">
                <a:latin typeface="Times New Roman" panose="02020603050405020304" pitchFamily="18" charset="0"/>
                <a:cs typeface="Times New Roman" panose="02020603050405020304" pitchFamily="18" charset="0"/>
              </a:rPr>
              <a:t>Key Findings</a:t>
            </a:r>
            <a:r>
              <a:rPr lang="en-US" sz="1600" dirty="0">
                <a:latin typeface="Times New Roman" panose="02020603050405020304" pitchFamily="18" charset="0"/>
                <a:cs typeface="Times New Roman" panose="02020603050405020304" pitchFamily="18" charset="0"/>
              </a:rPr>
              <a:t>:</a:t>
            </a:r>
          </a:p>
          <a:p>
            <a:pPr lvl="1">
              <a:lnSpc>
                <a:spcPct val="90000"/>
              </a:lnSpc>
            </a:pPr>
            <a:r>
              <a:rPr lang="en-US" sz="1400" dirty="0">
                <a:latin typeface="Times New Roman" panose="02020603050405020304" pitchFamily="18" charset="0"/>
                <a:cs typeface="Times New Roman" panose="02020603050405020304" pitchFamily="18" charset="0"/>
              </a:rPr>
              <a:t>Complaint volumes vary over time and by borough, highlighting priority areas.</a:t>
            </a:r>
          </a:p>
          <a:p>
            <a:pPr lvl="1">
              <a:lnSpc>
                <a:spcPct val="90000"/>
              </a:lnSpc>
            </a:pPr>
            <a:r>
              <a:rPr lang="en-US" sz="1400" dirty="0">
                <a:latin typeface="Times New Roman" panose="02020603050405020304" pitchFamily="18" charset="0"/>
                <a:cs typeface="Times New Roman" panose="02020603050405020304" pitchFamily="18" charset="0"/>
              </a:rPr>
              <a:t>Incident analysis reveals operational strengths and areas needing more resources.</a:t>
            </a:r>
          </a:p>
          <a:p>
            <a:pPr lvl="1">
              <a:lnSpc>
                <a:spcPct val="90000"/>
              </a:lnSpc>
            </a:pPr>
            <a:r>
              <a:rPr lang="en-US" sz="1400" dirty="0">
                <a:latin typeface="Times New Roman" panose="02020603050405020304" pitchFamily="18" charset="0"/>
                <a:cs typeface="Times New Roman" panose="02020603050405020304" pitchFamily="18" charset="0"/>
              </a:rPr>
              <a:t>Differentiating unit types (apartment vs. building-wide) helps tailor maintenance strategies. </a:t>
            </a:r>
          </a:p>
          <a:p>
            <a:pPr lvl="1">
              <a:lnSpc>
                <a:spcPct val="90000"/>
              </a:lnSpc>
            </a:pPr>
            <a:r>
              <a:rPr lang="en-US" sz="1400" dirty="0">
                <a:latin typeface="Times New Roman" panose="02020603050405020304" pitchFamily="18" charset="0"/>
                <a:cs typeface="Times New Roman" panose="02020603050405020304" pitchFamily="18" charset="0"/>
              </a:rPr>
              <a:t>Seasonal patterns and performance metrics guide proactive measures and customer satisfaction improvements.</a:t>
            </a:r>
          </a:p>
          <a:p>
            <a:pPr marL="0" indent="0">
              <a:lnSpc>
                <a:spcPct val="90000"/>
              </a:lnSpc>
              <a:buNone/>
            </a:pPr>
            <a:r>
              <a:rPr lang="en-US" sz="1600" b="1" dirty="0">
                <a:latin typeface="Times New Roman" panose="02020603050405020304" pitchFamily="18" charset="0"/>
                <a:cs typeface="Times New Roman" panose="02020603050405020304" pitchFamily="18" charset="0"/>
              </a:rPr>
              <a:t>Conclusion:</a:t>
            </a:r>
          </a:p>
          <a:p>
            <a:pPr marL="0" indent="0">
              <a:lnSpc>
                <a:spcPct val="90000"/>
              </a:lnSpc>
              <a:buNone/>
            </a:pPr>
            <a:r>
              <a:rPr lang="en-US" sz="1400" dirty="0">
                <a:latin typeface="Times New Roman" panose="02020603050405020304" pitchFamily="18" charset="0"/>
                <a:cs typeface="Times New Roman" panose="02020603050405020304" pitchFamily="18" charset="0"/>
              </a:rPr>
              <a:t>This data-driven analysis informs strategic decision-making, enhances resource allocation, and improves housing conditions and code compliance across NYC, ultimately leading to better tenant experiences.</a:t>
            </a:r>
          </a:p>
        </p:txBody>
      </p:sp>
    </p:spTree>
    <p:extLst>
      <p:ext uri="{BB962C8B-B14F-4D97-AF65-F5344CB8AC3E}">
        <p14:creationId xmlns:p14="http://schemas.microsoft.com/office/powerpoint/2010/main" val="1561986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A061601-468D-486D-B8EE-42BD1BE3ADCC}"/>
              </a:ext>
            </a:extLst>
          </p:cNvPr>
          <p:cNvSpPr>
            <a:spLocks noGrp="1"/>
          </p:cNvSpPr>
          <p:nvPr>
            <p:ph type="ctrTitle"/>
          </p:nvPr>
        </p:nvSpPr>
        <p:spPr>
          <a:xfrm>
            <a:off x="7400518" y="1447800"/>
            <a:ext cx="4143781" cy="3096987"/>
          </a:xfrm>
        </p:spPr>
        <p:txBody>
          <a:bodyPr lIns="0" tIns="0" rIns="0" bIns="0">
            <a:normAutofit/>
          </a:bodyPr>
          <a:lstStyle/>
          <a:p>
            <a:r>
              <a:rPr lang="en-US" sz="5400" b="1"/>
              <a:t>Thank You</a:t>
            </a:r>
            <a:endParaRPr lang="en-US" sz="5400"/>
          </a:p>
        </p:txBody>
      </p:sp>
      <p:sp>
        <p:nvSpPr>
          <p:cNvPr id="20" name="Freeform: Shape 19">
            <a:extLst>
              <a:ext uri="{FF2B5EF4-FFF2-40B4-BE49-F238E27FC236}">
                <a16:creationId xmlns:a16="http://schemas.microsoft.com/office/drawing/2014/main" id="{E1C4BA7C-A6A2-4500-B971-6AA7E6436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68960" y="-68960"/>
            <a:ext cx="6858001" cy="6995918"/>
          </a:xfrm>
          <a:custGeom>
            <a:avLst/>
            <a:gdLst>
              <a:gd name="connsiteX0" fmla="*/ 6858001 w 6858001"/>
              <a:gd name="connsiteY0" fmla="*/ 1344715 h 6995918"/>
              <a:gd name="connsiteX1" fmla="*/ 6858001 w 6858001"/>
              <a:gd name="connsiteY1" fmla="*/ 1177 h 6995918"/>
              <a:gd name="connsiteX2" fmla="*/ 6702324 w 6858001"/>
              <a:gd name="connsiteY2" fmla="*/ 26222 h 6995918"/>
              <a:gd name="connsiteX3" fmla="*/ 6547333 w 6858001"/>
              <a:gd name="connsiteY3" fmla="*/ 50091 h 6995918"/>
              <a:gd name="connsiteX4" fmla="*/ 6391657 w 6858001"/>
              <a:gd name="connsiteY4" fmla="*/ 73455 h 6995918"/>
              <a:gd name="connsiteX5" fmla="*/ 6235294 w 6858001"/>
              <a:gd name="connsiteY5" fmla="*/ 93458 h 6995918"/>
              <a:gd name="connsiteX6" fmla="*/ 6079618 w 6858001"/>
              <a:gd name="connsiteY6" fmla="*/ 113629 h 6995918"/>
              <a:gd name="connsiteX7" fmla="*/ 5923255 w 6858001"/>
              <a:gd name="connsiteY7" fmla="*/ 132455 h 6995918"/>
              <a:gd name="connsiteX8" fmla="*/ 5768950 w 6858001"/>
              <a:gd name="connsiteY8" fmla="*/ 148591 h 6995918"/>
              <a:gd name="connsiteX9" fmla="*/ 5612588 w 6858001"/>
              <a:gd name="connsiteY9" fmla="*/ 163887 h 6995918"/>
              <a:gd name="connsiteX10" fmla="*/ 5456911 w 6858001"/>
              <a:gd name="connsiteY10" fmla="*/ 177839 h 6995918"/>
              <a:gd name="connsiteX11" fmla="*/ 5303978 w 6858001"/>
              <a:gd name="connsiteY11" fmla="*/ 189941 h 6995918"/>
              <a:gd name="connsiteX12" fmla="*/ 5148987 w 6858001"/>
              <a:gd name="connsiteY12" fmla="*/ 202044 h 6995918"/>
              <a:gd name="connsiteX13" fmla="*/ 4996054 w 6858001"/>
              <a:gd name="connsiteY13" fmla="*/ 212129 h 6995918"/>
              <a:gd name="connsiteX14" fmla="*/ 4843120 w 6858001"/>
              <a:gd name="connsiteY14" fmla="*/ 220029 h 6995918"/>
              <a:gd name="connsiteX15" fmla="*/ 4690873 w 6858001"/>
              <a:gd name="connsiteY15" fmla="*/ 228266 h 6995918"/>
              <a:gd name="connsiteX16" fmla="*/ 4539997 w 6858001"/>
              <a:gd name="connsiteY16" fmla="*/ 235157 h 6995918"/>
              <a:gd name="connsiteX17" fmla="*/ 4390492 w 6858001"/>
              <a:gd name="connsiteY17" fmla="*/ 240032 h 6995918"/>
              <a:gd name="connsiteX18" fmla="*/ 4240988 w 6858001"/>
              <a:gd name="connsiteY18" fmla="*/ 244234 h 6995918"/>
              <a:gd name="connsiteX19" fmla="*/ 4092855 w 6858001"/>
              <a:gd name="connsiteY19" fmla="*/ 248268 h 6995918"/>
              <a:gd name="connsiteX20" fmla="*/ 3946780 w 6858001"/>
              <a:gd name="connsiteY20" fmla="*/ 250117 h 6995918"/>
              <a:gd name="connsiteX21" fmla="*/ 3800704 w 6858001"/>
              <a:gd name="connsiteY21" fmla="*/ 252134 h 6995918"/>
              <a:gd name="connsiteX22" fmla="*/ 3656686 w 6858001"/>
              <a:gd name="connsiteY22" fmla="*/ 253143 h 6995918"/>
              <a:gd name="connsiteX23" fmla="*/ 3514040 w 6858001"/>
              <a:gd name="connsiteY23" fmla="*/ 252134 h 6995918"/>
              <a:gd name="connsiteX24" fmla="*/ 3372765 w 6858001"/>
              <a:gd name="connsiteY24" fmla="*/ 252134 h 6995918"/>
              <a:gd name="connsiteX25" fmla="*/ 3232862 w 6858001"/>
              <a:gd name="connsiteY25" fmla="*/ 250117 h 6995918"/>
              <a:gd name="connsiteX26" fmla="*/ 3095702 w 6858001"/>
              <a:gd name="connsiteY26" fmla="*/ 247092 h 6995918"/>
              <a:gd name="connsiteX27" fmla="*/ 2959914 w 6858001"/>
              <a:gd name="connsiteY27" fmla="*/ 244234 h 6995918"/>
              <a:gd name="connsiteX28" fmla="*/ 2826868 w 6858001"/>
              <a:gd name="connsiteY28" fmla="*/ 241040 h 6995918"/>
              <a:gd name="connsiteX29" fmla="*/ 2694509 w 6858001"/>
              <a:gd name="connsiteY29" fmla="*/ 236166 h 6995918"/>
              <a:gd name="connsiteX30" fmla="*/ 2564208 w 6858001"/>
              <a:gd name="connsiteY30" fmla="*/ 230955 h 6995918"/>
              <a:gd name="connsiteX31" fmla="*/ 2436649 w 6858001"/>
              <a:gd name="connsiteY31" fmla="*/ 226249 h 6995918"/>
              <a:gd name="connsiteX32" fmla="*/ 2187703 w 6858001"/>
              <a:gd name="connsiteY32" fmla="*/ 212969 h 6995918"/>
              <a:gd name="connsiteX33" fmla="*/ 1949045 w 6858001"/>
              <a:gd name="connsiteY33" fmla="*/ 198850 h 6995918"/>
              <a:gd name="connsiteX34" fmla="*/ 1719988 w 6858001"/>
              <a:gd name="connsiteY34" fmla="*/ 184058 h 6995918"/>
              <a:gd name="connsiteX35" fmla="*/ 1503275 w 6858001"/>
              <a:gd name="connsiteY35" fmla="*/ 167753 h 6995918"/>
              <a:gd name="connsiteX36" fmla="*/ 1296163 w 6858001"/>
              <a:gd name="connsiteY36" fmla="*/ 150776 h 6995918"/>
              <a:gd name="connsiteX37" fmla="*/ 1104139 w 6858001"/>
              <a:gd name="connsiteY37" fmla="*/ 132455 h 6995918"/>
              <a:gd name="connsiteX38" fmla="*/ 923774 w 6858001"/>
              <a:gd name="connsiteY38" fmla="*/ 114469 h 6995918"/>
              <a:gd name="connsiteX39" fmla="*/ 757810 w 6858001"/>
              <a:gd name="connsiteY39" fmla="*/ 96484 h 6995918"/>
              <a:gd name="connsiteX40" fmla="*/ 605563 w 6858001"/>
              <a:gd name="connsiteY40" fmla="*/ 79507 h 6995918"/>
              <a:gd name="connsiteX41" fmla="*/ 470460 w 6858001"/>
              <a:gd name="connsiteY41" fmla="*/ 63370 h 6995918"/>
              <a:gd name="connsiteX42" fmla="*/ 348388 w 6858001"/>
              <a:gd name="connsiteY42" fmla="*/ 48074 h 6995918"/>
              <a:gd name="connsiteX43" fmla="*/ 245518 w 6858001"/>
              <a:gd name="connsiteY43" fmla="*/ 35299 h 6995918"/>
              <a:gd name="connsiteX44" fmla="*/ 159107 w 6858001"/>
              <a:gd name="connsiteY44" fmla="*/ 23197 h 6995918"/>
              <a:gd name="connsiteX45" fmla="*/ 40463 w 6858001"/>
              <a:gd name="connsiteY45" fmla="*/ 5883 h 6995918"/>
              <a:gd name="connsiteX46" fmla="*/ 1 w 6858001"/>
              <a:gd name="connsiteY46" fmla="*/ 0 h 6995918"/>
              <a:gd name="connsiteX47" fmla="*/ 1 w 6858001"/>
              <a:gd name="connsiteY47" fmla="*/ 905354 h 6995918"/>
              <a:gd name="connsiteX48" fmla="*/ 0 w 6858001"/>
              <a:gd name="connsiteY48" fmla="*/ 905354 h 6995918"/>
              <a:gd name="connsiteX49" fmla="*/ 0 w 6858001"/>
              <a:gd name="connsiteY49" fmla="*/ 6995918 h 6995918"/>
              <a:gd name="connsiteX50" fmla="*/ 6858000 w 6858001"/>
              <a:gd name="connsiteY50" fmla="*/ 6995918 h 6995918"/>
              <a:gd name="connsiteX51" fmla="*/ 6858000 w 6858001"/>
              <a:gd name="connsiteY51" fmla="*/ 1344715 h 699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95918">
                <a:moveTo>
                  <a:pt x="6858001" y="1344715"/>
                </a:moveTo>
                <a:lnTo>
                  <a:pt x="6858001" y="1177"/>
                </a:lnTo>
                <a:lnTo>
                  <a:pt x="6702324" y="26222"/>
                </a:lnTo>
                <a:lnTo>
                  <a:pt x="6547333" y="50091"/>
                </a:lnTo>
                <a:lnTo>
                  <a:pt x="6391657" y="73455"/>
                </a:lnTo>
                <a:lnTo>
                  <a:pt x="6235294" y="93458"/>
                </a:lnTo>
                <a:lnTo>
                  <a:pt x="6079618" y="113629"/>
                </a:lnTo>
                <a:lnTo>
                  <a:pt x="5923255" y="132455"/>
                </a:lnTo>
                <a:lnTo>
                  <a:pt x="5768950" y="148591"/>
                </a:lnTo>
                <a:lnTo>
                  <a:pt x="5612588" y="163887"/>
                </a:lnTo>
                <a:lnTo>
                  <a:pt x="5456911" y="177839"/>
                </a:lnTo>
                <a:lnTo>
                  <a:pt x="5303978" y="189941"/>
                </a:lnTo>
                <a:lnTo>
                  <a:pt x="5148987" y="202044"/>
                </a:lnTo>
                <a:lnTo>
                  <a:pt x="4996054" y="212129"/>
                </a:lnTo>
                <a:lnTo>
                  <a:pt x="4843120" y="220029"/>
                </a:lnTo>
                <a:lnTo>
                  <a:pt x="4690873" y="228266"/>
                </a:lnTo>
                <a:lnTo>
                  <a:pt x="4539997" y="235157"/>
                </a:lnTo>
                <a:lnTo>
                  <a:pt x="4390492" y="240032"/>
                </a:lnTo>
                <a:lnTo>
                  <a:pt x="4240988" y="244234"/>
                </a:lnTo>
                <a:lnTo>
                  <a:pt x="4092855" y="248268"/>
                </a:lnTo>
                <a:lnTo>
                  <a:pt x="3946780" y="250117"/>
                </a:lnTo>
                <a:lnTo>
                  <a:pt x="3800704" y="252134"/>
                </a:lnTo>
                <a:lnTo>
                  <a:pt x="3656686" y="253143"/>
                </a:lnTo>
                <a:lnTo>
                  <a:pt x="3514040" y="252134"/>
                </a:lnTo>
                <a:lnTo>
                  <a:pt x="3372765" y="252134"/>
                </a:lnTo>
                <a:lnTo>
                  <a:pt x="3232862" y="250117"/>
                </a:lnTo>
                <a:lnTo>
                  <a:pt x="3095702" y="247092"/>
                </a:lnTo>
                <a:lnTo>
                  <a:pt x="2959914" y="244234"/>
                </a:lnTo>
                <a:lnTo>
                  <a:pt x="2826868" y="241040"/>
                </a:lnTo>
                <a:lnTo>
                  <a:pt x="2694509" y="236166"/>
                </a:lnTo>
                <a:lnTo>
                  <a:pt x="2564208" y="230955"/>
                </a:lnTo>
                <a:lnTo>
                  <a:pt x="2436649" y="226249"/>
                </a:lnTo>
                <a:lnTo>
                  <a:pt x="2187703" y="212969"/>
                </a:lnTo>
                <a:lnTo>
                  <a:pt x="1949045" y="198850"/>
                </a:lnTo>
                <a:lnTo>
                  <a:pt x="1719988" y="184058"/>
                </a:lnTo>
                <a:lnTo>
                  <a:pt x="1503275" y="167753"/>
                </a:lnTo>
                <a:lnTo>
                  <a:pt x="1296163" y="150776"/>
                </a:lnTo>
                <a:lnTo>
                  <a:pt x="1104139" y="132455"/>
                </a:lnTo>
                <a:lnTo>
                  <a:pt x="923774" y="114469"/>
                </a:lnTo>
                <a:lnTo>
                  <a:pt x="757810" y="96484"/>
                </a:lnTo>
                <a:lnTo>
                  <a:pt x="605563" y="79507"/>
                </a:lnTo>
                <a:lnTo>
                  <a:pt x="470460" y="63370"/>
                </a:lnTo>
                <a:lnTo>
                  <a:pt x="348388" y="48074"/>
                </a:lnTo>
                <a:lnTo>
                  <a:pt x="245518" y="35299"/>
                </a:lnTo>
                <a:lnTo>
                  <a:pt x="159107" y="23197"/>
                </a:lnTo>
                <a:lnTo>
                  <a:pt x="40463" y="5883"/>
                </a:lnTo>
                <a:lnTo>
                  <a:pt x="1" y="0"/>
                </a:lnTo>
                <a:lnTo>
                  <a:pt x="1" y="905354"/>
                </a:lnTo>
                <a:lnTo>
                  <a:pt x="0" y="905354"/>
                </a:lnTo>
                <a:lnTo>
                  <a:pt x="0" y="6995918"/>
                </a:lnTo>
                <a:lnTo>
                  <a:pt x="6858000" y="6995918"/>
                </a:lnTo>
                <a:lnTo>
                  <a:pt x="6858000" y="1344715"/>
                </a:lnTo>
                <a:close/>
              </a:path>
            </a:pathLst>
          </a:custGeom>
          <a:solidFill>
            <a:srgbClr val="FFFFFF"/>
          </a:solidFill>
          <a:ln>
            <a:noFill/>
          </a:ln>
        </p:spPr>
        <p:txBody>
          <a:bodyPr/>
          <a:lstStyle/>
          <a:p>
            <a:endParaRPr lang="en-US"/>
          </a:p>
        </p:txBody>
      </p:sp>
      <p:pic>
        <p:nvPicPr>
          <p:cNvPr id="6" name="Picture 5" descr="This image is an icon that says &quot;24Slides.&quot;">
            <a:hlinkClick r:id="rId4"/>
            <a:extLst>
              <a:ext uri="{FF2B5EF4-FFF2-40B4-BE49-F238E27FC236}">
                <a16:creationId xmlns:a16="http://schemas.microsoft.com/office/drawing/2014/main" id="{A86744F2-5246-4A0A-B119-35E7FB76A0D8}"/>
              </a:ext>
              <a:ext uri="{C183D7F6-B498-43B3-948B-1728B52AA6E4}">
                <adec:decorative xmlns:adec="http://schemas.microsoft.com/office/drawing/2017/decorative" val="0"/>
              </a:ext>
            </a:extLst>
          </p:cNvPr>
          <p:cNvPicPr>
            <a:picLocks noChangeAspect="1"/>
          </p:cNvPicPr>
          <p:nvPr/>
        </p:nvPicPr>
        <p:blipFill>
          <a:blip r:embed="rId5"/>
          <a:stretch>
            <a:fillRect/>
          </a:stretch>
        </p:blipFill>
        <p:spPr>
          <a:xfrm>
            <a:off x="643855" y="929621"/>
            <a:ext cx="5454404" cy="1560149"/>
          </a:xfrm>
          <a:prstGeom prst="rect">
            <a:avLst/>
          </a:prstGeom>
          <a:effectLst/>
        </p:spPr>
      </p:pic>
      <p:sp>
        <p:nvSpPr>
          <p:cNvPr id="22" name="Freeform 27">
            <a:extLst>
              <a:ext uri="{FF2B5EF4-FFF2-40B4-BE49-F238E27FC236}">
                <a16:creationId xmlns:a16="http://schemas.microsoft.com/office/drawing/2014/main" id="{4E4027F0-F0A7-4B5F-8B96-D3389FA28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49646"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grpSp>
        <p:nvGrpSpPr>
          <p:cNvPr id="11" name="Group 10">
            <a:extLst>
              <a:ext uri="{FF2B5EF4-FFF2-40B4-BE49-F238E27FC236}">
                <a16:creationId xmlns:a16="http://schemas.microsoft.com/office/drawing/2014/main" id="{62A21665-C64F-4BDA-B2DE-442D70605718}"/>
              </a:ext>
              <a:ext uri="{C183D7F6-B498-43B3-948B-1728B52AA6E4}">
                <adec:decorative xmlns:adec="http://schemas.microsoft.com/office/drawing/2017/decorative" val="1"/>
              </a:ext>
            </a:extLst>
          </p:cNvPr>
          <p:cNvGrpSpPr/>
          <p:nvPr/>
        </p:nvGrpSpPr>
        <p:grpSpPr>
          <a:xfrm>
            <a:off x="1804314" y="2878375"/>
            <a:ext cx="3129642" cy="3331464"/>
            <a:chOff x="4325258" y="1229517"/>
            <a:chExt cx="3541486" cy="3769865"/>
          </a:xfrm>
        </p:grpSpPr>
        <p:sp>
          <p:nvSpPr>
            <p:cNvPr id="12" name="Diamond 11">
              <a:extLst>
                <a:ext uri="{FF2B5EF4-FFF2-40B4-BE49-F238E27FC236}">
                  <a16:creationId xmlns:a16="http://schemas.microsoft.com/office/drawing/2014/main"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amond 12">
              <a:extLst>
                <a:ext uri="{FF2B5EF4-FFF2-40B4-BE49-F238E27FC236}">
                  <a16:creationId xmlns:a16="http://schemas.microsoft.com/office/drawing/2014/main"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230381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2FD05317-60D6-4B3A-8545-888496D1A8EC}">
  <ds:schemaRefs>
    <ds:schemaRef ds:uri="http://schemas.microsoft.com/sharepoint/v3/contenttype/forms"/>
  </ds:schemaRefs>
</ds:datastoreItem>
</file>

<file path=customXml/itemProps2.xml><?xml version="1.0" encoding="utf-8"?>
<ds:datastoreItem xmlns:ds="http://schemas.openxmlformats.org/officeDocument/2006/customXml" ds:itemID="{61A00BBF-EEBB-4E18-B8CB-F926EAAC48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F609EDA-869E-4BE5-AE5D-B898C584B6FF}">
  <ds:schemaRefs>
    <ds:schemaRef ds:uri="http://schemas.microsoft.com/office/2006/metadata/properties"/>
    <ds:schemaRef ds:uri="16c05727-aa75-4e4a-9b5f-8a80a1165891"/>
    <ds:schemaRef ds:uri="http://purl.org/dc/terms/"/>
    <ds:schemaRef ds:uri="71af3243-3dd4-4a8d-8c0d-dd76da1f02a5"/>
    <ds:schemaRef ds:uri="http://schemas.microsoft.com/office/infopath/2007/PartnerControls"/>
    <ds:schemaRef ds:uri="http://purl.org/dc/elements/1.1/"/>
    <ds:schemaRef ds:uri="http://schemas.microsoft.com/office/2006/documentManagement/type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Ion</Template>
  <TotalTime>0</TotalTime>
  <Words>1226</Words>
  <Application>Microsoft Office PowerPoint</Application>
  <PresentationFormat>Widescreen</PresentationFormat>
  <Paragraphs>72</Paragraphs>
  <Slides>16</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Calibri</vt:lpstr>
      <vt:lpstr>Century Gothic</vt:lpstr>
      <vt:lpstr>Times New Roman</vt:lpstr>
      <vt:lpstr>Wingdings 3</vt:lpstr>
      <vt:lpstr>Ion</vt:lpstr>
      <vt:lpstr>M4 Project Work: First Tables and Graphs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2025-02-23T19:13:07Z</dcterms:created>
  <dcterms:modified xsi:type="dcterms:W3CDTF">2025-02-24T01:32:57Z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