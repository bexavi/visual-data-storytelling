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9"/>
  </p:notesMasterIdLst>
  <p:handoutMasterIdLst>
    <p:handoutMasterId r:id="rId30"/>
  </p:handoutMasterIdLst>
  <p:sldIdLst>
    <p:sldId id="256" r:id="rId5"/>
    <p:sldId id="289" r:id="rId6"/>
    <p:sldId id="311" r:id="rId7"/>
    <p:sldId id="293" r:id="rId8"/>
    <p:sldId id="312" r:id="rId9"/>
    <p:sldId id="323" r:id="rId10"/>
    <p:sldId id="303" r:id="rId11"/>
    <p:sldId id="291" r:id="rId12"/>
    <p:sldId id="292" r:id="rId13"/>
    <p:sldId id="315" r:id="rId14"/>
    <p:sldId id="327" r:id="rId15"/>
    <p:sldId id="328" r:id="rId16"/>
    <p:sldId id="325" r:id="rId17"/>
    <p:sldId id="326" r:id="rId18"/>
    <p:sldId id="322" r:id="rId19"/>
    <p:sldId id="295" r:id="rId20"/>
    <p:sldId id="320" r:id="rId21"/>
    <p:sldId id="310" r:id="rId22"/>
    <p:sldId id="309" r:id="rId23"/>
    <p:sldId id="296" r:id="rId24"/>
    <p:sldId id="305" r:id="rId25"/>
    <p:sldId id="324" r:id="rId26"/>
    <p:sldId id="308" r:id="rId27"/>
    <p:sldId id="28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37E069-DB1E-40BC-A5F9-C76A1B4E159A}" v="12" dt="2025-03-22T21:04:13.7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52" autoAdjust="0"/>
  </p:normalViewPr>
  <p:slideViewPr>
    <p:cSldViewPr snapToGrid="0" showGuides="1">
      <p:cViewPr varScale="1">
        <p:scale>
          <a:sx n="90" d="100"/>
          <a:sy n="90" d="100"/>
        </p:scale>
        <p:origin x="418" y="4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kithemba Nkomo [student]" userId="86136daf-e49a-4e73-94f9-5f5e7d01c202" providerId="ADAL" clId="{FD461593-A034-48B1-BF4F-B9842699BA8D}"/>
    <pc:docChg chg="undo redo custSel addSld delSld modSld sldOrd">
      <pc:chgData name="Bekithemba Nkomo [student]" userId="86136daf-e49a-4e73-94f9-5f5e7d01c202" providerId="ADAL" clId="{FD461593-A034-48B1-BF4F-B9842699BA8D}" dt="2025-03-10T04:31:47.935" v="1117" actId="27636"/>
      <pc:docMkLst>
        <pc:docMk/>
      </pc:docMkLst>
      <pc:sldChg chg="modSp mod">
        <pc:chgData name="Bekithemba Nkomo [student]" userId="86136daf-e49a-4e73-94f9-5f5e7d01c202" providerId="ADAL" clId="{FD461593-A034-48B1-BF4F-B9842699BA8D}" dt="2025-03-10T03:40:43.353" v="981" actId="404"/>
        <pc:sldMkLst>
          <pc:docMk/>
          <pc:sldMk cId="0" sldId="291"/>
        </pc:sldMkLst>
        <pc:spChg chg="mod">
          <ac:chgData name="Bekithemba Nkomo [student]" userId="86136daf-e49a-4e73-94f9-5f5e7d01c202" providerId="ADAL" clId="{FD461593-A034-48B1-BF4F-B9842699BA8D}" dt="2025-03-10T03:40:43.353" v="981" actId="404"/>
          <ac:spMkLst>
            <pc:docMk/>
            <pc:sldMk cId="0" sldId="291"/>
            <ac:spMk id="10" creationId="{00000000-0000-0000-0000-000000000000}"/>
          </ac:spMkLst>
        </pc:spChg>
      </pc:sldChg>
      <pc:sldChg chg="modSp mod ord">
        <pc:chgData name="Bekithemba Nkomo [student]" userId="86136daf-e49a-4e73-94f9-5f5e7d01c202" providerId="ADAL" clId="{FD461593-A034-48B1-BF4F-B9842699BA8D}" dt="2025-03-10T03:25:57.887" v="913" actId="2711"/>
        <pc:sldMkLst>
          <pc:docMk/>
          <pc:sldMk cId="0" sldId="293"/>
        </pc:sldMkLst>
        <pc:spChg chg="mod">
          <ac:chgData name="Bekithemba Nkomo [student]" userId="86136daf-e49a-4e73-94f9-5f5e7d01c202" providerId="ADAL" clId="{FD461593-A034-48B1-BF4F-B9842699BA8D}" dt="2025-03-10T03:25:57.887" v="913" actId="2711"/>
          <ac:spMkLst>
            <pc:docMk/>
            <pc:sldMk cId="0" sldId="293"/>
            <ac:spMk id="10" creationId="{00000000-0000-0000-0000-000000000000}"/>
          </ac:spMkLst>
        </pc:spChg>
      </pc:sldChg>
      <pc:sldChg chg="modSp del mod">
        <pc:chgData name="Bekithemba Nkomo [student]" userId="86136daf-e49a-4e73-94f9-5f5e7d01c202" providerId="ADAL" clId="{FD461593-A034-48B1-BF4F-B9842699BA8D}" dt="2025-03-10T03:52:27.328" v="1041" actId="2696"/>
        <pc:sldMkLst>
          <pc:docMk/>
          <pc:sldMk cId="0" sldId="294"/>
        </pc:sldMkLst>
      </pc:sldChg>
      <pc:sldChg chg="addSp modSp mod">
        <pc:chgData name="Bekithemba Nkomo [student]" userId="86136daf-e49a-4e73-94f9-5f5e7d01c202" providerId="ADAL" clId="{FD461593-A034-48B1-BF4F-B9842699BA8D}" dt="2025-03-10T03:23:24.876" v="818" actId="20577"/>
        <pc:sldMkLst>
          <pc:docMk/>
          <pc:sldMk cId="0" sldId="295"/>
        </pc:sldMkLst>
        <pc:spChg chg="mod">
          <ac:chgData name="Bekithemba Nkomo [student]" userId="86136daf-e49a-4e73-94f9-5f5e7d01c202" providerId="ADAL" clId="{FD461593-A034-48B1-BF4F-B9842699BA8D}" dt="2025-03-10T03:23:24.876" v="818" actId="20577"/>
          <ac:spMkLst>
            <pc:docMk/>
            <pc:sldMk cId="0" sldId="295"/>
            <ac:spMk id="10" creationId="{00000000-0000-0000-0000-000000000000}"/>
          </ac:spMkLst>
        </pc:spChg>
      </pc:sldChg>
      <pc:sldChg chg="modSp mod">
        <pc:chgData name="Bekithemba Nkomo [student]" userId="86136daf-e49a-4e73-94f9-5f5e7d01c202" providerId="ADAL" clId="{FD461593-A034-48B1-BF4F-B9842699BA8D}" dt="2025-03-10T03:26:46.798" v="916" actId="2711"/>
        <pc:sldMkLst>
          <pc:docMk/>
          <pc:sldMk cId="0" sldId="296"/>
        </pc:sldMkLst>
        <pc:spChg chg="mod">
          <ac:chgData name="Bekithemba Nkomo [student]" userId="86136daf-e49a-4e73-94f9-5f5e7d01c202" providerId="ADAL" clId="{FD461593-A034-48B1-BF4F-B9842699BA8D}" dt="2025-03-10T03:26:46.798" v="916" actId="2711"/>
          <ac:spMkLst>
            <pc:docMk/>
            <pc:sldMk cId="0" sldId="296"/>
            <ac:spMk id="10" creationId="{00000000-0000-0000-0000-000000000000}"/>
          </ac:spMkLst>
        </pc:spChg>
      </pc:sldChg>
      <pc:sldChg chg="del ord">
        <pc:chgData name="Bekithemba Nkomo [student]" userId="86136daf-e49a-4e73-94f9-5f5e7d01c202" providerId="ADAL" clId="{FD461593-A034-48B1-BF4F-B9842699BA8D}" dt="2025-03-10T02:49:16.663" v="426" actId="47"/>
        <pc:sldMkLst>
          <pc:docMk/>
          <pc:sldMk cId="0" sldId="297"/>
        </pc:sldMkLst>
      </pc:sldChg>
      <pc:sldChg chg="modSp mod">
        <pc:chgData name="Bekithemba Nkomo [student]" userId="86136daf-e49a-4e73-94f9-5f5e7d01c202" providerId="ADAL" clId="{FD461593-A034-48B1-BF4F-B9842699BA8D}" dt="2025-03-10T03:51:38.688" v="1040" actId="20577"/>
        <pc:sldMkLst>
          <pc:docMk/>
          <pc:sldMk cId="0" sldId="303"/>
        </pc:sldMkLst>
        <pc:spChg chg="mod">
          <ac:chgData name="Bekithemba Nkomo [student]" userId="86136daf-e49a-4e73-94f9-5f5e7d01c202" providerId="ADAL" clId="{FD461593-A034-48B1-BF4F-B9842699BA8D}" dt="2025-03-10T03:51:38.688" v="1040" actId="20577"/>
          <ac:spMkLst>
            <pc:docMk/>
            <pc:sldMk cId="0" sldId="303"/>
            <ac:spMk id="7" creationId="{00000000-0000-0000-0000-000000000000}"/>
          </ac:spMkLst>
        </pc:spChg>
      </pc:sldChg>
      <pc:sldChg chg="del">
        <pc:chgData name="Bekithemba Nkomo [student]" userId="86136daf-e49a-4e73-94f9-5f5e7d01c202" providerId="ADAL" clId="{FD461593-A034-48B1-BF4F-B9842699BA8D}" dt="2025-03-10T02:35:45.331" v="263" actId="47"/>
        <pc:sldMkLst>
          <pc:docMk/>
          <pc:sldMk cId="0" sldId="304"/>
        </pc:sldMkLst>
      </pc:sldChg>
      <pc:sldChg chg="modSp del mod">
        <pc:chgData name="Bekithemba Nkomo [student]" userId="86136daf-e49a-4e73-94f9-5f5e7d01c202" providerId="ADAL" clId="{FD461593-A034-48B1-BF4F-B9842699BA8D}" dt="2025-03-10T03:57:58.379" v="1096" actId="2696"/>
        <pc:sldMkLst>
          <pc:docMk/>
          <pc:sldMk cId="0" sldId="307"/>
        </pc:sldMkLst>
      </pc:sldChg>
      <pc:sldChg chg="addSp delSp modSp mod">
        <pc:chgData name="Bekithemba Nkomo [student]" userId="86136daf-e49a-4e73-94f9-5f5e7d01c202" providerId="ADAL" clId="{FD461593-A034-48B1-BF4F-B9842699BA8D}" dt="2025-03-10T02:48:15.086" v="420" actId="20577"/>
        <pc:sldMkLst>
          <pc:docMk/>
          <pc:sldMk cId="0" sldId="308"/>
        </pc:sldMkLst>
        <pc:spChg chg="mod">
          <ac:chgData name="Bekithemba Nkomo [student]" userId="86136daf-e49a-4e73-94f9-5f5e7d01c202" providerId="ADAL" clId="{FD461593-A034-48B1-BF4F-B9842699BA8D}" dt="2025-03-10T02:47:35.053" v="397" actId="27636"/>
          <ac:spMkLst>
            <pc:docMk/>
            <pc:sldMk cId="0" sldId="308"/>
            <ac:spMk id="4" creationId="{00000000-0000-0000-0000-000000000000}"/>
          </ac:spMkLst>
        </pc:spChg>
        <pc:picChg chg="add mod">
          <ac:chgData name="Bekithemba Nkomo [student]" userId="86136daf-e49a-4e73-94f9-5f5e7d01c202" providerId="ADAL" clId="{FD461593-A034-48B1-BF4F-B9842699BA8D}" dt="2025-03-10T02:47:05.601" v="393" actId="14100"/>
          <ac:picMkLst>
            <pc:docMk/>
            <pc:sldMk cId="0" sldId="308"/>
            <ac:picMk id="3" creationId="{3472349C-3E09-038E-0C57-75F3FCF46C11}"/>
          </ac:picMkLst>
        </pc:picChg>
      </pc:sldChg>
      <pc:sldChg chg="modSp mod">
        <pc:chgData name="Bekithemba Nkomo [student]" userId="86136daf-e49a-4e73-94f9-5f5e7d01c202" providerId="ADAL" clId="{FD461593-A034-48B1-BF4F-B9842699BA8D}" dt="2025-03-10T03:26:33.566" v="915" actId="2711"/>
        <pc:sldMkLst>
          <pc:docMk/>
          <pc:sldMk cId="0" sldId="310"/>
        </pc:sldMkLst>
        <pc:spChg chg="mod">
          <ac:chgData name="Bekithemba Nkomo [student]" userId="86136daf-e49a-4e73-94f9-5f5e7d01c202" providerId="ADAL" clId="{FD461593-A034-48B1-BF4F-B9842699BA8D}" dt="2025-03-10T03:26:33.566" v="915" actId="2711"/>
          <ac:spMkLst>
            <pc:docMk/>
            <pc:sldMk cId="0" sldId="310"/>
            <ac:spMk id="10" creationId="{00000000-0000-0000-0000-000000000000}"/>
          </ac:spMkLst>
        </pc:spChg>
      </pc:sldChg>
      <pc:sldChg chg="modSp mod">
        <pc:chgData name="Bekithemba Nkomo [student]" userId="86136daf-e49a-4e73-94f9-5f5e7d01c202" providerId="ADAL" clId="{FD461593-A034-48B1-BF4F-B9842699BA8D}" dt="2025-03-10T03:24:52.658" v="912" actId="20577"/>
        <pc:sldMkLst>
          <pc:docMk/>
          <pc:sldMk cId="0" sldId="311"/>
        </pc:sldMkLst>
        <pc:spChg chg="mod">
          <ac:chgData name="Bekithemba Nkomo [student]" userId="86136daf-e49a-4e73-94f9-5f5e7d01c202" providerId="ADAL" clId="{FD461593-A034-48B1-BF4F-B9842699BA8D}" dt="2025-03-10T03:24:52.658" v="912" actId="20577"/>
          <ac:spMkLst>
            <pc:docMk/>
            <pc:sldMk cId="0" sldId="311"/>
            <ac:spMk id="2" creationId="{00000000-0000-0000-0000-000000000000}"/>
          </ac:spMkLst>
        </pc:spChg>
      </pc:sldChg>
      <pc:sldChg chg="addSp delSp modSp mod">
        <pc:chgData name="Bekithemba Nkomo [student]" userId="86136daf-e49a-4e73-94f9-5f5e7d01c202" providerId="ADAL" clId="{FD461593-A034-48B1-BF4F-B9842699BA8D}" dt="2025-03-10T02:24:00.730" v="179" actId="1076"/>
        <pc:sldMkLst>
          <pc:docMk/>
          <pc:sldMk cId="433882480" sldId="312"/>
        </pc:sldMkLst>
        <pc:spChg chg="mod">
          <ac:chgData name="Bekithemba Nkomo [student]" userId="86136daf-e49a-4e73-94f9-5f5e7d01c202" providerId="ADAL" clId="{FD461593-A034-48B1-BF4F-B9842699BA8D}" dt="2025-03-10T02:24:00.730" v="179" actId="1076"/>
          <ac:spMkLst>
            <pc:docMk/>
            <pc:sldMk cId="433882480" sldId="312"/>
            <ac:spMk id="7" creationId="{12CE3166-2BF0-EB20-F3FB-D8C7D09717B3}"/>
          </ac:spMkLst>
        </pc:spChg>
        <pc:spChg chg="add del">
          <ac:chgData name="Bekithemba Nkomo [student]" userId="86136daf-e49a-4e73-94f9-5f5e7d01c202" providerId="ADAL" clId="{FD461593-A034-48B1-BF4F-B9842699BA8D}" dt="2025-03-10T02:17:26.511" v="121" actId="478"/>
          <ac:spMkLst>
            <pc:docMk/>
            <pc:sldMk cId="433882480" sldId="312"/>
            <ac:spMk id="82" creationId="{B7000166-D2F3-4154-2BA4-B9C6A05CBC9D}"/>
          </ac:spMkLst>
        </pc:spChg>
      </pc:sldChg>
      <pc:sldChg chg="addSp modSp del">
        <pc:chgData name="Bekithemba Nkomo [student]" userId="86136daf-e49a-4e73-94f9-5f5e7d01c202" providerId="ADAL" clId="{FD461593-A034-48B1-BF4F-B9842699BA8D}" dt="2025-03-10T03:59:08.348" v="1099" actId="47"/>
        <pc:sldMkLst>
          <pc:docMk/>
          <pc:sldMk cId="2668742454" sldId="314"/>
        </pc:sldMkLst>
      </pc:sldChg>
      <pc:sldChg chg="addSp modSp">
        <pc:chgData name="Bekithemba Nkomo [student]" userId="86136daf-e49a-4e73-94f9-5f5e7d01c202" providerId="ADAL" clId="{FD461593-A034-48B1-BF4F-B9842699BA8D}" dt="2025-03-10T04:29:22.326" v="1101"/>
        <pc:sldMkLst>
          <pc:docMk/>
          <pc:sldMk cId="2354696400" sldId="315"/>
        </pc:sldMkLst>
      </pc:sldChg>
      <pc:sldChg chg="del">
        <pc:chgData name="Bekithemba Nkomo [student]" userId="86136daf-e49a-4e73-94f9-5f5e7d01c202" providerId="ADAL" clId="{FD461593-A034-48B1-BF4F-B9842699BA8D}" dt="2025-03-10T03:52:49.914" v="1042" actId="47"/>
        <pc:sldMkLst>
          <pc:docMk/>
          <pc:sldMk cId="1856789732" sldId="316"/>
        </pc:sldMkLst>
      </pc:sldChg>
      <pc:sldChg chg="modSp mod ord">
        <pc:chgData name="Bekithemba Nkomo [student]" userId="86136daf-e49a-4e73-94f9-5f5e7d01c202" providerId="ADAL" clId="{FD461593-A034-48B1-BF4F-B9842699BA8D}" dt="2025-03-10T03:10:22.270" v="695" actId="2711"/>
        <pc:sldMkLst>
          <pc:docMk/>
          <pc:sldMk cId="3669947015" sldId="317"/>
        </pc:sldMkLst>
      </pc:sldChg>
      <pc:sldChg chg="del">
        <pc:chgData name="Bekithemba Nkomo [student]" userId="86136daf-e49a-4e73-94f9-5f5e7d01c202" providerId="ADAL" clId="{FD461593-A034-48B1-BF4F-B9842699BA8D}" dt="2025-03-10T02:48:37.367" v="425" actId="47"/>
        <pc:sldMkLst>
          <pc:docMk/>
          <pc:sldMk cId="2950405604" sldId="318"/>
        </pc:sldMkLst>
      </pc:sldChg>
      <pc:sldChg chg="modSp add mod ord">
        <pc:chgData name="Bekithemba Nkomo [student]" userId="86136daf-e49a-4e73-94f9-5f5e7d01c202" providerId="ADAL" clId="{FD461593-A034-48B1-BF4F-B9842699BA8D}" dt="2025-03-10T02:30:08.823" v="258" actId="113"/>
        <pc:sldMkLst>
          <pc:docMk/>
          <pc:sldMk cId="1576201583" sldId="319"/>
        </pc:sldMkLst>
      </pc:sldChg>
      <pc:sldChg chg="addSp delSp modSp add mod ord setBg">
        <pc:chgData name="Bekithemba Nkomo [student]" userId="86136daf-e49a-4e73-94f9-5f5e7d01c202" providerId="ADAL" clId="{FD461593-A034-48B1-BF4F-B9842699BA8D}" dt="2025-03-10T03:23:37.556" v="823" actId="14100"/>
        <pc:sldMkLst>
          <pc:docMk/>
          <pc:sldMk cId="0" sldId="320"/>
        </pc:sldMkLst>
        <pc:spChg chg="mod">
          <ac:chgData name="Bekithemba Nkomo [student]" userId="86136daf-e49a-4e73-94f9-5f5e7d01c202" providerId="ADAL" clId="{FD461593-A034-48B1-BF4F-B9842699BA8D}" dt="2025-03-10T03:23:31.716" v="822" actId="20577"/>
          <ac:spMkLst>
            <pc:docMk/>
            <pc:sldMk cId="0" sldId="320"/>
            <ac:spMk id="4" creationId="{00000000-0000-0000-0000-000000000000}"/>
          </ac:spMkLst>
        </pc:spChg>
      </pc:sldChg>
      <pc:sldChg chg="modSp add mod ord setBg">
        <pc:chgData name="Bekithemba Nkomo [student]" userId="86136daf-e49a-4e73-94f9-5f5e7d01c202" providerId="ADAL" clId="{FD461593-A034-48B1-BF4F-B9842699BA8D}" dt="2025-03-10T03:22:19.075" v="801" actId="14100"/>
        <pc:sldMkLst>
          <pc:docMk/>
          <pc:sldMk cId="0" sldId="321"/>
        </pc:sldMkLst>
      </pc:sldChg>
      <pc:sldChg chg="addSp delSp modSp add mod">
        <pc:chgData name="Bekithemba Nkomo [student]" userId="86136daf-e49a-4e73-94f9-5f5e7d01c202" providerId="ADAL" clId="{FD461593-A034-48B1-BF4F-B9842699BA8D}" dt="2025-03-10T03:23:06.140" v="814" actId="1076"/>
        <pc:sldMkLst>
          <pc:docMk/>
          <pc:sldMk cId="3464775110" sldId="322"/>
        </pc:sldMkLst>
        <pc:spChg chg="add del mod">
          <ac:chgData name="Bekithemba Nkomo [student]" userId="86136daf-e49a-4e73-94f9-5f5e7d01c202" providerId="ADAL" clId="{FD461593-A034-48B1-BF4F-B9842699BA8D}" dt="2025-03-10T02:43:44.251" v="341" actId="478"/>
          <ac:spMkLst>
            <pc:docMk/>
            <pc:sldMk cId="3464775110" sldId="322"/>
            <ac:spMk id="4" creationId="{F81BF90A-55E0-0A2F-C8C7-0864BC73ADED}"/>
          </ac:spMkLst>
        </pc:spChg>
      </pc:sldChg>
      <pc:sldChg chg="modSp add mod ord">
        <pc:chgData name="Bekithemba Nkomo [student]" userId="86136daf-e49a-4e73-94f9-5f5e7d01c202" providerId="ADAL" clId="{FD461593-A034-48B1-BF4F-B9842699BA8D}" dt="2025-03-10T03:50:48.493" v="1023" actId="113"/>
        <pc:sldMkLst>
          <pc:docMk/>
          <pc:sldMk cId="3539802345" sldId="323"/>
        </pc:sldMkLst>
        <pc:spChg chg="mod">
          <ac:chgData name="Bekithemba Nkomo [student]" userId="86136daf-e49a-4e73-94f9-5f5e7d01c202" providerId="ADAL" clId="{FD461593-A034-48B1-BF4F-B9842699BA8D}" dt="2025-03-10T03:50:48.493" v="1023" actId="113"/>
          <ac:spMkLst>
            <pc:docMk/>
            <pc:sldMk cId="3539802345" sldId="323"/>
            <ac:spMk id="10" creationId="{C4148CFF-948C-A314-BE6D-14657A6393D4}"/>
          </ac:spMkLst>
        </pc:spChg>
      </pc:sldChg>
      <pc:sldChg chg="modSp add mod ord">
        <pc:chgData name="Bekithemba Nkomo [student]" userId="86136daf-e49a-4e73-94f9-5f5e7d01c202" providerId="ADAL" clId="{FD461593-A034-48B1-BF4F-B9842699BA8D}" dt="2025-03-10T04:31:47.935" v="1117" actId="27636"/>
        <pc:sldMkLst>
          <pc:docMk/>
          <pc:sldMk cId="3697688835" sldId="324"/>
        </pc:sldMkLst>
        <pc:spChg chg="mod">
          <ac:chgData name="Bekithemba Nkomo [student]" userId="86136daf-e49a-4e73-94f9-5f5e7d01c202" providerId="ADAL" clId="{FD461593-A034-48B1-BF4F-B9842699BA8D}" dt="2025-03-10T04:31:47.935" v="1117" actId="27636"/>
          <ac:spMkLst>
            <pc:docMk/>
            <pc:sldMk cId="3697688835" sldId="324"/>
            <ac:spMk id="10" creationId="{63BA7AE3-5878-1FE9-62DD-7C723E658B8E}"/>
          </ac:spMkLst>
        </pc:spChg>
      </pc:sldChg>
      <pc:sldChg chg="addSp delSp modSp add mod ord">
        <pc:chgData name="Bekithemba Nkomo [student]" userId="86136daf-e49a-4e73-94f9-5f5e7d01c202" providerId="ADAL" clId="{FD461593-A034-48B1-BF4F-B9842699BA8D}" dt="2025-03-10T04:30:58.143" v="1115" actId="1076"/>
        <pc:sldMkLst>
          <pc:docMk/>
          <pc:sldMk cId="3275207337" sldId="325"/>
        </pc:sldMkLst>
        <pc:spChg chg="mod">
          <ac:chgData name="Bekithemba Nkomo [student]" userId="86136daf-e49a-4e73-94f9-5f5e7d01c202" providerId="ADAL" clId="{FD461593-A034-48B1-BF4F-B9842699BA8D}" dt="2025-03-10T04:30:58.143" v="1115" actId="1076"/>
          <ac:spMkLst>
            <pc:docMk/>
            <pc:sldMk cId="3275207337" sldId="325"/>
            <ac:spMk id="4" creationId="{317A52FA-5BD7-7134-9F91-7C70348E4842}"/>
          </ac:spMkLst>
        </pc:spChg>
        <pc:picChg chg="add mod">
          <ac:chgData name="Bekithemba Nkomo [student]" userId="86136daf-e49a-4e73-94f9-5f5e7d01c202" providerId="ADAL" clId="{FD461593-A034-48B1-BF4F-B9842699BA8D}" dt="2025-03-10T04:30:54.022" v="1114" actId="14100"/>
          <ac:picMkLst>
            <pc:docMk/>
            <pc:sldMk cId="3275207337" sldId="325"/>
            <ac:picMk id="2" creationId="{C413129F-9E86-A38B-2781-5462D0C3ACEE}"/>
          </ac:picMkLst>
        </pc:picChg>
      </pc:sldChg>
    </pc:docChg>
  </pc:docChgLst>
  <pc:docChgLst>
    <pc:chgData name="Bekithemba Nkomo [student]" userId="86136daf-e49a-4e73-94f9-5f5e7d01c202" providerId="ADAL" clId="{FD37E069-DB1E-40BC-A5F9-C76A1B4E159A}"/>
    <pc:docChg chg="undo redo custSel addSld delSld modSld sldOrd">
      <pc:chgData name="Bekithemba Nkomo [student]" userId="86136daf-e49a-4e73-94f9-5f5e7d01c202" providerId="ADAL" clId="{FD37E069-DB1E-40BC-A5F9-C76A1B4E159A}" dt="2025-03-22T21:04:13.747" v="1339" actId="571"/>
      <pc:docMkLst>
        <pc:docMk/>
      </pc:docMkLst>
      <pc:sldChg chg="addSp delSp modSp mod">
        <pc:chgData name="Bekithemba Nkomo [student]" userId="86136daf-e49a-4e73-94f9-5f5e7d01c202" providerId="ADAL" clId="{FD37E069-DB1E-40BC-A5F9-C76A1B4E159A}" dt="2025-03-16T22:23:56.491" v="1208" actId="688"/>
        <pc:sldMkLst>
          <pc:docMk/>
          <pc:sldMk cId="0" sldId="256"/>
        </pc:sldMkLst>
        <pc:spChg chg="mod">
          <ac:chgData name="Bekithemba Nkomo [student]" userId="86136daf-e49a-4e73-94f9-5f5e7d01c202" providerId="ADAL" clId="{FD37E069-DB1E-40BC-A5F9-C76A1B4E159A}" dt="2025-03-16T22:18:57.873" v="1204" actId="20577"/>
          <ac:spMkLst>
            <pc:docMk/>
            <pc:sldMk cId="0" sldId="256"/>
            <ac:spMk id="2" creationId="{00000000-0000-0000-0000-000000000000}"/>
          </ac:spMkLst>
        </pc:spChg>
        <pc:spChg chg="mod">
          <ac:chgData name="Bekithemba Nkomo [student]" userId="86136daf-e49a-4e73-94f9-5f5e7d01c202" providerId="ADAL" clId="{FD37E069-DB1E-40BC-A5F9-C76A1B4E159A}" dt="2025-03-16T22:23:56.491" v="1208" actId="688"/>
          <ac:spMkLst>
            <pc:docMk/>
            <pc:sldMk cId="0" sldId="256"/>
            <ac:spMk id="8" creationId="{00000000-0000-0000-0000-000000000000}"/>
          </ac:spMkLst>
        </pc:spChg>
        <pc:spChg chg="mod">
          <ac:chgData name="Bekithemba Nkomo [student]" userId="86136daf-e49a-4e73-94f9-5f5e7d01c202" providerId="ADAL" clId="{FD37E069-DB1E-40BC-A5F9-C76A1B4E159A}" dt="2025-03-16T22:23:56.491" v="1208" actId="688"/>
          <ac:spMkLst>
            <pc:docMk/>
            <pc:sldMk cId="0" sldId="256"/>
            <ac:spMk id="9" creationId="{00000000-0000-0000-0000-000000000000}"/>
          </ac:spMkLst>
        </pc:spChg>
        <pc:grpChg chg="mod">
          <ac:chgData name="Bekithemba Nkomo [student]" userId="86136daf-e49a-4e73-94f9-5f5e7d01c202" providerId="ADAL" clId="{FD37E069-DB1E-40BC-A5F9-C76A1B4E159A}" dt="2025-03-16T22:23:56.491" v="1208" actId="688"/>
          <ac:grpSpMkLst>
            <pc:docMk/>
            <pc:sldMk cId="0" sldId="256"/>
            <ac:grpSpMk id="7" creationId="{00000000-0000-0000-0000-000000000000}"/>
          </ac:grpSpMkLst>
        </pc:grpChg>
      </pc:sldChg>
      <pc:sldChg chg="delSp modSp mod">
        <pc:chgData name="Bekithemba Nkomo [student]" userId="86136daf-e49a-4e73-94f9-5f5e7d01c202" providerId="ADAL" clId="{FD37E069-DB1E-40BC-A5F9-C76A1B4E159A}" dt="2025-03-16T20:03:30.264" v="1147" actId="20577"/>
        <pc:sldMkLst>
          <pc:docMk/>
          <pc:sldMk cId="0" sldId="289"/>
        </pc:sldMkLst>
        <pc:spChg chg="mod">
          <ac:chgData name="Bekithemba Nkomo [student]" userId="86136daf-e49a-4e73-94f9-5f5e7d01c202" providerId="ADAL" clId="{FD37E069-DB1E-40BC-A5F9-C76A1B4E159A}" dt="2025-03-16T20:03:30.264" v="1147" actId="20577"/>
          <ac:spMkLst>
            <pc:docMk/>
            <pc:sldMk cId="0" sldId="289"/>
            <ac:spMk id="3" creationId="{00000000-0000-0000-0000-000000000000}"/>
          </ac:spMkLst>
        </pc:spChg>
        <pc:spChg chg="mod">
          <ac:chgData name="Bekithemba Nkomo [student]" userId="86136daf-e49a-4e73-94f9-5f5e7d01c202" providerId="ADAL" clId="{FD37E069-DB1E-40BC-A5F9-C76A1B4E159A}" dt="2025-03-16T20:03:27.433" v="1146" actId="14100"/>
          <ac:spMkLst>
            <pc:docMk/>
            <pc:sldMk cId="0" sldId="289"/>
            <ac:spMk id="11" creationId="{00000000-0000-0000-0000-000000000000}"/>
          </ac:spMkLst>
        </pc:spChg>
      </pc:sldChg>
      <pc:sldChg chg="modSp mod ord">
        <pc:chgData name="Bekithemba Nkomo [student]" userId="86136daf-e49a-4e73-94f9-5f5e7d01c202" providerId="ADAL" clId="{FD37E069-DB1E-40BC-A5F9-C76A1B4E159A}" dt="2025-03-16T19:55:05.379" v="1048" actId="20577"/>
        <pc:sldMkLst>
          <pc:docMk/>
          <pc:sldMk cId="0" sldId="295"/>
        </pc:sldMkLst>
        <pc:spChg chg="mod">
          <ac:chgData name="Bekithemba Nkomo [student]" userId="86136daf-e49a-4e73-94f9-5f5e7d01c202" providerId="ADAL" clId="{FD37E069-DB1E-40BC-A5F9-C76A1B4E159A}" dt="2025-03-16T19:55:05.379" v="1048" actId="20577"/>
          <ac:spMkLst>
            <pc:docMk/>
            <pc:sldMk cId="0" sldId="295"/>
            <ac:spMk id="10" creationId="{00000000-0000-0000-0000-000000000000}"/>
          </ac:spMkLst>
        </pc:spChg>
      </pc:sldChg>
      <pc:sldChg chg="modSp mod">
        <pc:chgData name="Bekithemba Nkomo [student]" userId="86136daf-e49a-4e73-94f9-5f5e7d01c202" providerId="ADAL" clId="{FD37E069-DB1E-40BC-A5F9-C76A1B4E159A}" dt="2025-03-16T19:58:31.074" v="1105" actId="404"/>
        <pc:sldMkLst>
          <pc:docMk/>
          <pc:sldMk cId="0" sldId="296"/>
        </pc:sldMkLst>
        <pc:spChg chg="mod">
          <ac:chgData name="Bekithemba Nkomo [student]" userId="86136daf-e49a-4e73-94f9-5f5e7d01c202" providerId="ADAL" clId="{FD37E069-DB1E-40BC-A5F9-C76A1B4E159A}" dt="2025-03-16T19:58:31.074" v="1105" actId="404"/>
          <ac:spMkLst>
            <pc:docMk/>
            <pc:sldMk cId="0" sldId="296"/>
            <ac:spMk id="10" creationId="{00000000-0000-0000-0000-000000000000}"/>
          </ac:spMkLst>
        </pc:spChg>
      </pc:sldChg>
      <pc:sldChg chg="delSp modSp mod">
        <pc:chgData name="Bekithemba Nkomo [student]" userId="86136daf-e49a-4e73-94f9-5f5e7d01c202" providerId="ADAL" clId="{FD37E069-DB1E-40BC-A5F9-C76A1B4E159A}" dt="2025-03-16T20:04:49.193" v="1160" actId="14100"/>
        <pc:sldMkLst>
          <pc:docMk/>
          <pc:sldMk cId="0" sldId="303"/>
        </pc:sldMkLst>
        <pc:spChg chg="mod">
          <ac:chgData name="Bekithemba Nkomo [student]" userId="86136daf-e49a-4e73-94f9-5f5e7d01c202" providerId="ADAL" clId="{FD37E069-DB1E-40BC-A5F9-C76A1B4E159A}" dt="2025-03-16T20:04:44.887" v="1159" actId="1076"/>
          <ac:spMkLst>
            <pc:docMk/>
            <pc:sldMk cId="0" sldId="303"/>
            <ac:spMk id="7" creationId="{00000000-0000-0000-0000-000000000000}"/>
          </ac:spMkLst>
        </pc:spChg>
        <pc:picChg chg="mod">
          <ac:chgData name="Bekithemba Nkomo [student]" userId="86136daf-e49a-4e73-94f9-5f5e7d01c202" providerId="ADAL" clId="{FD37E069-DB1E-40BC-A5F9-C76A1B4E159A}" dt="2025-03-16T20:04:49.193" v="1160" actId="14100"/>
          <ac:picMkLst>
            <pc:docMk/>
            <pc:sldMk cId="0" sldId="303"/>
            <ac:picMk id="6" creationId="{A18FFDEC-539C-64D1-3765-9BB9EF554A74}"/>
          </ac:picMkLst>
        </pc:picChg>
      </pc:sldChg>
      <pc:sldChg chg="delSp modSp mod">
        <pc:chgData name="Bekithemba Nkomo [student]" userId="86136daf-e49a-4e73-94f9-5f5e7d01c202" providerId="ADAL" clId="{FD37E069-DB1E-40BC-A5F9-C76A1B4E159A}" dt="2025-03-16T19:43:00.401" v="628" actId="478"/>
        <pc:sldMkLst>
          <pc:docMk/>
          <pc:sldMk cId="0" sldId="308"/>
        </pc:sldMkLst>
        <pc:spChg chg="mod">
          <ac:chgData name="Bekithemba Nkomo [student]" userId="86136daf-e49a-4e73-94f9-5f5e7d01c202" providerId="ADAL" clId="{FD37E069-DB1E-40BC-A5F9-C76A1B4E159A}" dt="2025-03-16T19:42:53.475" v="627" actId="1076"/>
          <ac:spMkLst>
            <pc:docMk/>
            <pc:sldMk cId="0" sldId="308"/>
            <ac:spMk id="4" creationId="{00000000-0000-0000-0000-000000000000}"/>
          </ac:spMkLst>
        </pc:spChg>
        <pc:picChg chg="mod">
          <ac:chgData name="Bekithemba Nkomo [student]" userId="86136daf-e49a-4e73-94f9-5f5e7d01c202" providerId="ADAL" clId="{FD37E069-DB1E-40BC-A5F9-C76A1B4E159A}" dt="2025-03-16T19:42:48.182" v="626" actId="1076"/>
          <ac:picMkLst>
            <pc:docMk/>
            <pc:sldMk cId="0" sldId="308"/>
            <ac:picMk id="3" creationId="{3472349C-3E09-038E-0C57-75F3FCF46C11}"/>
          </ac:picMkLst>
        </pc:picChg>
      </pc:sldChg>
      <pc:sldChg chg="modSp mod">
        <pc:chgData name="Bekithemba Nkomo [student]" userId="86136daf-e49a-4e73-94f9-5f5e7d01c202" providerId="ADAL" clId="{FD37E069-DB1E-40BC-A5F9-C76A1B4E159A}" dt="2025-03-16T19:59:35.761" v="1129" actId="404"/>
        <pc:sldMkLst>
          <pc:docMk/>
          <pc:sldMk cId="0" sldId="310"/>
        </pc:sldMkLst>
        <pc:spChg chg="mod">
          <ac:chgData name="Bekithemba Nkomo [student]" userId="86136daf-e49a-4e73-94f9-5f5e7d01c202" providerId="ADAL" clId="{FD37E069-DB1E-40BC-A5F9-C76A1B4E159A}" dt="2025-03-16T19:59:35.761" v="1129" actId="404"/>
          <ac:spMkLst>
            <pc:docMk/>
            <pc:sldMk cId="0" sldId="310"/>
            <ac:spMk id="10" creationId="{00000000-0000-0000-0000-000000000000}"/>
          </ac:spMkLst>
        </pc:spChg>
      </pc:sldChg>
      <pc:sldChg chg="modSp mod">
        <pc:chgData name="Bekithemba Nkomo [student]" userId="86136daf-e49a-4e73-94f9-5f5e7d01c202" providerId="ADAL" clId="{FD37E069-DB1E-40BC-A5F9-C76A1B4E159A}" dt="2025-03-16T19:24:05.977" v="8" actId="20577"/>
        <pc:sldMkLst>
          <pc:docMk/>
          <pc:sldMk cId="0" sldId="311"/>
        </pc:sldMkLst>
        <pc:spChg chg="mod">
          <ac:chgData name="Bekithemba Nkomo [student]" userId="86136daf-e49a-4e73-94f9-5f5e7d01c202" providerId="ADAL" clId="{FD37E069-DB1E-40BC-A5F9-C76A1B4E159A}" dt="2025-03-16T19:24:05.977" v="8" actId="20577"/>
          <ac:spMkLst>
            <pc:docMk/>
            <pc:sldMk cId="0" sldId="311"/>
            <ac:spMk id="2" creationId="{00000000-0000-0000-0000-000000000000}"/>
          </ac:spMkLst>
        </pc:spChg>
      </pc:sldChg>
      <pc:sldChg chg="addSp delSp modSp mod">
        <pc:chgData name="Bekithemba Nkomo [student]" userId="86136daf-e49a-4e73-94f9-5f5e7d01c202" providerId="ADAL" clId="{FD37E069-DB1E-40BC-A5F9-C76A1B4E159A}" dt="2025-03-22T21:04:13.747" v="1339" actId="571"/>
        <pc:sldMkLst>
          <pc:docMk/>
          <pc:sldMk cId="433882480" sldId="312"/>
        </pc:sldMkLst>
        <pc:spChg chg="mod">
          <ac:chgData name="Bekithemba Nkomo [student]" userId="86136daf-e49a-4e73-94f9-5f5e7d01c202" providerId="ADAL" clId="{FD37E069-DB1E-40BC-A5F9-C76A1B4E159A}" dt="2025-03-16T20:05:18.332" v="1165" actId="1076"/>
          <ac:spMkLst>
            <pc:docMk/>
            <pc:sldMk cId="433882480" sldId="312"/>
            <ac:spMk id="7" creationId="{12CE3166-2BF0-EB20-F3FB-D8C7D09717B3}"/>
          </ac:spMkLst>
        </pc:spChg>
        <pc:picChg chg="add mod">
          <ac:chgData name="Bekithemba Nkomo [student]" userId="86136daf-e49a-4e73-94f9-5f5e7d01c202" providerId="ADAL" clId="{FD37E069-DB1E-40BC-A5F9-C76A1B4E159A}" dt="2025-03-22T21:04:13.747" v="1339" actId="571"/>
          <ac:picMkLst>
            <pc:docMk/>
            <pc:sldMk cId="433882480" sldId="312"/>
            <ac:picMk id="2" creationId="{632C9941-5890-D7B7-0FE4-178D049DA602}"/>
          </ac:picMkLst>
        </pc:picChg>
        <pc:picChg chg="mod">
          <ac:chgData name="Bekithemba Nkomo [student]" userId="86136daf-e49a-4e73-94f9-5f5e7d01c202" providerId="ADAL" clId="{FD37E069-DB1E-40BC-A5F9-C76A1B4E159A}" dt="2025-03-16T20:05:14.991" v="1164" actId="1076"/>
          <ac:picMkLst>
            <pc:docMk/>
            <pc:sldMk cId="433882480" sldId="312"/>
            <ac:picMk id="10" creationId="{A554BE97-7EAF-016F-42E7-9F03D278B418}"/>
          </ac:picMkLst>
        </pc:picChg>
      </pc:sldChg>
      <pc:sldChg chg="modSp mod ord">
        <pc:chgData name="Bekithemba Nkomo [student]" userId="86136daf-e49a-4e73-94f9-5f5e7d01c202" providerId="ADAL" clId="{FD37E069-DB1E-40BC-A5F9-C76A1B4E159A}" dt="2025-03-16T23:03:59.344" v="1338" actId="20577"/>
        <pc:sldMkLst>
          <pc:docMk/>
          <pc:sldMk cId="2354696400" sldId="315"/>
        </pc:sldMkLst>
        <pc:spChg chg="mod">
          <ac:chgData name="Bekithemba Nkomo [student]" userId="86136daf-e49a-4e73-94f9-5f5e7d01c202" providerId="ADAL" clId="{FD37E069-DB1E-40BC-A5F9-C76A1B4E159A}" dt="2025-03-16T23:03:59.344" v="1338" actId="20577"/>
          <ac:spMkLst>
            <pc:docMk/>
            <pc:sldMk cId="2354696400" sldId="315"/>
            <ac:spMk id="10" creationId="{56EE14A3-040F-A8C8-D2F8-9A3D40974F78}"/>
          </ac:spMkLst>
        </pc:spChg>
      </pc:sldChg>
      <pc:sldChg chg="del">
        <pc:chgData name="Bekithemba Nkomo [student]" userId="86136daf-e49a-4e73-94f9-5f5e7d01c202" providerId="ADAL" clId="{FD37E069-DB1E-40BC-A5F9-C76A1B4E159A}" dt="2025-03-16T19:43:16.058" v="629" actId="47"/>
        <pc:sldMkLst>
          <pc:docMk/>
          <pc:sldMk cId="3669947015" sldId="317"/>
        </pc:sldMkLst>
      </pc:sldChg>
      <pc:sldChg chg="del">
        <pc:chgData name="Bekithemba Nkomo [student]" userId="86136daf-e49a-4e73-94f9-5f5e7d01c202" providerId="ADAL" clId="{FD37E069-DB1E-40BC-A5F9-C76A1B4E159A}" dt="2025-03-16T19:26:21.135" v="28" actId="47"/>
        <pc:sldMkLst>
          <pc:docMk/>
          <pc:sldMk cId="1576201583" sldId="319"/>
        </pc:sldMkLst>
      </pc:sldChg>
      <pc:sldChg chg="addSp delSp modSp mod">
        <pc:chgData name="Bekithemba Nkomo [student]" userId="86136daf-e49a-4e73-94f9-5f5e7d01c202" providerId="ADAL" clId="{FD37E069-DB1E-40BC-A5F9-C76A1B4E159A}" dt="2025-03-16T22:56:36.847" v="1251" actId="1076"/>
        <pc:sldMkLst>
          <pc:docMk/>
          <pc:sldMk cId="0" sldId="320"/>
        </pc:sldMkLst>
        <pc:spChg chg="mod">
          <ac:chgData name="Bekithemba Nkomo [student]" userId="86136daf-e49a-4e73-94f9-5f5e7d01c202" providerId="ADAL" clId="{FD37E069-DB1E-40BC-A5F9-C76A1B4E159A}" dt="2025-03-16T22:56:30.980" v="1249" actId="1076"/>
          <ac:spMkLst>
            <pc:docMk/>
            <pc:sldMk cId="0" sldId="320"/>
            <ac:spMk id="4" creationId="{00000000-0000-0000-0000-000000000000}"/>
          </ac:spMkLst>
        </pc:spChg>
        <pc:picChg chg="add mod">
          <ac:chgData name="Bekithemba Nkomo [student]" userId="86136daf-e49a-4e73-94f9-5f5e7d01c202" providerId="ADAL" clId="{FD37E069-DB1E-40BC-A5F9-C76A1B4E159A}" dt="2025-03-16T22:56:36.847" v="1251" actId="1076"/>
          <ac:picMkLst>
            <pc:docMk/>
            <pc:sldMk cId="0" sldId="320"/>
            <ac:picMk id="6" creationId="{F53E68F2-CA4D-4A96-CA37-6E138B435B72}"/>
          </ac:picMkLst>
        </pc:picChg>
      </pc:sldChg>
      <pc:sldChg chg="del">
        <pc:chgData name="Bekithemba Nkomo [student]" userId="86136daf-e49a-4e73-94f9-5f5e7d01c202" providerId="ADAL" clId="{FD37E069-DB1E-40BC-A5F9-C76A1B4E159A}" dt="2025-03-16T19:29:39.703" v="37" actId="47"/>
        <pc:sldMkLst>
          <pc:docMk/>
          <pc:sldMk cId="0" sldId="321"/>
        </pc:sldMkLst>
      </pc:sldChg>
      <pc:sldChg chg="addSp delSp modSp mod">
        <pc:chgData name="Bekithemba Nkomo [student]" userId="86136daf-e49a-4e73-94f9-5f5e7d01c202" providerId="ADAL" clId="{FD37E069-DB1E-40BC-A5F9-C76A1B4E159A}" dt="2025-03-16T22:40:04.268" v="1236" actId="14100"/>
        <pc:sldMkLst>
          <pc:docMk/>
          <pc:sldMk cId="3464775110" sldId="322"/>
        </pc:sldMkLst>
        <pc:spChg chg="mod">
          <ac:chgData name="Bekithemba Nkomo [student]" userId="86136daf-e49a-4e73-94f9-5f5e7d01c202" providerId="ADAL" clId="{FD37E069-DB1E-40BC-A5F9-C76A1B4E159A}" dt="2025-03-16T19:30:37.095" v="56" actId="1076"/>
          <ac:spMkLst>
            <pc:docMk/>
            <pc:sldMk cId="3464775110" sldId="322"/>
            <ac:spMk id="4" creationId="{F81BF90A-55E0-0A2F-C8C7-0864BC73ADED}"/>
          </ac:spMkLst>
        </pc:spChg>
        <pc:picChg chg="add mod">
          <ac:chgData name="Bekithemba Nkomo [student]" userId="86136daf-e49a-4e73-94f9-5f5e7d01c202" providerId="ADAL" clId="{FD37E069-DB1E-40BC-A5F9-C76A1B4E159A}" dt="2025-03-16T22:40:04.268" v="1236" actId="14100"/>
          <ac:picMkLst>
            <pc:docMk/>
            <pc:sldMk cId="3464775110" sldId="322"/>
            <ac:picMk id="8" creationId="{277C4815-52A6-A950-4865-9035763F2FB1}"/>
          </ac:picMkLst>
        </pc:picChg>
      </pc:sldChg>
      <pc:sldChg chg="modSp mod">
        <pc:chgData name="Bekithemba Nkomo [student]" userId="86136daf-e49a-4e73-94f9-5f5e7d01c202" providerId="ADAL" clId="{FD37E069-DB1E-40BC-A5F9-C76A1B4E159A}" dt="2025-03-16T19:26:36.325" v="29" actId="20577"/>
        <pc:sldMkLst>
          <pc:docMk/>
          <pc:sldMk cId="3539802345" sldId="323"/>
        </pc:sldMkLst>
        <pc:spChg chg="mod">
          <ac:chgData name="Bekithemba Nkomo [student]" userId="86136daf-e49a-4e73-94f9-5f5e7d01c202" providerId="ADAL" clId="{FD37E069-DB1E-40BC-A5F9-C76A1B4E159A}" dt="2025-03-16T19:26:36.325" v="29" actId="20577"/>
          <ac:spMkLst>
            <pc:docMk/>
            <pc:sldMk cId="3539802345" sldId="323"/>
            <ac:spMk id="10" creationId="{C4148CFF-948C-A314-BE6D-14657A6393D4}"/>
          </ac:spMkLst>
        </pc:spChg>
      </pc:sldChg>
      <pc:sldChg chg="modSp mod ord">
        <pc:chgData name="Bekithemba Nkomo [student]" userId="86136daf-e49a-4e73-94f9-5f5e7d01c202" providerId="ADAL" clId="{FD37E069-DB1E-40BC-A5F9-C76A1B4E159A}" dt="2025-03-16T19:52:03.738" v="955" actId="27636"/>
        <pc:sldMkLst>
          <pc:docMk/>
          <pc:sldMk cId="3697688835" sldId="324"/>
        </pc:sldMkLst>
        <pc:spChg chg="mod">
          <ac:chgData name="Bekithemba Nkomo [student]" userId="86136daf-e49a-4e73-94f9-5f5e7d01c202" providerId="ADAL" clId="{FD37E069-DB1E-40BC-A5F9-C76A1B4E159A}" dt="2025-03-16T19:52:03.738" v="955" actId="27636"/>
          <ac:spMkLst>
            <pc:docMk/>
            <pc:sldMk cId="3697688835" sldId="324"/>
            <ac:spMk id="10" creationId="{63BA7AE3-5878-1FE9-62DD-7C723E658B8E}"/>
          </ac:spMkLst>
        </pc:spChg>
      </pc:sldChg>
      <pc:sldChg chg="delSp modSp mod">
        <pc:chgData name="Bekithemba Nkomo [student]" userId="86136daf-e49a-4e73-94f9-5f5e7d01c202" providerId="ADAL" clId="{FD37E069-DB1E-40BC-A5F9-C76A1B4E159A}" dt="2025-03-16T22:58:33.906" v="1268" actId="1076"/>
        <pc:sldMkLst>
          <pc:docMk/>
          <pc:sldMk cId="3275207337" sldId="325"/>
        </pc:sldMkLst>
        <pc:spChg chg="mod">
          <ac:chgData name="Bekithemba Nkomo [student]" userId="86136daf-e49a-4e73-94f9-5f5e7d01c202" providerId="ADAL" clId="{FD37E069-DB1E-40BC-A5F9-C76A1B4E159A}" dt="2025-03-16T22:58:33.906" v="1268" actId="1076"/>
          <ac:spMkLst>
            <pc:docMk/>
            <pc:sldMk cId="3275207337" sldId="325"/>
            <ac:spMk id="4" creationId="{317A52FA-5BD7-7134-9F91-7C70348E4842}"/>
          </ac:spMkLst>
        </pc:spChg>
      </pc:sldChg>
      <pc:sldChg chg="modSp add mod ord">
        <pc:chgData name="Bekithemba Nkomo [student]" userId="86136daf-e49a-4e73-94f9-5f5e7d01c202" providerId="ADAL" clId="{FD37E069-DB1E-40BC-A5F9-C76A1B4E159A}" dt="2025-03-16T19:52:30.989" v="961" actId="404"/>
        <pc:sldMkLst>
          <pc:docMk/>
          <pc:sldMk cId="1870677666" sldId="326"/>
        </pc:sldMkLst>
        <pc:spChg chg="mod">
          <ac:chgData name="Bekithemba Nkomo [student]" userId="86136daf-e49a-4e73-94f9-5f5e7d01c202" providerId="ADAL" clId="{FD37E069-DB1E-40BC-A5F9-C76A1B4E159A}" dt="2025-03-16T19:52:30.989" v="961" actId="404"/>
          <ac:spMkLst>
            <pc:docMk/>
            <pc:sldMk cId="1870677666" sldId="326"/>
            <ac:spMk id="10" creationId="{CE11D783-3C65-1081-3695-E7387B0E7F12}"/>
          </ac:spMkLst>
        </pc:spChg>
      </pc:sldChg>
      <pc:sldChg chg="addSp delSp modSp add mod ord">
        <pc:chgData name="Bekithemba Nkomo [student]" userId="86136daf-e49a-4e73-94f9-5f5e7d01c202" providerId="ADAL" clId="{FD37E069-DB1E-40BC-A5F9-C76A1B4E159A}" dt="2025-03-16T23:02:22.330" v="1309" actId="1076"/>
        <pc:sldMkLst>
          <pc:docMk/>
          <pc:sldMk cId="1644432178" sldId="327"/>
        </pc:sldMkLst>
        <pc:spChg chg="mod">
          <ac:chgData name="Bekithemba Nkomo [student]" userId="86136daf-e49a-4e73-94f9-5f5e7d01c202" providerId="ADAL" clId="{FD37E069-DB1E-40BC-A5F9-C76A1B4E159A}" dt="2025-03-16T23:02:22.330" v="1309" actId="1076"/>
          <ac:spMkLst>
            <pc:docMk/>
            <pc:sldMk cId="1644432178" sldId="327"/>
            <ac:spMk id="4" creationId="{53F343DE-1A27-B61C-FA17-402303E0D26A}"/>
          </ac:spMkLst>
        </pc:spChg>
        <pc:picChg chg="add mod">
          <ac:chgData name="Bekithemba Nkomo [student]" userId="86136daf-e49a-4e73-94f9-5f5e7d01c202" providerId="ADAL" clId="{FD37E069-DB1E-40BC-A5F9-C76A1B4E159A}" dt="2025-03-16T23:02:16.458" v="1308" actId="1076"/>
          <ac:picMkLst>
            <pc:docMk/>
            <pc:sldMk cId="1644432178" sldId="327"/>
            <ac:picMk id="2" creationId="{5472C018-DCA4-9294-65DA-F352D286C393}"/>
          </ac:picMkLst>
        </pc:picChg>
      </pc:sldChg>
      <pc:sldChg chg="modSp add mod ord">
        <pc:chgData name="Bekithemba Nkomo [student]" userId="86136daf-e49a-4e73-94f9-5f5e7d01c202" providerId="ADAL" clId="{FD37E069-DB1E-40BC-A5F9-C76A1B4E159A}" dt="2025-03-16T22:58:43.508" v="1270" actId="20577"/>
        <pc:sldMkLst>
          <pc:docMk/>
          <pc:sldMk cId="3632893582" sldId="328"/>
        </pc:sldMkLst>
        <pc:spChg chg="mod">
          <ac:chgData name="Bekithemba Nkomo [student]" userId="86136daf-e49a-4e73-94f9-5f5e7d01c202" providerId="ADAL" clId="{FD37E069-DB1E-40BC-A5F9-C76A1B4E159A}" dt="2025-03-16T22:58:43.508" v="1270" actId="20577"/>
          <ac:spMkLst>
            <pc:docMk/>
            <pc:sldMk cId="3632893582" sldId="328"/>
            <ac:spMk id="10" creationId="{5F538222-358C-510A-7EA0-D6A97F6C32F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3/22/2025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DA1498-92C7-4E4B-8045-C9195F453964}" type="datetimeFigureOut">
              <a:rPr lang="en-US" smtClean="0"/>
              <a:t>3/18/2025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EDF93-2BFD-41CA-ABC7-B039102F3792}"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0.jp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4.jp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6.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7.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jp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9.emf"/><Relationship Id="rId4" Type="http://schemas.openxmlformats.org/officeDocument/2006/relationships/hyperlink" Target="https://24slides.com/?utm_campaign=mp&amp;utm_medium=ppt&amp;utm_source=pptlink&amp;utm_content=&amp;utm_te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927504"/>
            <a:ext cx="9144000" cy="553998"/>
          </a:xfrm>
        </p:spPr>
        <p:txBody>
          <a:bodyPr lIns="0" tIns="0" rIns="0" bIns="0" anchor="t">
            <a:spAutoFit/>
          </a:bodyPr>
          <a:lstStyle/>
          <a:p>
            <a:pPr algn="ctr"/>
            <a:r>
              <a:rPr lang="en-US" sz="3600" b="1" dirty="0">
                <a:solidFill>
                  <a:srgbClr val="002060"/>
                </a:solidFill>
              </a:rPr>
              <a:t>M8 Project Work: VISUALIZATIONS</a:t>
            </a:r>
            <a:endParaRPr lang="en-US" b="1" dirty="0">
              <a:solidFill>
                <a:srgbClr val="002060"/>
              </a:solidFill>
            </a:endParaRPr>
          </a:p>
        </p:txBody>
      </p:sp>
      <p:grpSp>
        <p:nvGrpSpPr>
          <p:cNvPr id="7" name="Group 6" descr="Icon of chart. "/>
          <p:cNvGrpSpPr/>
          <p:nvPr/>
        </p:nvGrpSpPr>
        <p:grpSpPr>
          <a:xfrm rot="219313">
            <a:off x="8137021" y="1770395"/>
            <a:ext cx="813730" cy="748584"/>
            <a:chOff x="2025650" y="4786313"/>
            <a:chExt cx="285750" cy="287338"/>
          </a:xfrm>
          <a:solidFill>
            <a:schemeClr val="bg1"/>
          </a:solidFill>
        </p:grpSpPr>
        <p:sp>
          <p:nvSpPr>
            <p:cNvPr id="8" name="Freeform 565"/>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sp>
          <p:nvSpPr>
            <p:cNvPr id="9" name="Freeform 566"/>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grpSp>
      <p:sp>
        <p:nvSpPr>
          <p:cNvPr id="3" name="TextBox 2"/>
          <p:cNvSpPr txBox="1"/>
          <p:nvPr/>
        </p:nvSpPr>
        <p:spPr>
          <a:xfrm>
            <a:off x="322448" y="1770395"/>
            <a:ext cx="4412491" cy="3200876"/>
          </a:xfrm>
          <a:prstGeom prst="rect">
            <a:avLst/>
          </a:prstGeom>
          <a:noFill/>
        </p:spPr>
        <p:txBody>
          <a:bodyPr wrap="square" rtlCol="0">
            <a:spAutoFit/>
          </a:bodyPr>
          <a:lstStyle/>
          <a:p>
            <a:r>
              <a:rPr lang="en-US" sz="2000" b="1" u="sng" dirty="0"/>
              <a:t>TEAM MEMBERS:</a:t>
            </a:r>
          </a:p>
          <a:p>
            <a:endParaRPr lang="en-US" sz="2000" b="1" u="sng" dirty="0"/>
          </a:p>
          <a:p>
            <a:pPr>
              <a:lnSpc>
                <a:spcPct val="200000"/>
              </a:lnSpc>
            </a:pPr>
            <a:r>
              <a:rPr lang="en-US" b="1" dirty="0"/>
              <a:t>Sylvester </a:t>
            </a:r>
            <a:r>
              <a:rPr lang="en-US" b="1" dirty="0" err="1"/>
              <a:t>Vhashe</a:t>
            </a:r>
            <a:endParaRPr lang="en-US" b="1" dirty="0"/>
          </a:p>
          <a:p>
            <a:pPr>
              <a:lnSpc>
                <a:spcPct val="200000"/>
              </a:lnSpc>
            </a:pPr>
            <a:r>
              <a:rPr lang="en-US" b="1" dirty="0"/>
              <a:t>Bekithemba Nkomo</a:t>
            </a:r>
          </a:p>
          <a:p>
            <a:pPr>
              <a:lnSpc>
                <a:spcPct val="200000"/>
              </a:lnSpc>
            </a:pPr>
            <a:r>
              <a:rPr lang="en-US" b="1" dirty="0"/>
              <a:t>Innocent </a:t>
            </a:r>
            <a:r>
              <a:rPr lang="en-US" b="1" dirty="0" err="1"/>
              <a:t>Mujokoro</a:t>
            </a:r>
            <a:endParaRPr lang="en-US" b="1" dirty="0"/>
          </a:p>
          <a:p>
            <a:pPr>
              <a:lnSpc>
                <a:spcPct val="200000"/>
              </a:lnSpc>
            </a:pPr>
            <a:r>
              <a:rPr lang="en-US" b="1" dirty="0"/>
              <a:t>Tapiwanashe </a:t>
            </a:r>
            <a:r>
              <a:rPr lang="en-US" b="1" dirty="0" err="1"/>
              <a:t>Mutarimanja</a:t>
            </a:r>
            <a:endParaRPr lang="en-US" b="1" dirty="0"/>
          </a:p>
          <a:p>
            <a:endParaRPr lang="en-US" dirty="0">
              <a:solidFill>
                <a:schemeClr val="bg1"/>
              </a:solidFill>
            </a:endParaRPr>
          </a:p>
        </p:txBody>
      </p:sp>
      <p:sp>
        <p:nvSpPr>
          <p:cNvPr id="11" name="Title 1"/>
          <p:cNvSpPr txBox="1"/>
          <p:nvPr/>
        </p:nvSpPr>
        <p:spPr>
          <a:xfrm>
            <a:off x="-106731" y="41224"/>
            <a:ext cx="4317230" cy="1661993"/>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NEXTGEN</a:t>
            </a:r>
          </a:p>
          <a:p>
            <a:r>
              <a:rPr lang="en-US" dirty="0"/>
              <a:t>ANALYTICS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3" name="TextBox 2"/>
          <p:cNvSpPr txBox="1"/>
          <p:nvPr/>
        </p:nvSpPr>
        <p:spPr>
          <a:xfrm>
            <a:off x="943832" y="609810"/>
            <a:ext cx="10874326" cy="3139321"/>
          </a:xfrm>
          <a:prstGeom prst="rect">
            <a:avLst/>
          </a:prstGeom>
          <a:noFill/>
        </p:spPr>
        <p:txBody>
          <a:bodyPr wrap="square" rtlCol="0">
            <a:spAutoFit/>
          </a:bodyPr>
          <a:lstStyle/>
          <a:p>
            <a:r>
              <a:rPr lang="en-US" dirty="0">
                <a:solidFill>
                  <a:schemeClr val="bg1"/>
                </a:solidFill>
              </a:rPr>
              <a:t>TITLE : </a:t>
            </a:r>
          </a:p>
          <a:p>
            <a:r>
              <a:rPr lang="en-US" sz="5400" b="1" dirty="0">
                <a:solidFill>
                  <a:schemeClr val="bg1"/>
                </a:solidFill>
                <a:latin typeface="Times New Roman" panose="02020603050405020304" pitchFamily="18" charset="0"/>
                <a:cs typeface="Times New Roman" panose="02020603050405020304" pitchFamily="18" charset="0"/>
              </a:rPr>
              <a:t>Data-Driven Enforcement for Improved Housing Conditions and Code Compliance in NYC.</a:t>
            </a:r>
          </a:p>
          <a:p>
            <a:endParaRPr lang="en-US" dirty="0"/>
          </a:p>
        </p:txBody>
      </p:sp>
      <p:sp>
        <p:nvSpPr>
          <p:cNvPr id="11" name="Title 1"/>
          <p:cNvSpPr txBox="1"/>
          <p:nvPr/>
        </p:nvSpPr>
        <p:spPr>
          <a:xfrm>
            <a:off x="766479" y="3749132"/>
            <a:ext cx="10516563" cy="1772793"/>
          </a:xfrm>
          <a:prstGeom prst="rect">
            <a:avLst/>
          </a:prstGeom>
          <a:noFill/>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i="1" dirty="0">
                <a:solidFill>
                  <a:schemeClr val="bg1"/>
                </a:solidFill>
              </a:rPr>
              <a:t>Welcome to our analysis of housing conditions and code compliance in New York City, where we leverage data to understand tenant experiences and identify critical areas for improvement.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452755"/>
            <a:ext cx="9404985" cy="5709285"/>
          </a:xfrm>
        </p:spPr>
        <p:txBody>
          <a:bodyPr/>
          <a:lstStyle/>
          <a:p>
            <a:r>
              <a:rPr lang="en-US" altLang="en-US" b="1" dirty="0"/>
              <a:t>IMPROVEMENTS</a:t>
            </a:r>
            <a:br>
              <a:rPr lang="en-US" altLang="en-US" dirty="0"/>
            </a:br>
            <a:r>
              <a:rPr lang="en-US" altLang="en-US" dirty="0"/>
              <a:t>For a better presentation we have re arranged the flow of slides. New insights have also been added.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52814" y="749085"/>
            <a:ext cx="6622977" cy="5304243"/>
          </a:xfrm>
        </p:spPr>
        <p:txBody>
          <a:bodyPr anchor="ctr">
            <a:normAutofit/>
          </a:bodyPr>
          <a:lstStyle/>
          <a:p>
            <a:pPr>
              <a:buNone/>
            </a:pPr>
            <a:r>
              <a:rPr lang="en-US" sz="1400" b="1" dirty="0">
                <a:cs typeface="Times New Roman" panose="02020603050405020304" pitchFamily="18" charset="0"/>
              </a:rPr>
              <a:t>Table 1 : Complaints leading to violations</a:t>
            </a:r>
          </a:p>
          <a:p>
            <a:pPr>
              <a:buNone/>
            </a:pPr>
            <a:r>
              <a:rPr lang="en-US" sz="1200" b="1" dirty="0"/>
              <a:t>Key Insights from the "Boroughs with the Most Complaints Leading to Violations" Table:</a:t>
            </a:r>
            <a:endParaRPr lang="en-US" sz="1200" dirty="0"/>
          </a:p>
          <a:p>
            <a:r>
              <a:rPr lang="en-US" sz="1200" b="1" dirty="0"/>
              <a:t>Brooklyn has the Highest Complaint Volume:</a:t>
            </a:r>
            <a:r>
              <a:rPr lang="en-US" sz="1200" dirty="0"/>
              <a:t> Brooklyn has significantly more complaints (449,391) than any other borough, more than double the next highest (Bronx).</a:t>
            </a:r>
          </a:p>
          <a:p>
            <a:r>
              <a:rPr lang="en-US" sz="1200" b="1" dirty="0"/>
              <a:t>Bronx has the Highest Percentage of Complaints Leading to Violations:</a:t>
            </a:r>
            <a:r>
              <a:rPr lang="en-US" sz="1200" dirty="0"/>
              <a:t> While Brooklyn has the most complaints, the Bronx has the highest percentage of those complaints resulting in violations (46%). This suggests a potential issue with the severity or validity of complaints in the Bronx.</a:t>
            </a:r>
          </a:p>
          <a:p>
            <a:r>
              <a:rPr lang="en-US" sz="1200" b="1" dirty="0"/>
              <a:t>Queens has the Lowest Percentage of Complaints Leading to Violations:</a:t>
            </a:r>
            <a:r>
              <a:rPr lang="en-US" sz="1200" dirty="0"/>
              <a:t> Queens has the lowest percentage of complaints resulting in violations (21%). This could indicate a more efficient resolution process or potentially a lower rate of valid complaints.</a:t>
            </a:r>
          </a:p>
          <a:p>
            <a:r>
              <a:rPr lang="en-US" sz="1200" b="1" dirty="0"/>
              <a:t>Staten Island has the Lowest Complaint Volume:</a:t>
            </a:r>
            <a:r>
              <a:rPr lang="en-US" sz="1200" dirty="0"/>
              <a:t> Staten Island has the fewest complaints overall, which may reflect its smaller population or potentially different reporting patterns.</a:t>
            </a:r>
          </a:p>
          <a:p>
            <a:r>
              <a:rPr lang="en-US" sz="1200" b="1" dirty="0"/>
              <a:t>Overall Violation Rate is 31%:</a:t>
            </a:r>
            <a:r>
              <a:rPr lang="en-US" sz="1200" dirty="0"/>
              <a:t> Across all boroughs, approximately 31% of complaints result in violations.</a:t>
            </a:r>
          </a:p>
        </p:txBody>
      </p:sp>
      <p:pic>
        <p:nvPicPr>
          <p:cNvPr id="3" name="Picture 2"/>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08CBFC-5C00-12BB-0596-8F84F8BE25D9}"/>
            </a:ext>
          </a:extLst>
        </p:cNvPr>
        <p:cNvGrpSpPr/>
        <p:nvPr/>
      </p:nvGrpSpPr>
      <p:grpSpPr>
        <a:xfrm>
          <a:off x="0" y="0"/>
          <a:ext cx="0" cy="0"/>
          <a:chOff x="0" y="0"/>
          <a:chExt cx="0" cy="0"/>
        </a:xfrm>
      </p:grpSpPr>
      <p:pic>
        <p:nvPicPr>
          <p:cNvPr id="70" name="Picture 69">
            <a:extLst>
              <a:ext uri="{FF2B5EF4-FFF2-40B4-BE49-F238E27FC236}">
                <a16:creationId xmlns:a16="http://schemas.microsoft.com/office/drawing/2014/main" id="{16C9A747-FCBF-51E7-D11F-089C535B1A9F}"/>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2" name="Picture 71">
            <a:extLst>
              <a:ext uri="{FF2B5EF4-FFF2-40B4-BE49-F238E27FC236}">
                <a16:creationId xmlns:a16="http://schemas.microsoft.com/office/drawing/2014/main" id="{CA9DA908-F442-AB89-598D-C68D2D96C40E}"/>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74" name="Oval 73">
            <a:extLst>
              <a:ext uri="{FF2B5EF4-FFF2-40B4-BE49-F238E27FC236}">
                <a16:creationId xmlns:a16="http://schemas.microsoft.com/office/drawing/2014/main" id="{E0EDCF06-DE94-0D4A-D63A-07715217B68F}"/>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6" name="Picture 75">
            <a:extLst>
              <a:ext uri="{FF2B5EF4-FFF2-40B4-BE49-F238E27FC236}">
                <a16:creationId xmlns:a16="http://schemas.microsoft.com/office/drawing/2014/main" id="{3910203A-1997-00E1-FC70-C804BCC6E683}"/>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8" name="Picture 77">
            <a:extLst>
              <a:ext uri="{FF2B5EF4-FFF2-40B4-BE49-F238E27FC236}">
                <a16:creationId xmlns:a16="http://schemas.microsoft.com/office/drawing/2014/main" id="{FDC0FB57-1252-0881-2A70-6DD238B23041}"/>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80" name="Rectangle 79">
            <a:extLst>
              <a:ext uri="{FF2B5EF4-FFF2-40B4-BE49-F238E27FC236}">
                <a16:creationId xmlns:a16="http://schemas.microsoft.com/office/drawing/2014/main" id="{DB390588-30B0-22D2-1D38-61F77C738500}"/>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 name="Rectangle 81">
            <a:extLst>
              <a:ext uri="{FF2B5EF4-FFF2-40B4-BE49-F238E27FC236}">
                <a16:creationId xmlns:a16="http://schemas.microsoft.com/office/drawing/2014/main" id="{B7000166-D2F3-4154-2BA4-B9C6A05CBC9D}"/>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12CE3166-2BF0-EB20-F3FB-D8C7D09717B3}"/>
              </a:ext>
            </a:extLst>
          </p:cNvPr>
          <p:cNvSpPr>
            <a:spLocks noGrp="1"/>
          </p:cNvSpPr>
          <p:nvPr>
            <p:ph type="body" sz="quarter" idx="3"/>
          </p:nvPr>
        </p:nvSpPr>
        <p:spPr>
          <a:xfrm>
            <a:off x="9962358" y="3005287"/>
            <a:ext cx="1878577" cy="646073"/>
          </a:xfrm>
        </p:spPr>
        <p:txBody>
          <a:bodyPr/>
          <a:lstStyle/>
          <a:p>
            <a:r>
              <a:rPr lang="en-US" dirty="0"/>
              <a:t>Table 1</a:t>
            </a:r>
          </a:p>
        </p:txBody>
      </p:sp>
      <p:pic>
        <p:nvPicPr>
          <p:cNvPr id="10" name="Content Placeholder 9">
            <a:extLst>
              <a:ext uri="{FF2B5EF4-FFF2-40B4-BE49-F238E27FC236}">
                <a16:creationId xmlns:a16="http://schemas.microsoft.com/office/drawing/2014/main" id="{A554BE97-7EAF-016F-42E7-9F03D278B418}"/>
              </a:ext>
            </a:extLst>
          </p:cNvPr>
          <p:cNvPicPr>
            <a:picLocks noGrp="1" noChangeAspect="1"/>
          </p:cNvPicPr>
          <p:nvPr>
            <p:ph sz="quarter" idx="4"/>
          </p:nvPr>
        </p:nvPicPr>
        <p:blipFill>
          <a:blip r:embed="rId6"/>
          <a:stretch>
            <a:fillRect/>
          </a:stretch>
        </p:blipFill>
        <p:spPr>
          <a:xfrm>
            <a:off x="351065" y="937480"/>
            <a:ext cx="8907235" cy="5362447"/>
          </a:xfrm>
          <a:prstGeom prst="rect">
            <a:avLst/>
          </a:prstGeom>
        </p:spPr>
      </p:pic>
      <p:pic>
        <p:nvPicPr>
          <p:cNvPr id="2" name="Content Placeholder 9">
            <a:extLst>
              <a:ext uri="{FF2B5EF4-FFF2-40B4-BE49-F238E27FC236}">
                <a16:creationId xmlns:a16="http://schemas.microsoft.com/office/drawing/2014/main" id="{632C9941-5890-D7B7-0FE4-178D049DA602}"/>
              </a:ext>
            </a:extLst>
          </p:cNvPr>
          <p:cNvPicPr>
            <a:picLocks noChangeAspect="1"/>
          </p:cNvPicPr>
          <p:nvPr/>
        </p:nvPicPr>
        <p:blipFill>
          <a:blip r:embed="rId6"/>
          <a:stretch>
            <a:fillRect/>
          </a:stretch>
        </p:blipFill>
        <p:spPr>
          <a:xfrm>
            <a:off x="351065" y="924780"/>
            <a:ext cx="8907235" cy="5362447"/>
          </a:xfrm>
          <a:prstGeom prst="rect">
            <a:avLst/>
          </a:prstGeom>
        </p:spPr>
      </p:pic>
    </p:spTree>
    <p:extLst>
      <p:ext uri="{BB962C8B-B14F-4D97-AF65-F5344CB8AC3E}">
        <p14:creationId xmlns:p14="http://schemas.microsoft.com/office/powerpoint/2010/main" val="4338824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D8A7F04B-CA2C-E370-5059-A0E04C31BED3}"/>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CF972093-2ADD-BFCB-536E-373B0B1FEB91}"/>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C4148CFF-948C-A314-BE6D-14657A6393D4}"/>
              </a:ext>
            </a:extLst>
          </p:cNvPr>
          <p:cNvSpPr>
            <a:spLocks noGrp="1"/>
          </p:cNvSpPr>
          <p:nvPr>
            <p:ph idx="1"/>
          </p:nvPr>
        </p:nvSpPr>
        <p:spPr>
          <a:xfrm>
            <a:off x="6210300" y="300567"/>
            <a:ext cx="5847381" cy="6069235"/>
          </a:xfrm>
        </p:spPr>
        <p:txBody>
          <a:bodyPr>
            <a:normAutofit fontScale="70000" lnSpcReduction="20000"/>
          </a:bodyPr>
          <a:lstStyle/>
          <a:p>
            <a:pPr marL="0" indent="0">
              <a:buNone/>
            </a:pPr>
            <a:r>
              <a:rPr lang="en-US" sz="1800" dirty="0"/>
              <a:t>Table 2: </a:t>
            </a:r>
            <a:r>
              <a:rPr lang="en-US" sz="1800" b="1" dirty="0"/>
              <a:t>Key Insights</a:t>
            </a:r>
          </a:p>
          <a:p>
            <a:pPr marL="0" indent="0">
              <a:buNone/>
            </a:pPr>
            <a:endParaRPr lang="en-US" sz="1800" dirty="0"/>
          </a:p>
          <a:p>
            <a:pPr marL="0" indent="0">
              <a:buNone/>
            </a:pPr>
            <a:r>
              <a:rPr lang="en-US" sz="1800" b="1" dirty="0"/>
              <a:t>Borough Comparison</a:t>
            </a:r>
            <a:r>
              <a:rPr lang="en-US" sz="1800" dirty="0"/>
              <a:t>:</a:t>
            </a:r>
          </a:p>
          <a:p>
            <a:pPr marL="0" indent="0">
              <a:buNone/>
            </a:pPr>
            <a:r>
              <a:rPr lang="en-US" sz="1800" dirty="0"/>
              <a:t>Brooklyn has the highest number of total complaints at 249,345, suggesting it may have more residents or a higher frequency of issues.</a:t>
            </a:r>
          </a:p>
          <a:p>
            <a:pPr marL="0" indent="0">
              <a:buNone/>
            </a:pPr>
            <a:r>
              <a:rPr lang="en-US" sz="1800" dirty="0"/>
              <a:t>Bronx follows with 217,563 complaints, indicating a substantial number of reported problems as well.</a:t>
            </a:r>
          </a:p>
          <a:p>
            <a:pPr marL="0" indent="0">
              <a:buNone/>
            </a:pPr>
            <a:r>
              <a:rPr lang="en-US" sz="1800" dirty="0"/>
              <a:t>Queens, Manhattan, and Staten Island have fewer complaints, with Staten Island being the lowest at 32,720.</a:t>
            </a:r>
          </a:p>
          <a:p>
            <a:pPr marL="0" indent="0">
              <a:buNone/>
            </a:pPr>
            <a:r>
              <a:rPr lang="en-US" sz="1800" b="1" dirty="0"/>
              <a:t>Major Categories</a:t>
            </a:r>
            <a:r>
              <a:rPr lang="en-US" sz="1800" dirty="0"/>
              <a:t>:</a:t>
            </a:r>
          </a:p>
          <a:p>
            <a:pPr marL="0" indent="0">
              <a:buNone/>
            </a:pPr>
            <a:r>
              <a:rPr lang="en-US" sz="1800" dirty="0"/>
              <a:t>Heat/Hot Water has the highest number of complaints in multiple boroughs, especially in Brooklyn (107,493) and the Bronx (81,003), indicating potential issues with heating systems that may need addressing.</a:t>
            </a:r>
          </a:p>
          <a:p>
            <a:pPr marL="0" indent="0">
              <a:buNone/>
            </a:pPr>
            <a:r>
              <a:rPr lang="en-US" sz="1800" dirty="0"/>
              <a:t>Plumbing also shows significant complaints, particularly in Brooklyn (46,137) and Bronx (38,133), suggesting a need for plumbing infrastructure improvements. Other categories like Electric and Water Leak also contribute to the overall complaint count, with notable figures in all boroughs.</a:t>
            </a:r>
          </a:p>
          <a:p>
            <a:pPr marL="0" indent="0">
              <a:buNone/>
            </a:pPr>
            <a:r>
              <a:rPr lang="en-US" sz="1800" b="1" dirty="0"/>
              <a:t>Issue Distribution</a:t>
            </a:r>
            <a:r>
              <a:rPr lang="en-US" sz="1800" dirty="0"/>
              <a:t>: </a:t>
            </a:r>
          </a:p>
          <a:p>
            <a:pPr marL="0" indent="0">
              <a:buNone/>
            </a:pPr>
            <a:r>
              <a:rPr lang="en-US" sz="1800" dirty="0"/>
              <a:t>The data suggests specific areas (like Brooklyn and Bronx) may require targeted interventions for heating and plumbing issues, given the high number of related complaints.</a:t>
            </a:r>
          </a:p>
          <a:p>
            <a:pPr marL="0" indent="0">
              <a:buNone/>
            </a:pPr>
            <a:r>
              <a:rPr lang="en-US" sz="1800" b="1" dirty="0"/>
              <a:t>Focus Areas for Improvement</a:t>
            </a:r>
            <a:r>
              <a:rPr lang="en-US" sz="1800" dirty="0"/>
              <a:t>: </a:t>
            </a:r>
          </a:p>
          <a:p>
            <a:pPr marL="0" indent="0">
              <a:buNone/>
            </a:pPr>
            <a:r>
              <a:rPr lang="en-US" sz="1800" dirty="0"/>
              <a:t>The boroughs with the highest complaint counts should be prioritized for resource allocation and infrastructure improvements to address the most pressing issues reported by residents.</a:t>
            </a:r>
          </a:p>
        </p:txBody>
      </p:sp>
    </p:spTree>
    <p:extLst>
      <p:ext uri="{BB962C8B-B14F-4D97-AF65-F5344CB8AC3E}">
        <p14:creationId xmlns:p14="http://schemas.microsoft.com/office/powerpoint/2010/main" val="3539802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 name="Picture 60"/>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3" name="Picture 62"/>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5" name="Oval 64"/>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7" name="Picture 66"/>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9" name="Picture 68"/>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1" name="Rectangle 70"/>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7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9352794" y="3584651"/>
            <a:ext cx="1770818" cy="980844"/>
          </a:xfrm>
          <a:prstGeom prst="rect">
            <a:avLst/>
          </a:prstGeom>
        </p:spPr>
        <p:txBody>
          <a:bodyPr vert="horz" lIns="91440" tIns="45720" rIns="91440" bIns="45720" rtlCol="0" anchor="b">
            <a:normAutofit/>
          </a:bodyPr>
          <a:lstStyle/>
          <a:p>
            <a:pPr>
              <a:spcBef>
                <a:spcPct val="0"/>
              </a:spcBef>
              <a:spcAft>
                <a:spcPts val="600"/>
              </a:spcAft>
            </a:pPr>
            <a:r>
              <a:rPr lang="en-US" sz="2800" cap="all" spc="200" dirty="0">
                <a:solidFill>
                  <a:srgbClr val="EBEBEB"/>
                </a:solidFill>
                <a:latin typeface="+mj-lt"/>
                <a:ea typeface="+mj-ea"/>
                <a:cs typeface="+mj-cs"/>
              </a:rPr>
              <a:t>Table 2</a:t>
            </a:r>
          </a:p>
          <a:p>
            <a:pPr>
              <a:spcBef>
                <a:spcPct val="0"/>
              </a:spcBef>
              <a:spcAft>
                <a:spcPts val="600"/>
              </a:spcAft>
            </a:pPr>
            <a:endParaRPr lang="en-US" cap="all" spc="200" dirty="0">
              <a:solidFill>
                <a:srgbClr val="EBEBEB"/>
              </a:solidFill>
              <a:latin typeface="+mj-lt"/>
              <a:ea typeface="+mj-ea"/>
              <a:cs typeface="+mj-cs"/>
            </a:endParaRPr>
          </a:p>
          <a:p>
            <a:pPr>
              <a:spcBef>
                <a:spcPct val="0"/>
              </a:spcBef>
              <a:spcAft>
                <a:spcPts val="600"/>
              </a:spcAft>
            </a:pPr>
            <a:endParaRPr lang="en-US" cap="all" spc="200" dirty="0">
              <a:solidFill>
                <a:srgbClr val="EBEBEB"/>
              </a:solidFill>
              <a:latin typeface="+mj-lt"/>
              <a:ea typeface="+mj-ea"/>
              <a:cs typeface="+mj-cs"/>
            </a:endParaRPr>
          </a:p>
          <a:p>
            <a:pPr>
              <a:spcBef>
                <a:spcPct val="0"/>
              </a:spcBef>
              <a:spcAft>
                <a:spcPts val="600"/>
              </a:spcAft>
            </a:pPr>
            <a:endParaRPr lang="en-US" sz="2000" b="0" i="0" kern="1200" cap="all" spc="200" baseline="0" dirty="0">
              <a:solidFill>
                <a:srgbClr val="EBEBEB"/>
              </a:solidFill>
              <a:ea typeface="+mj-ea"/>
              <a:cs typeface="+mj-cs"/>
            </a:endParaRPr>
          </a:p>
          <a:p>
            <a:pPr>
              <a:spcBef>
                <a:spcPct val="0"/>
              </a:spcBef>
              <a:spcAft>
                <a:spcPts val="600"/>
              </a:spcAft>
            </a:pPr>
            <a:endParaRPr lang="en-US" b="0" i="0" kern="1200" cap="all" spc="200" baseline="0" dirty="0">
              <a:solidFill>
                <a:srgbClr val="EBEBEB"/>
              </a:solidFill>
              <a:latin typeface="+mj-lt"/>
              <a:ea typeface="+mj-ea"/>
              <a:cs typeface="+mj-cs"/>
            </a:endParaRPr>
          </a:p>
        </p:txBody>
      </p:sp>
      <p:pic>
        <p:nvPicPr>
          <p:cNvPr id="6" name="Picture 5" descr="A screenshot of a graph&#10;&#10;AI-generated content may be incorrect.">
            <a:extLst>
              <a:ext uri="{FF2B5EF4-FFF2-40B4-BE49-F238E27FC236}">
                <a16:creationId xmlns:a16="http://schemas.microsoft.com/office/drawing/2014/main" id="{A18FFDEC-539C-64D1-3765-9BB9EF554A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2227" y="1020915"/>
            <a:ext cx="9040587" cy="4489978"/>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20" name="Picture 19" descr="Desk with productivity items"/>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p:cNvSpPr>
            <a:spLocks noGrp="1"/>
          </p:cNvSpPr>
          <p:nvPr>
            <p:ph idx="1"/>
          </p:nvPr>
        </p:nvSpPr>
        <p:spPr>
          <a:xfrm>
            <a:off x="6210300" y="300567"/>
            <a:ext cx="5847381" cy="6069235"/>
          </a:xfrm>
        </p:spPr>
        <p:txBody>
          <a:bodyPr>
            <a:normAutofit/>
          </a:bodyPr>
          <a:lstStyle/>
          <a:p>
            <a:pPr marL="0" indent="0">
              <a:buNone/>
            </a:pPr>
            <a:r>
              <a:rPr lang="en-US" sz="1800" dirty="0"/>
              <a:t>Table 3: Following up on the violations that may have risen from complaints following are key insights on improving service delivery:</a:t>
            </a:r>
          </a:p>
          <a:p>
            <a:pPr marL="0" indent="0">
              <a:buNone/>
            </a:pPr>
            <a:r>
              <a:rPr lang="en-US" sz="1400" b="1" dirty="0"/>
              <a:t>Heat/Hot Water:</a:t>
            </a:r>
            <a:r>
              <a:rPr lang="en-US" sz="1400" dirty="0"/>
              <a:t> </a:t>
            </a:r>
          </a:p>
          <a:p>
            <a:r>
              <a:rPr lang="en-US" sz="1400" dirty="0"/>
              <a:t>This is a major issue across all boroughs with high complaint volumes. Prioritize addressing it.</a:t>
            </a:r>
          </a:p>
          <a:p>
            <a:pPr marL="0" indent="0">
              <a:buNone/>
            </a:pPr>
            <a:r>
              <a:rPr lang="en-US" sz="1400" b="1" dirty="0"/>
              <a:t>Resolution Times Vary</a:t>
            </a:r>
            <a:r>
              <a:rPr lang="en-US" sz="1800" b="1" dirty="0"/>
              <a:t>:</a:t>
            </a:r>
            <a:r>
              <a:rPr lang="en-US" sz="1800" dirty="0"/>
              <a:t> </a:t>
            </a:r>
          </a:p>
          <a:p>
            <a:r>
              <a:rPr lang="en-US" sz="1400" dirty="0"/>
              <a:t>Queens and Staten Island generally resolve complaints faster, while the Bronx has the longest resolution times.</a:t>
            </a:r>
          </a:p>
          <a:p>
            <a:r>
              <a:rPr lang="en-US" sz="1400" b="1" dirty="0"/>
              <a:t>Borough-Specific Challenges</a:t>
            </a:r>
            <a:r>
              <a:rPr lang="en-US" sz="1800" b="1" dirty="0"/>
              <a:t>:</a:t>
            </a:r>
            <a:r>
              <a:rPr lang="en-US" sz="1800" dirty="0"/>
              <a:t> </a:t>
            </a:r>
          </a:p>
          <a:p>
            <a:pPr marL="742950" lvl="1" indent="-285750">
              <a:buFont typeface="Arial" panose="020B0604020202020204" pitchFamily="34" charset="0"/>
              <a:buChar char="•"/>
            </a:pPr>
            <a:r>
              <a:rPr lang="en-US" sz="1400" b="1" dirty="0"/>
              <a:t>Bronx:</a:t>
            </a:r>
            <a:r>
              <a:rPr lang="en-US" sz="1400" dirty="0"/>
              <a:t> Longest resolution times for Heat/Hot Water, Water Leaks, and Plumbing</a:t>
            </a:r>
            <a:r>
              <a:rPr lang="en-US" sz="1600" dirty="0"/>
              <a:t>.</a:t>
            </a:r>
          </a:p>
          <a:p>
            <a:pPr marL="742950" lvl="1" indent="-285750">
              <a:buFont typeface="Arial" panose="020B0604020202020204" pitchFamily="34" charset="0"/>
              <a:buChar char="•"/>
            </a:pPr>
            <a:r>
              <a:rPr lang="en-US" sz="1400" b="1" dirty="0"/>
              <a:t>Staten Island:</a:t>
            </a:r>
            <a:r>
              <a:rPr lang="en-US" sz="1400" dirty="0"/>
              <a:t> Longest resolution time for Paint/Plaster.</a:t>
            </a:r>
          </a:p>
          <a:p>
            <a:r>
              <a:rPr lang="en-US" sz="1400" b="1" dirty="0"/>
              <a:t>Appliance/Electrical</a:t>
            </a:r>
            <a:r>
              <a:rPr lang="en-US" sz="1600" b="1" dirty="0"/>
              <a:t>:</a:t>
            </a:r>
            <a:r>
              <a:rPr lang="en-US" sz="1600" dirty="0"/>
              <a:t> </a:t>
            </a:r>
            <a:r>
              <a:rPr lang="en-US" sz="1400" dirty="0"/>
              <a:t>These issues are generally resolved relatively quickly</a:t>
            </a:r>
            <a:r>
              <a:rPr lang="en-US" sz="1600" dirty="0"/>
              <a: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109" name="Picture 108"/>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13" name="Oval 112"/>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5" name="Picture 114"/>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p:cNvSpPr txBox="1"/>
          <p:nvPr/>
        </p:nvSpPr>
        <p:spPr>
          <a:xfrm>
            <a:off x="7999412" y="633697"/>
            <a:ext cx="3676896" cy="3553070"/>
          </a:xfrm>
          <a:prstGeom prst="rect">
            <a:avLst/>
          </a:prstGeom>
        </p:spPr>
        <p:txBody>
          <a:bodyPr vert="horz" lIns="91440" tIns="45720" rIns="91440" bIns="45720" rtlCol="0" anchor="b">
            <a:normAutofit/>
          </a:bodyPr>
          <a:lstStyle/>
          <a:p>
            <a:pPr>
              <a:spcBef>
                <a:spcPct val="0"/>
              </a:spcBef>
              <a:spcAft>
                <a:spcPts val="600"/>
              </a:spcAft>
            </a:pPr>
            <a:r>
              <a:rPr lang="en-US" sz="4400" cap="all" spc="200" dirty="0">
                <a:solidFill>
                  <a:schemeClr val="tx2"/>
                </a:solidFill>
                <a:latin typeface="+mj-lt"/>
                <a:ea typeface="+mj-ea"/>
                <a:cs typeface="+mj-cs"/>
              </a:rPr>
              <a:t>Table 3</a:t>
            </a:r>
            <a:endParaRPr lang="en-US" sz="4400" cap="all" spc="200" baseline="0" dirty="0">
              <a:solidFill>
                <a:schemeClr val="tx2"/>
              </a:solidFill>
              <a:latin typeface="+mj-lt"/>
              <a:ea typeface="+mj-ea"/>
              <a:cs typeface="+mj-cs"/>
            </a:endParaRPr>
          </a:p>
        </p:txBody>
      </p:sp>
      <p:pic>
        <p:nvPicPr>
          <p:cNvPr id="5" name="Picture 4" descr="A screenshot of a table&#10;&#10;AI-generated content may be incorrect.">
            <a:extLst>
              <a:ext uri="{FF2B5EF4-FFF2-40B4-BE49-F238E27FC236}">
                <a16:creationId xmlns:a16="http://schemas.microsoft.com/office/drawing/2014/main" id="{301D6AB1-68BD-02FC-345A-404D34A291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3588" y="145024"/>
            <a:ext cx="6852179" cy="65679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12E178D0-1877-8792-A475-AB8E271F881B}"/>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BE784D99-7791-1AE3-021A-24DFCE5B5EC6}"/>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56EE14A3-040F-A8C8-D2F8-9A3D40974F78}"/>
              </a:ext>
            </a:extLst>
          </p:cNvPr>
          <p:cNvSpPr>
            <a:spLocks noGrp="1"/>
          </p:cNvSpPr>
          <p:nvPr>
            <p:ph idx="1"/>
          </p:nvPr>
        </p:nvSpPr>
        <p:spPr>
          <a:xfrm>
            <a:off x="6349139" y="683581"/>
            <a:ext cx="5708542" cy="5686221"/>
          </a:xfrm>
        </p:spPr>
        <p:txBody>
          <a:bodyPr>
            <a:normAutofit fontScale="55000" lnSpcReduction="20000"/>
          </a:bodyPr>
          <a:lstStyle/>
          <a:p>
            <a:pPr>
              <a:buNone/>
            </a:pPr>
            <a:r>
              <a:rPr lang="en-US" sz="2200" b="1" dirty="0">
                <a:latin typeface="+mn-lt"/>
                <a:cs typeface="Times New Roman" panose="02020603050405020304" pitchFamily="18" charset="0"/>
              </a:rPr>
              <a:t>Table 4</a:t>
            </a:r>
            <a:r>
              <a:rPr lang="en-US" sz="1600" b="1" dirty="0">
                <a:latin typeface="+mn-lt"/>
                <a:cs typeface="Times New Roman" panose="02020603050405020304" pitchFamily="18" charset="0"/>
              </a:rPr>
              <a:t> </a:t>
            </a:r>
          </a:p>
          <a:p>
            <a:pPr marL="0" indent="0">
              <a:buNone/>
            </a:pPr>
            <a:r>
              <a:rPr lang="en-US" dirty="0"/>
              <a:t>Provides insights into the average response time (in days) for different violation severity levels across boroughs. </a:t>
            </a:r>
          </a:p>
          <a:p>
            <a:pPr marL="0" indent="0">
              <a:buNone/>
            </a:pPr>
            <a:r>
              <a:rPr lang="en-US" dirty="0"/>
              <a:t>Key Insights:</a:t>
            </a:r>
          </a:p>
          <a:p>
            <a:r>
              <a:rPr lang="en-US" b="1" dirty="0"/>
              <a:t>Higher Severity = Faster Response Time</a:t>
            </a:r>
            <a:endParaRPr lang="en-US" dirty="0"/>
          </a:p>
          <a:p>
            <a:pPr marL="742950" lvl="1" indent="-285750">
              <a:buFont typeface="+mj-lt"/>
              <a:buAutoNum type="arabicPeriod"/>
            </a:pPr>
            <a:r>
              <a:rPr lang="en-US" sz="2000" dirty="0"/>
              <a:t>High Priority (Class C) violations have the shortest response times across all boroughs, averaging around </a:t>
            </a:r>
            <a:r>
              <a:rPr lang="en-US" sz="2000" b="1" dirty="0"/>
              <a:t>25.5 days</a:t>
            </a:r>
            <a:r>
              <a:rPr lang="en-US" sz="2000" dirty="0"/>
              <a:t>.</a:t>
            </a:r>
          </a:p>
          <a:p>
            <a:pPr marL="742950" lvl="1" indent="-285750">
              <a:buFont typeface="+mj-lt"/>
              <a:buAutoNum type="arabicPeriod"/>
            </a:pPr>
            <a:r>
              <a:rPr lang="en-US" sz="2000" dirty="0"/>
              <a:t>Medium Priority (Class B) violations take longer, averaging between </a:t>
            </a:r>
            <a:r>
              <a:rPr lang="en-US" sz="2000" b="1" dirty="0"/>
              <a:t>35 to 42.8 days</a:t>
            </a:r>
            <a:r>
              <a:rPr lang="en-US" sz="2000" dirty="0"/>
              <a:t>.</a:t>
            </a:r>
          </a:p>
          <a:p>
            <a:pPr marL="742950" lvl="1" indent="-285750">
              <a:buFont typeface="+mj-lt"/>
              <a:buAutoNum type="arabicPeriod"/>
            </a:pPr>
            <a:r>
              <a:rPr lang="en-US" sz="2000" dirty="0"/>
              <a:t>Low Priority (Class A) violations have the longest response times, ranging from </a:t>
            </a:r>
            <a:r>
              <a:rPr lang="en-US" sz="2000" b="1" dirty="0"/>
              <a:t>96.07 to 98.79 days</a:t>
            </a:r>
            <a:r>
              <a:rPr lang="en-US" sz="2000" dirty="0"/>
              <a:t>.</a:t>
            </a:r>
          </a:p>
          <a:p>
            <a:r>
              <a:rPr lang="en-US" b="1" dirty="0"/>
              <a:t>Consistency Across Boroughs</a:t>
            </a:r>
            <a:endParaRPr lang="en-US" dirty="0"/>
          </a:p>
          <a:p>
            <a:pPr marL="742950" lvl="1" indent="-285750">
              <a:buFont typeface="+mj-lt"/>
              <a:buAutoNum type="arabicPeriod"/>
            </a:pPr>
            <a:r>
              <a:rPr lang="en-US" sz="2000" dirty="0"/>
              <a:t>Response times for each severity level are relatively similar across all boroughs, suggesting a standardized approach to handling violations.</a:t>
            </a:r>
          </a:p>
          <a:p>
            <a:pPr marL="742950" lvl="1" indent="-285750">
              <a:buFont typeface="+mj-lt"/>
              <a:buAutoNum type="arabicPeriod"/>
            </a:pPr>
            <a:r>
              <a:rPr lang="en-US" sz="2000" dirty="0"/>
              <a:t>Brooklyn has the highest response time for Low Priority violations (</a:t>
            </a:r>
            <a:r>
              <a:rPr lang="en-US" sz="2000" b="1" dirty="0"/>
              <a:t>98.79 days</a:t>
            </a:r>
            <a:r>
              <a:rPr lang="en-US" sz="2000" dirty="0"/>
              <a:t>), while the Bronx has the highest for Medium Priority (</a:t>
            </a:r>
            <a:r>
              <a:rPr lang="en-US" sz="2000" b="1" dirty="0"/>
              <a:t>42.83 days</a:t>
            </a:r>
            <a:r>
              <a:rPr lang="en-US" sz="2000" dirty="0"/>
              <a:t>).</a:t>
            </a:r>
          </a:p>
          <a:p>
            <a:pPr marL="742950" lvl="1" indent="-285750">
              <a:buFont typeface="+mj-lt"/>
              <a:buAutoNum type="arabicPeriod"/>
            </a:pPr>
            <a:r>
              <a:rPr lang="en-US" sz="2000" dirty="0"/>
              <a:t>Staten Island generally has the lowest response times across all priority levels.</a:t>
            </a:r>
          </a:p>
          <a:p>
            <a:r>
              <a:rPr lang="en-US" b="1" dirty="0"/>
              <a:t>Significance for Resource Allocation</a:t>
            </a:r>
            <a:endParaRPr lang="en-US" dirty="0"/>
          </a:p>
          <a:p>
            <a:pPr marL="742950" lvl="1" indent="-285750">
              <a:buFont typeface="+mj-lt"/>
              <a:buAutoNum type="arabicPeriod"/>
            </a:pPr>
            <a:r>
              <a:rPr lang="en-US" sz="2000" dirty="0"/>
              <a:t>Authorities prioritize High Priority violations efficiently, responding within a month.</a:t>
            </a:r>
          </a:p>
          <a:p>
            <a:pPr marL="742950" lvl="1" indent="-285750">
              <a:buFont typeface="+mj-lt"/>
              <a:buAutoNum type="arabicPeriod"/>
            </a:pPr>
            <a:r>
              <a:rPr lang="en-US" sz="2000" dirty="0"/>
              <a:t>Low Priority violations take over three months to address, possibly indicating a backlog or resource constraints</a:t>
            </a:r>
            <a:r>
              <a:rPr lang="en-US" dirty="0"/>
              <a:t>.</a:t>
            </a:r>
          </a:p>
        </p:txBody>
      </p:sp>
    </p:spTree>
    <p:extLst>
      <p:ext uri="{BB962C8B-B14F-4D97-AF65-F5344CB8AC3E}">
        <p14:creationId xmlns:p14="http://schemas.microsoft.com/office/powerpoint/2010/main" val="2354696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C563D7C5-BE8A-394A-549D-3AA780C56311}"/>
            </a:ext>
          </a:extLst>
        </p:cNvPr>
        <p:cNvGrpSpPr/>
        <p:nvPr/>
      </p:nvGrpSpPr>
      <p:grpSpPr>
        <a:xfrm>
          <a:off x="0" y="0"/>
          <a:ext cx="0" cy="0"/>
          <a:chOff x="0" y="0"/>
          <a:chExt cx="0" cy="0"/>
        </a:xfrm>
      </p:grpSpPr>
      <p:pic>
        <p:nvPicPr>
          <p:cNvPr id="109" name="Picture 108">
            <a:extLst>
              <a:ext uri="{FF2B5EF4-FFF2-40B4-BE49-F238E27FC236}">
                <a16:creationId xmlns:a16="http://schemas.microsoft.com/office/drawing/2014/main" id="{B5CBC1D5-D712-79A1-52B8-C8F6591F5D52}"/>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a:extLst>
              <a:ext uri="{FF2B5EF4-FFF2-40B4-BE49-F238E27FC236}">
                <a16:creationId xmlns:a16="http://schemas.microsoft.com/office/drawing/2014/main" id="{99AC9459-B1E0-334F-7BDC-5CBEFC785377}"/>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13" name="Oval 112">
            <a:extLst>
              <a:ext uri="{FF2B5EF4-FFF2-40B4-BE49-F238E27FC236}">
                <a16:creationId xmlns:a16="http://schemas.microsoft.com/office/drawing/2014/main" id="{9FFD7E21-1CDE-8C0C-8FEA-215C55D0335E}"/>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5" name="Picture 114">
            <a:extLst>
              <a:ext uri="{FF2B5EF4-FFF2-40B4-BE49-F238E27FC236}">
                <a16:creationId xmlns:a16="http://schemas.microsoft.com/office/drawing/2014/main" id="{BA246C8B-11BA-1E66-98C1-06870BB2BCB2}"/>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a:extLst>
              <a:ext uri="{FF2B5EF4-FFF2-40B4-BE49-F238E27FC236}">
                <a16:creationId xmlns:a16="http://schemas.microsoft.com/office/drawing/2014/main" id="{A75BE95B-5E88-4CD3-06E5-D980A69119C7}"/>
              </a:ext>
            </a:extLst>
          </p:cNvPr>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a:extLst>
              <a:ext uri="{FF2B5EF4-FFF2-40B4-BE49-F238E27FC236}">
                <a16:creationId xmlns:a16="http://schemas.microsoft.com/office/drawing/2014/main" id="{EBF231E5-801E-B1A4-E047-B1260502C91D}"/>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53F343DE-1A27-B61C-FA17-402303E0D26A}"/>
              </a:ext>
            </a:extLst>
          </p:cNvPr>
          <p:cNvSpPr txBox="1"/>
          <p:nvPr/>
        </p:nvSpPr>
        <p:spPr>
          <a:xfrm>
            <a:off x="9171553" y="2133806"/>
            <a:ext cx="2532517" cy="1517082"/>
          </a:xfrm>
          <a:prstGeom prst="rect">
            <a:avLst/>
          </a:prstGeom>
        </p:spPr>
        <p:txBody>
          <a:bodyPr vert="horz" lIns="91440" tIns="45720" rIns="91440" bIns="45720" rtlCol="0" anchor="b">
            <a:normAutofit/>
          </a:bodyPr>
          <a:lstStyle/>
          <a:p>
            <a:pPr>
              <a:spcBef>
                <a:spcPct val="0"/>
              </a:spcBef>
              <a:spcAft>
                <a:spcPts val="600"/>
              </a:spcAft>
            </a:pPr>
            <a:r>
              <a:rPr lang="en-US" sz="4400" cap="all" spc="200" dirty="0">
                <a:solidFill>
                  <a:schemeClr val="tx2"/>
                </a:solidFill>
                <a:latin typeface="+mj-lt"/>
                <a:ea typeface="+mj-ea"/>
                <a:cs typeface="+mj-cs"/>
              </a:rPr>
              <a:t>Table 4</a:t>
            </a:r>
            <a:endParaRPr lang="en-US" sz="4400" cap="all" spc="200" baseline="0" dirty="0">
              <a:solidFill>
                <a:schemeClr val="tx2"/>
              </a:solidFill>
              <a:latin typeface="+mj-lt"/>
              <a:ea typeface="+mj-ea"/>
              <a:cs typeface="+mj-cs"/>
            </a:endParaRPr>
          </a:p>
        </p:txBody>
      </p:sp>
      <p:pic>
        <p:nvPicPr>
          <p:cNvPr id="2" name="Picture 1">
            <a:extLst>
              <a:ext uri="{FF2B5EF4-FFF2-40B4-BE49-F238E27FC236}">
                <a16:creationId xmlns:a16="http://schemas.microsoft.com/office/drawing/2014/main" id="{5472C018-DCA4-9294-65DA-F352D286C393}"/>
              </a:ext>
            </a:extLst>
          </p:cNvPr>
          <p:cNvPicPr>
            <a:picLocks noChangeAspect="1"/>
          </p:cNvPicPr>
          <p:nvPr/>
        </p:nvPicPr>
        <p:blipFill>
          <a:blip r:embed="rId7"/>
          <a:stretch>
            <a:fillRect/>
          </a:stretch>
        </p:blipFill>
        <p:spPr>
          <a:xfrm>
            <a:off x="257460" y="1600200"/>
            <a:ext cx="8494993" cy="2423964"/>
          </a:xfrm>
          <a:prstGeom prst="rect">
            <a:avLst/>
          </a:prstGeom>
        </p:spPr>
      </p:pic>
    </p:spTree>
    <p:extLst>
      <p:ext uri="{BB962C8B-B14F-4D97-AF65-F5344CB8AC3E}">
        <p14:creationId xmlns:p14="http://schemas.microsoft.com/office/powerpoint/2010/main" val="164443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BC14F3B9-CA2F-3582-481A-D95673B6C334}"/>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71D6DC63-C429-B449-945C-6CC7D4E60D73}"/>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5F538222-358C-510A-7EA0-D6A97F6C32FC}"/>
              </a:ext>
            </a:extLst>
          </p:cNvPr>
          <p:cNvSpPr>
            <a:spLocks noGrp="1"/>
          </p:cNvSpPr>
          <p:nvPr>
            <p:ph idx="1"/>
          </p:nvPr>
        </p:nvSpPr>
        <p:spPr>
          <a:xfrm>
            <a:off x="6349139" y="683581"/>
            <a:ext cx="5708542" cy="5686221"/>
          </a:xfrm>
        </p:spPr>
        <p:txBody>
          <a:bodyPr>
            <a:normAutofit/>
          </a:bodyPr>
          <a:lstStyle/>
          <a:p>
            <a:pPr marL="0" indent="0">
              <a:lnSpc>
                <a:spcPct val="90000"/>
              </a:lnSpc>
              <a:buNone/>
            </a:pPr>
            <a:r>
              <a:rPr lang="en-US" sz="1600" b="1" dirty="0">
                <a:latin typeface="+mn-lt"/>
                <a:cs typeface="Times New Roman" panose="02020603050405020304" pitchFamily="18" charset="0"/>
              </a:rPr>
              <a:t>Table 5 </a:t>
            </a:r>
            <a:r>
              <a:rPr lang="en-US" sz="1600" dirty="0">
                <a:latin typeface="+mn-lt"/>
                <a:cs typeface="Times New Roman" panose="02020603050405020304" pitchFamily="18" charset="0"/>
              </a:rPr>
              <a:t>presents a follow up on the average time take to resolve a complaint.</a:t>
            </a:r>
          </a:p>
          <a:p>
            <a:pPr marL="0" indent="0">
              <a:lnSpc>
                <a:spcPct val="90000"/>
              </a:lnSpc>
              <a:buNone/>
            </a:pPr>
            <a:r>
              <a:rPr lang="en-US" sz="1600" dirty="0">
                <a:latin typeface="+mn-lt"/>
                <a:cs typeface="Times New Roman" panose="02020603050405020304" pitchFamily="18" charset="0"/>
              </a:rPr>
              <a:t>Insights:</a:t>
            </a:r>
          </a:p>
          <a:p>
            <a:pPr>
              <a:lnSpc>
                <a:spcPct val="90000"/>
              </a:lnSpc>
            </a:pPr>
            <a:r>
              <a:rPr lang="en-US" sz="1600" dirty="0">
                <a:latin typeface="+mn-lt"/>
                <a:cs typeface="Times New Roman" panose="02020603050405020304" pitchFamily="18" charset="0"/>
              </a:rPr>
              <a:t>Significant Increase in Closed Problems: There's a noticeable increase in the number of closed problems from 467,297 in 2020 to 828,151 in 2024. This could indicate improved problem-solving efficiency or an increase in overall activity.</a:t>
            </a:r>
          </a:p>
          <a:p>
            <a:pPr>
              <a:lnSpc>
                <a:spcPct val="90000"/>
              </a:lnSpc>
            </a:pPr>
            <a:r>
              <a:rPr lang="en-US" sz="1600" dirty="0">
                <a:latin typeface="+mn-lt"/>
                <a:cs typeface="Times New Roman" panose="02020603050405020304" pitchFamily="18" charset="0"/>
              </a:rPr>
              <a:t>Open Problems Fluctuations: While closed problems have increased, the number of open problems has fluctuated. It peaked in 2024 at 14,908, significantly higher than previous years. This might suggest a recent surge in new issues or challenges in resolving them.</a:t>
            </a:r>
          </a:p>
          <a:p>
            <a:pPr>
              <a:lnSpc>
                <a:spcPct val="90000"/>
              </a:lnSpc>
            </a:pPr>
            <a:r>
              <a:rPr lang="en-US" sz="1600" dirty="0">
                <a:latin typeface="+mn-lt"/>
                <a:cs typeface="Times New Roman" panose="02020603050405020304" pitchFamily="18" charset="0"/>
              </a:rPr>
              <a:t>2024 as an Outlier: 2024 shows a dramatic increase in both closed and open problems compared to previous years. This could be due to various factors, such as a change in the scale of operations, a new type of problem, or a change in the tracking methodology.</a:t>
            </a:r>
            <a:endParaRPr lang="sv-SE" sz="1100" dirty="0">
              <a:latin typeface="+mn-lt"/>
              <a:cs typeface="Times New Roman" panose="02020603050405020304" pitchFamily="18" charset="0"/>
            </a:endParaRPr>
          </a:p>
        </p:txBody>
      </p:sp>
    </p:spTree>
    <p:extLst>
      <p:ext uri="{BB962C8B-B14F-4D97-AF65-F5344CB8AC3E}">
        <p14:creationId xmlns:p14="http://schemas.microsoft.com/office/powerpoint/2010/main" val="363289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A918DCD3-23D4-CB94-0721-1095C0AC8707}"/>
            </a:ext>
          </a:extLst>
        </p:cNvPr>
        <p:cNvGrpSpPr/>
        <p:nvPr/>
      </p:nvGrpSpPr>
      <p:grpSpPr>
        <a:xfrm>
          <a:off x="0" y="0"/>
          <a:ext cx="0" cy="0"/>
          <a:chOff x="0" y="0"/>
          <a:chExt cx="0" cy="0"/>
        </a:xfrm>
      </p:grpSpPr>
      <p:pic>
        <p:nvPicPr>
          <p:cNvPr id="109" name="Picture 108">
            <a:extLst>
              <a:ext uri="{FF2B5EF4-FFF2-40B4-BE49-F238E27FC236}">
                <a16:creationId xmlns:a16="http://schemas.microsoft.com/office/drawing/2014/main" id="{B774AAF2-5A48-6EC6-2029-A4CF65231AE3}"/>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a:extLst>
              <a:ext uri="{FF2B5EF4-FFF2-40B4-BE49-F238E27FC236}">
                <a16:creationId xmlns:a16="http://schemas.microsoft.com/office/drawing/2014/main" id="{6F42B037-A5BD-5A0C-8414-302C7CA2AAC7}"/>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pic>
        <p:nvPicPr>
          <p:cNvPr id="115" name="Picture 114">
            <a:extLst>
              <a:ext uri="{FF2B5EF4-FFF2-40B4-BE49-F238E27FC236}">
                <a16:creationId xmlns:a16="http://schemas.microsoft.com/office/drawing/2014/main" id="{A1A103B7-172F-6B22-CC46-DCE3D60286D9}"/>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a:extLst>
              <a:ext uri="{FF2B5EF4-FFF2-40B4-BE49-F238E27FC236}">
                <a16:creationId xmlns:a16="http://schemas.microsoft.com/office/drawing/2014/main" id="{9521070A-E10F-1180-6ECF-8F8A8D2A74E0}"/>
              </a:ext>
            </a:extLst>
          </p:cNvPr>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a:extLst>
              <a:ext uri="{FF2B5EF4-FFF2-40B4-BE49-F238E27FC236}">
                <a16:creationId xmlns:a16="http://schemas.microsoft.com/office/drawing/2014/main" id="{F26145AC-906C-63F2-2EA0-B8EE07F96A9F}"/>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317A52FA-5BD7-7134-9F91-7C70348E4842}"/>
              </a:ext>
            </a:extLst>
          </p:cNvPr>
          <p:cNvSpPr txBox="1"/>
          <p:nvPr/>
        </p:nvSpPr>
        <p:spPr>
          <a:xfrm>
            <a:off x="9013786" y="2078640"/>
            <a:ext cx="2569027" cy="1627414"/>
          </a:xfrm>
          <a:prstGeom prst="rect">
            <a:avLst/>
          </a:prstGeom>
        </p:spPr>
        <p:txBody>
          <a:bodyPr vert="horz" lIns="91440" tIns="45720" rIns="91440" bIns="45720" rtlCol="0" anchor="b">
            <a:normAutofit/>
          </a:bodyPr>
          <a:lstStyle/>
          <a:p>
            <a:pPr>
              <a:spcBef>
                <a:spcPct val="0"/>
              </a:spcBef>
              <a:spcAft>
                <a:spcPts val="600"/>
              </a:spcAft>
            </a:pPr>
            <a:r>
              <a:rPr lang="en-US" sz="4400" cap="all" spc="200" dirty="0">
                <a:solidFill>
                  <a:schemeClr val="tx2"/>
                </a:solidFill>
                <a:latin typeface="+mj-lt"/>
                <a:ea typeface="+mj-ea"/>
                <a:cs typeface="+mj-cs"/>
              </a:rPr>
              <a:t>Table 5 </a:t>
            </a:r>
            <a:endParaRPr lang="en-US" sz="4400" cap="all" spc="200" baseline="0" dirty="0">
              <a:solidFill>
                <a:schemeClr val="tx2"/>
              </a:solidFill>
              <a:latin typeface="+mj-lt"/>
              <a:ea typeface="+mj-ea"/>
              <a:cs typeface="+mj-cs"/>
            </a:endParaRPr>
          </a:p>
        </p:txBody>
      </p:sp>
      <p:pic>
        <p:nvPicPr>
          <p:cNvPr id="2" name="Picture 1">
            <a:extLst>
              <a:ext uri="{FF2B5EF4-FFF2-40B4-BE49-F238E27FC236}">
                <a16:creationId xmlns:a16="http://schemas.microsoft.com/office/drawing/2014/main" id="{C413129F-9E86-A38B-2781-5462D0C3ACEE}"/>
              </a:ext>
            </a:extLst>
          </p:cNvPr>
          <p:cNvPicPr>
            <a:picLocks noChangeAspect="1"/>
          </p:cNvPicPr>
          <p:nvPr/>
        </p:nvPicPr>
        <p:blipFill>
          <a:blip r:embed="rId7"/>
          <a:srcRect r="20545" b="1"/>
          <a:stretch>
            <a:fillRect/>
          </a:stretch>
        </p:blipFill>
        <p:spPr>
          <a:xfrm>
            <a:off x="102712" y="135467"/>
            <a:ext cx="7947559" cy="6451600"/>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327520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C6021FEB-F3F6-4765-7224-0C09A04C3F4B}"/>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911B1690-A55D-5B73-9499-115935A6C02A}"/>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CE11D783-3C65-1081-3695-E7387B0E7F12}"/>
              </a:ext>
            </a:extLst>
          </p:cNvPr>
          <p:cNvSpPr>
            <a:spLocks noGrp="1"/>
          </p:cNvSpPr>
          <p:nvPr>
            <p:ph idx="1"/>
          </p:nvPr>
        </p:nvSpPr>
        <p:spPr>
          <a:xfrm>
            <a:off x="6349139" y="683581"/>
            <a:ext cx="5708542" cy="5686221"/>
          </a:xfrm>
        </p:spPr>
        <p:txBody>
          <a:bodyPr>
            <a:normAutofit/>
          </a:bodyPr>
          <a:lstStyle/>
          <a:p>
            <a:pPr marL="0" indent="0">
              <a:lnSpc>
                <a:spcPct val="90000"/>
              </a:lnSpc>
              <a:buNone/>
            </a:pPr>
            <a:r>
              <a:rPr lang="en-US" sz="1600" b="1" dirty="0">
                <a:latin typeface="+mn-lt"/>
                <a:cs typeface="Times New Roman" panose="02020603050405020304" pitchFamily="18" charset="0"/>
              </a:rPr>
              <a:t>Bar graph  Complaints per Borough</a:t>
            </a:r>
          </a:p>
          <a:p>
            <a:pPr marL="0" indent="0">
              <a:lnSpc>
                <a:spcPct val="90000"/>
              </a:lnSpc>
              <a:buNone/>
            </a:pPr>
            <a:r>
              <a:rPr lang="en-US" sz="1400" dirty="0">
                <a:cs typeface="Times New Roman" panose="02020603050405020304" pitchFamily="18" charset="0"/>
              </a:rPr>
              <a:t>It visualizes the yearly trend of complaints across NYC boroughs, highlighting variations in complaint volumes over time.</a:t>
            </a:r>
          </a:p>
          <a:p>
            <a:pPr marL="0" indent="0">
              <a:lnSpc>
                <a:spcPct val="90000"/>
              </a:lnSpc>
              <a:buNone/>
            </a:pPr>
            <a:endParaRPr lang="en-US" sz="1600" b="1" dirty="0">
              <a:latin typeface="+mn-lt"/>
              <a:cs typeface="Times New Roman" panose="02020603050405020304" pitchFamily="18" charset="0"/>
            </a:endParaRPr>
          </a:p>
          <a:p>
            <a:pPr marL="0" indent="0">
              <a:lnSpc>
                <a:spcPct val="90000"/>
              </a:lnSpc>
              <a:buNone/>
            </a:pPr>
            <a:r>
              <a:rPr lang="en-US" sz="1400" dirty="0">
                <a:latin typeface="+mn-lt"/>
                <a:cs typeface="Times New Roman" panose="02020603050405020304" pitchFamily="18" charset="0"/>
              </a:rPr>
              <a:t>Key Insights</a:t>
            </a:r>
          </a:p>
          <a:p>
            <a:pPr>
              <a:lnSpc>
                <a:spcPct val="90000"/>
              </a:lnSpc>
            </a:pPr>
            <a:r>
              <a:rPr lang="en-US" sz="1400" dirty="0">
                <a:latin typeface="+mn-lt"/>
                <a:cs typeface="Times New Roman" panose="02020603050405020304" pitchFamily="18" charset="0"/>
              </a:rPr>
              <a:t>The bar graph shows distinct colors for each year, making it easier to differentiate between years and see trends clearly.</a:t>
            </a:r>
          </a:p>
          <a:p>
            <a:pPr>
              <a:lnSpc>
                <a:spcPct val="90000"/>
              </a:lnSpc>
            </a:pPr>
            <a:r>
              <a:rPr lang="en-US" sz="1400" dirty="0">
                <a:latin typeface="+mn-lt"/>
                <a:cs typeface="Times New Roman" panose="02020603050405020304" pitchFamily="18" charset="0"/>
              </a:rPr>
              <a:t>We can clearly see changes in complaint counts over time for each borough, allowing for quick comparisons and insights into patterns.</a:t>
            </a:r>
          </a:p>
          <a:p>
            <a:pPr>
              <a:lnSpc>
                <a:spcPct val="90000"/>
              </a:lnSpc>
            </a:pPr>
            <a:r>
              <a:rPr lang="en-US" sz="1400" dirty="0">
                <a:latin typeface="+mn-lt"/>
                <a:cs typeface="Times New Roman" panose="02020603050405020304" pitchFamily="18" charset="0"/>
              </a:rPr>
              <a:t>Bronx and Brooklyn having the most complaints due to high numbers in population and Staten Island having the least also population being the main factor.</a:t>
            </a:r>
          </a:p>
          <a:p>
            <a:pPr>
              <a:lnSpc>
                <a:spcPct val="90000"/>
              </a:lnSpc>
            </a:pPr>
            <a:r>
              <a:rPr lang="en-US" sz="1400" dirty="0">
                <a:latin typeface="+mn-lt"/>
                <a:cs typeface="Times New Roman" panose="02020603050405020304" pitchFamily="18" charset="0"/>
              </a:rPr>
              <a:t>Here you can see that data is combined  from multiple years in one view, making it easier to analyze longer-term trends. It is clear  that for each borough it seems complaints keep on rising as each year pass reflecting on negligence or slow response to complaints.</a:t>
            </a:r>
          </a:p>
          <a:p>
            <a:pPr marL="0" indent="0">
              <a:lnSpc>
                <a:spcPct val="90000"/>
              </a:lnSpc>
              <a:buNone/>
            </a:pPr>
            <a:endParaRPr lang="en-US" sz="1600" dirty="0">
              <a:latin typeface="+mn-lt"/>
              <a:cs typeface="Times New Roman" panose="02020603050405020304" pitchFamily="18" charset="0"/>
            </a:endParaRPr>
          </a:p>
        </p:txBody>
      </p:sp>
    </p:spTree>
    <p:extLst>
      <p:ext uri="{BB962C8B-B14F-4D97-AF65-F5344CB8AC3E}">
        <p14:creationId xmlns:p14="http://schemas.microsoft.com/office/powerpoint/2010/main" val="187067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5456-99EC-0E0D-E2B2-FC08626B773D}"/>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D84E1217-8A8D-83B8-44FA-295C34023B35}"/>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42" name="Picture 41">
            <a:extLst>
              <a:ext uri="{FF2B5EF4-FFF2-40B4-BE49-F238E27FC236}">
                <a16:creationId xmlns:a16="http://schemas.microsoft.com/office/drawing/2014/main" id="{8C641DC2-937B-7C9B-A6DB-AA6668C209F9}"/>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44" name="Oval 43">
            <a:extLst>
              <a:ext uri="{FF2B5EF4-FFF2-40B4-BE49-F238E27FC236}">
                <a16:creationId xmlns:a16="http://schemas.microsoft.com/office/drawing/2014/main" id="{4994CC6F-5D6B-BFEB-1261-3072562910CC}"/>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6" name="Picture 45">
            <a:extLst>
              <a:ext uri="{FF2B5EF4-FFF2-40B4-BE49-F238E27FC236}">
                <a16:creationId xmlns:a16="http://schemas.microsoft.com/office/drawing/2014/main" id="{3E2BF639-D18A-A559-DABC-B3F0A5F5BF1A}"/>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8" name="Picture 47">
            <a:extLst>
              <a:ext uri="{FF2B5EF4-FFF2-40B4-BE49-F238E27FC236}">
                <a16:creationId xmlns:a16="http://schemas.microsoft.com/office/drawing/2014/main" id="{5BB5DB74-B191-D086-74B4-608B5B154C73}"/>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50" name="Rectangle 49">
            <a:extLst>
              <a:ext uri="{FF2B5EF4-FFF2-40B4-BE49-F238E27FC236}">
                <a16:creationId xmlns:a16="http://schemas.microsoft.com/office/drawing/2014/main" id="{9592A0EE-70F9-F666-5186-A6458B0A678B}"/>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a:extLst>
              <a:ext uri="{FF2B5EF4-FFF2-40B4-BE49-F238E27FC236}">
                <a16:creationId xmlns:a16="http://schemas.microsoft.com/office/drawing/2014/main" id="{EF2671D0-EB0B-07F2-02CB-9D0218993CBB}"/>
              </a:ext>
            </a:extLst>
          </p:cNvPr>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768CEBF-2A44-5100-2BCA-C9C916E7DF6C}"/>
              </a:ext>
            </a:extLst>
          </p:cNvPr>
          <p:cNvSpPr>
            <a:spLocks noGrp="1" noRot="1" noChangeAspect="1" noMove="1" noResize="1" noEditPoints="1" noAdjustHandles="1" noChangeArrowheads="1" noChangeShapeType="1" noTextEdit="1"/>
          </p:cNvSpPr>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a:extLst>
              <a:ext uri="{FF2B5EF4-FFF2-40B4-BE49-F238E27FC236}">
                <a16:creationId xmlns:a16="http://schemas.microsoft.com/office/drawing/2014/main" id="{F81BF90A-55E0-0A2F-C8C7-0864BC73ADED}"/>
              </a:ext>
            </a:extLst>
          </p:cNvPr>
          <p:cNvSpPr txBox="1"/>
          <p:nvPr/>
        </p:nvSpPr>
        <p:spPr>
          <a:xfrm>
            <a:off x="8978170" y="3063879"/>
            <a:ext cx="3213830" cy="415315"/>
          </a:xfrm>
          <a:prstGeom prst="rect">
            <a:avLst/>
          </a:prstGeom>
        </p:spPr>
        <p:txBody>
          <a:bodyPr vert="horz" lIns="91440" tIns="45720" rIns="91440" bIns="45720" rtlCol="0" anchor="b">
            <a:normAutofit fontScale="40000" lnSpcReduction="20000"/>
          </a:bodyPr>
          <a:lstStyle/>
          <a:p>
            <a:pPr>
              <a:spcBef>
                <a:spcPct val="0"/>
              </a:spcBef>
              <a:spcAft>
                <a:spcPts val="600"/>
              </a:spcAft>
            </a:pPr>
            <a:r>
              <a:rPr lang="en-US" sz="6000" b="0" i="0" kern="1200" cap="all" spc="200" baseline="0" dirty="0">
                <a:solidFill>
                  <a:srgbClr val="EBEBEB"/>
                </a:solidFill>
                <a:latin typeface="+mj-lt"/>
                <a:ea typeface="+mj-ea"/>
                <a:cs typeface="+mj-cs"/>
              </a:rPr>
              <a:t>Bar Graph</a:t>
            </a:r>
          </a:p>
        </p:txBody>
      </p:sp>
      <p:sp>
        <p:nvSpPr>
          <p:cNvPr id="58" name="Freeform 16">
            <a:extLst>
              <a:ext uri="{FF2B5EF4-FFF2-40B4-BE49-F238E27FC236}">
                <a16:creationId xmlns:a16="http://schemas.microsoft.com/office/drawing/2014/main" id="{54ACB4D1-D05B-43B0-D8CC-35DB38D93051}"/>
              </a:ext>
            </a:extLst>
          </p:cNvPr>
          <p:cNvSpPr>
            <a:spLocks noGrp="1" noRot="1" noChangeAspect="1" noMove="1" noResize="1" noEditPoints="1" noAdjustHandles="1" noChangeArrowheads="1" noChangeShapeType="1" noTextEdit="1"/>
          </p:cNvSpPr>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8" name="Picture 7" descr="A graph of a number of people&#10;&#10;AI-generated content may be incorrect.">
            <a:extLst>
              <a:ext uri="{FF2B5EF4-FFF2-40B4-BE49-F238E27FC236}">
                <a16:creationId xmlns:a16="http://schemas.microsoft.com/office/drawing/2014/main" id="{277C4815-52A6-A950-4865-9035763F2F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1348" y="257950"/>
            <a:ext cx="7883642" cy="6375596"/>
          </a:xfrm>
          <a:prstGeom prst="rect">
            <a:avLst/>
          </a:prstGeom>
        </p:spPr>
      </p:pic>
    </p:spTree>
    <p:extLst>
      <p:ext uri="{BB962C8B-B14F-4D97-AF65-F5344CB8AC3E}">
        <p14:creationId xmlns:p14="http://schemas.microsoft.com/office/powerpoint/2010/main" val="3464775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673101"/>
            <a:ext cx="6399930" cy="5380228"/>
          </a:xfrm>
        </p:spPr>
        <p:txBody>
          <a:bodyPr anchor="ctr">
            <a:normAutofit fontScale="85000" lnSpcReduction="20000"/>
          </a:bodyPr>
          <a:lstStyle/>
          <a:p>
            <a:pPr>
              <a:buNone/>
            </a:pPr>
            <a:endParaRPr lang="en-US" sz="1600" dirty="0"/>
          </a:p>
          <a:p>
            <a:pPr>
              <a:buNone/>
            </a:pPr>
            <a:r>
              <a:rPr lang="en-US" sz="1600" b="1" dirty="0"/>
              <a:t>Bar Graph for  percentage change of complaints over the years</a:t>
            </a:r>
          </a:p>
          <a:p>
            <a:pPr marL="0" indent="0">
              <a:buNone/>
            </a:pPr>
            <a:r>
              <a:rPr lang="en-US" sz="1600" b="0" strike="noStrike" spc="-1" dirty="0">
                <a:solidFill>
                  <a:srgbClr val="EBEBEB"/>
                </a:solidFill>
                <a:latin typeface="Century Gothic"/>
              </a:rPr>
              <a:t>Visualizes the percentage change in complaint counts by category each year, highlighting fluctuations, with a notable spike in water leak complaints around 2021.</a:t>
            </a:r>
            <a:endParaRPr lang="en-US" sz="1600" b="1" dirty="0"/>
          </a:p>
          <a:p>
            <a:pPr>
              <a:buNone/>
            </a:pPr>
            <a:r>
              <a:rPr lang="en-US" sz="1600" dirty="0"/>
              <a:t>Key insights:</a:t>
            </a:r>
          </a:p>
          <a:p>
            <a:r>
              <a:rPr lang="en-US" sz="1600" b="1" dirty="0"/>
              <a:t>Water Leak Complaints Show the Most Volatility:</a:t>
            </a:r>
            <a:r>
              <a:rPr lang="en-US" sz="1600" dirty="0"/>
              <a:t> Water leak complaints exhibit the most significant percentage changes year-over-year. There's a dramatic increase in 2022, followed by decreases in subsequent years. This suggests that water leak issues may be particularly sensitive to specific events or conditions.</a:t>
            </a:r>
          </a:p>
          <a:p>
            <a:r>
              <a:rPr lang="en-US" sz="1600" b="1" dirty="0"/>
              <a:t>Heat/Hot Water Complaints Show a General Decreasing Trend:</a:t>
            </a:r>
            <a:r>
              <a:rPr lang="en-US" sz="1600" dirty="0"/>
              <a:t> Heat/Hot Water complaints generally show a decrease in 2021, and then a trend of increase, suggesting improvements in this area in 2021, but a return to worse conditions in other years.</a:t>
            </a:r>
          </a:p>
          <a:p>
            <a:r>
              <a:rPr lang="en-US" sz="1600" b="1" dirty="0"/>
              <a:t>Plumbing Complaints are Relatively Stable:</a:t>
            </a:r>
            <a:r>
              <a:rPr lang="en-US" sz="1600" dirty="0"/>
              <a:t> Plumbing complaints show more consistent changes, with increases in some years and decreases in others, but the fluctuations are not as extreme as with water leaks.</a:t>
            </a:r>
          </a:p>
          <a:p>
            <a:r>
              <a:rPr lang="en-US" sz="1600" b="1" dirty="0"/>
              <a:t>Appliance Complaints have a general increasing trend:</a:t>
            </a:r>
            <a:r>
              <a:rPr lang="en-US" sz="1600" dirty="0"/>
              <a:t> Appliance complaints generally show an increasing trend over the years, with some minor decreases.</a:t>
            </a:r>
          </a:p>
          <a:p>
            <a:r>
              <a:rPr lang="en-US" sz="1600" b="1" dirty="0"/>
              <a:t>Electric Complaints have a general increasing trend:</a:t>
            </a:r>
            <a:r>
              <a:rPr lang="en-US" sz="1600" dirty="0"/>
              <a:t> Electric complaints generally show an increasing trend over the years, with some minor decreases.</a:t>
            </a:r>
          </a:p>
          <a:p>
            <a:pPr marL="0" lvl="0" indent="0" eaLnBrk="0" fontAlgn="base" hangingPunct="0">
              <a:lnSpc>
                <a:spcPct val="90000"/>
              </a:lnSpc>
              <a:spcAft>
                <a:spcPct val="0"/>
              </a:spcAft>
              <a:buNone/>
            </a:pPr>
            <a:endParaRPr lang="sv-SE" sz="17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42" name="Picture 41"/>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44" name="Oval 43"/>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6" name="Picture 45"/>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8" name="Picture 47"/>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50" name="Rectangle 49"/>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p:cNvSpPr>
            <a:spLocks noGrp="1" noRot="1" noChangeAspect="1" noMove="1" noResize="1" noEditPoints="1" noAdjustHandles="1" noChangeArrowheads="1" noChangeShapeType="1" noTextEdit="1"/>
          </p:cNvSpPr>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p:cNvSpPr txBox="1"/>
          <p:nvPr/>
        </p:nvSpPr>
        <p:spPr>
          <a:xfrm>
            <a:off x="9599612" y="2698882"/>
            <a:ext cx="2819400" cy="382544"/>
          </a:xfrm>
          <a:prstGeom prst="rect">
            <a:avLst/>
          </a:prstGeom>
        </p:spPr>
        <p:txBody>
          <a:bodyPr vert="horz" lIns="91440" tIns="45720" rIns="91440" bIns="45720" rtlCol="0" anchor="b">
            <a:normAutofit fontScale="32500" lnSpcReduction="20000"/>
          </a:bodyPr>
          <a:lstStyle/>
          <a:p>
            <a:pPr>
              <a:spcBef>
                <a:spcPct val="0"/>
              </a:spcBef>
              <a:spcAft>
                <a:spcPts val="600"/>
              </a:spcAft>
            </a:pPr>
            <a:r>
              <a:rPr lang="en-US" sz="6000" b="0" i="0" kern="1200" cap="all" spc="200" baseline="0" dirty="0">
                <a:solidFill>
                  <a:srgbClr val="EBEBEB"/>
                </a:solidFill>
                <a:latin typeface="+mj-lt"/>
                <a:ea typeface="+mj-ea"/>
                <a:cs typeface="+mj-cs"/>
              </a:rPr>
              <a:t> Bar Graph</a:t>
            </a:r>
          </a:p>
        </p:txBody>
      </p:sp>
      <p:sp>
        <p:nvSpPr>
          <p:cNvPr id="58" name="Freeform 16"/>
          <p:cNvSpPr>
            <a:spLocks noGrp="1" noRot="1" noChangeAspect="1" noMove="1" noResize="1" noEditPoints="1" noAdjustHandles="1" noChangeArrowheads="1" noChangeShapeType="1" noTextEdit="1"/>
          </p:cNvSpPr>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6" name="Picture 5">
            <a:extLst>
              <a:ext uri="{FF2B5EF4-FFF2-40B4-BE49-F238E27FC236}">
                <a16:creationId xmlns:a16="http://schemas.microsoft.com/office/drawing/2014/main" id="{F53E68F2-CA4D-4A96-CA37-6E138B435B72}"/>
              </a:ext>
            </a:extLst>
          </p:cNvPr>
          <p:cNvPicPr>
            <a:picLocks noChangeAspect="1"/>
          </p:cNvPicPr>
          <p:nvPr/>
        </p:nvPicPr>
        <p:blipFill>
          <a:blip r:embed="rId6"/>
          <a:stretch>
            <a:fillRect/>
          </a:stretch>
        </p:blipFill>
        <p:spPr>
          <a:xfrm>
            <a:off x="315220" y="335614"/>
            <a:ext cx="9089738" cy="58863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cs typeface="Times New Roman" panose="02020603050405020304" pitchFamily="18" charset="0"/>
              </a:rPr>
              <a:t>Box Plot</a:t>
            </a:r>
          </a:p>
          <a:p>
            <a:pPr marL="0" lvl="0" indent="0" eaLnBrk="0" fontAlgn="base" hangingPunct="0">
              <a:lnSpc>
                <a:spcPct val="90000"/>
              </a:lnSpc>
              <a:spcAft>
                <a:spcPct val="0"/>
              </a:spcAft>
              <a:buNone/>
            </a:pPr>
            <a:r>
              <a:rPr lang="en-US" sz="1400" dirty="0">
                <a:cs typeface="Times New Roman" panose="02020603050405020304" pitchFamily="18" charset="0"/>
              </a:rPr>
              <a:t>Purpose of the Data:</a:t>
            </a:r>
          </a:p>
          <a:p>
            <a:pPr eaLnBrk="0" fontAlgn="base" hangingPunct="0">
              <a:lnSpc>
                <a:spcPct val="90000"/>
              </a:lnSpc>
              <a:spcAft>
                <a:spcPct val="0"/>
              </a:spcAft>
            </a:pPr>
            <a:r>
              <a:rPr lang="en-US" sz="1400" dirty="0">
                <a:cs typeface="Times New Roman" panose="02020603050405020304" pitchFamily="18" charset="0"/>
              </a:rPr>
              <a:t>Focuses on the statistical distribution of complaint counts over time, highlighting variations, medians, and outliers within each borough. </a:t>
            </a:r>
          </a:p>
          <a:p>
            <a:pPr marL="0" indent="0" eaLnBrk="0" fontAlgn="base" hangingPunct="0">
              <a:lnSpc>
                <a:spcPct val="90000"/>
              </a:lnSpc>
              <a:spcAft>
                <a:spcPct val="0"/>
              </a:spcAft>
              <a:buNone/>
            </a:pPr>
            <a:r>
              <a:rPr lang="en-US" sz="1400" b="1" dirty="0">
                <a:cs typeface="Times New Roman" panose="02020603050405020304" pitchFamily="18" charset="0"/>
              </a:rPr>
              <a:t>Key Insights</a:t>
            </a:r>
            <a:r>
              <a:rPr lang="en-US" sz="1700" dirty="0">
                <a:cs typeface="Times New Roman" panose="02020603050405020304" pitchFamily="18" charset="0"/>
              </a:rPr>
              <a:t>:</a:t>
            </a:r>
          </a:p>
          <a:p>
            <a:pPr eaLnBrk="0" fontAlgn="base" hangingPunct="0">
              <a:lnSpc>
                <a:spcPct val="90000"/>
              </a:lnSpc>
              <a:spcAft>
                <a:spcPct val="0"/>
              </a:spcAft>
            </a:pPr>
            <a:r>
              <a:rPr lang="en-US" sz="1400" dirty="0">
                <a:cs typeface="Times New Roman" panose="02020603050405020304" pitchFamily="18" charset="0"/>
              </a:rPr>
              <a:t>The visualization displays the count of complaints received each year, categorized by borough: Bronx, Brooklyn, Manhattan, Queens, and Staten </a:t>
            </a:r>
            <a:r>
              <a:rPr lang="en-US" sz="1400" dirty="0" err="1">
                <a:cs typeface="Times New Roman" panose="02020603050405020304" pitchFamily="18" charset="0"/>
              </a:rPr>
              <a:t>Island.Each</a:t>
            </a:r>
            <a:r>
              <a:rPr lang="en-US" sz="1400" dirty="0">
                <a:cs typeface="Times New Roman" panose="02020603050405020304" pitchFamily="18" charset="0"/>
              </a:rPr>
              <a:t> borough's data is represented in box plots, which illustrate the distribution, median, and range of complaints for each year</a:t>
            </a:r>
            <a:r>
              <a:rPr lang="en-US" sz="1700" dirty="0">
                <a:cs typeface="Times New Roman" panose="02020603050405020304" pitchFamily="18" charset="0"/>
              </a:rPr>
              <a:t>.</a:t>
            </a:r>
            <a:endParaRPr lang="sv-SE" sz="1700" dirty="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3" name="Picture 62"/>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5" name="Picture 64"/>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7" name="Oval 66"/>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9" name="Picture 68"/>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1" name="Picture 70"/>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3" name="Rectangle 72"/>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75" name="Rectangle 74"/>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Freeform 16"/>
          <p:cNvSpPr>
            <a:spLocks noGrp="1" noRot="1" noChangeAspect="1" noMove="1" noResize="1" noEditPoints="1" noAdjustHandles="1" noChangeArrowheads="1" noChangeShapeType="1" noTextEdit="1"/>
          </p:cNvSpPr>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3" name="Picture 2" descr="A graph of a graph&#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458" y="640081"/>
            <a:ext cx="8957398" cy="3291844"/>
          </a:xfrm>
          <a:prstGeom prst="rect">
            <a:avLst/>
          </a:prstGeom>
          <a:effectLst/>
        </p:spPr>
      </p:pic>
      <p:sp>
        <p:nvSpPr>
          <p:cNvPr id="81" name="Freeform: Shape 80"/>
          <p:cNvSpPr>
            <a:spLocks noGrp="1" noRot="1" noChangeAspect="1" noMove="1" noResize="1" noEditPoints="1" noAdjustHandles="1" noChangeArrowheads="1" noChangeShapeType="1" noTextEdit="1"/>
          </p:cNvSpPr>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6916" y="4854346"/>
            <a:ext cx="9149350" cy="868026"/>
          </a:xfrm>
          <a:prstGeom prst="rect">
            <a:avLst/>
          </a:prstGeom>
        </p:spPr>
        <p:txBody>
          <a:bodyPr vert="horz" lIns="91440" tIns="45720" rIns="91440" bIns="45720" rtlCol="0" anchor="b">
            <a:normAutofit/>
          </a:bodyPr>
          <a:lstStyle/>
          <a:p>
            <a:pPr>
              <a:spcBef>
                <a:spcPct val="0"/>
              </a:spcBef>
              <a:spcAft>
                <a:spcPts val="600"/>
              </a:spcAft>
            </a:pPr>
            <a:r>
              <a:rPr lang="en-US" sz="4800" cap="all" spc="200" dirty="0">
                <a:solidFill>
                  <a:srgbClr val="EBEBEB"/>
                </a:solidFill>
                <a:latin typeface="+mj-lt"/>
                <a:ea typeface="+mj-ea"/>
                <a:cs typeface="+mj-cs"/>
              </a:rPr>
              <a:t>Box plot</a:t>
            </a:r>
            <a:endParaRPr lang="en-US" sz="4800" b="0" i="0" kern="1200" cap="all" spc="200" baseline="0" dirty="0">
              <a:solidFill>
                <a:srgbClr val="EBEBEB"/>
              </a:solidFill>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600" b="1" dirty="0">
                <a:cs typeface="Times New Roman" panose="02020603050405020304" pitchFamily="18" charset="0"/>
              </a:rPr>
              <a:t>Line Chart </a:t>
            </a:r>
          </a:p>
          <a:p>
            <a:pPr marL="0" indent="0" eaLnBrk="0" fontAlgn="base" hangingPunct="0">
              <a:lnSpc>
                <a:spcPct val="90000"/>
              </a:lnSpc>
              <a:spcAft>
                <a:spcPct val="0"/>
              </a:spcAft>
              <a:buNone/>
            </a:pPr>
            <a:r>
              <a:rPr lang="en-US" sz="1600" dirty="0">
                <a:cs typeface="Times New Roman" panose="02020603050405020304" pitchFamily="18" charset="0"/>
              </a:rPr>
              <a:t>Purpose of the Data:</a:t>
            </a:r>
          </a:p>
          <a:p>
            <a:pPr eaLnBrk="0" fontAlgn="base" hangingPunct="0">
              <a:lnSpc>
                <a:spcPct val="90000"/>
              </a:lnSpc>
              <a:spcAft>
                <a:spcPct val="0"/>
              </a:spcAft>
            </a:pPr>
            <a:r>
              <a:rPr lang="en-ZW" sz="1600" b="0" strike="noStrike" spc="-1" dirty="0">
                <a:latin typeface="+mn-lt"/>
              </a:rPr>
              <a:t>The chart shows monthly trends in complaint counts, with heat/hot water issues peaking in winter and dropping in summer, while other categories remain stable.</a:t>
            </a:r>
          </a:p>
          <a:p>
            <a:pPr marL="0" lvl="0" indent="0" eaLnBrk="0" fontAlgn="base" hangingPunct="0">
              <a:lnSpc>
                <a:spcPct val="90000"/>
              </a:lnSpc>
              <a:spcAft>
                <a:spcPct val="0"/>
              </a:spcAft>
              <a:buNone/>
            </a:pPr>
            <a:r>
              <a:rPr lang="en-US" sz="1400" b="1" dirty="0">
                <a:cs typeface="Times New Roman" panose="02020603050405020304" pitchFamily="18" charset="0"/>
              </a:rPr>
              <a:t>Key Insights</a:t>
            </a:r>
            <a:r>
              <a:rPr lang="en-US" sz="1600" dirty="0">
                <a:cs typeface="Times New Roman" panose="02020603050405020304" pitchFamily="18" charset="0"/>
              </a:rPr>
              <a:t>:</a:t>
            </a:r>
          </a:p>
          <a:p>
            <a:pPr eaLnBrk="0" fontAlgn="base" hangingPunct="0">
              <a:lnSpc>
                <a:spcPct val="90000"/>
              </a:lnSpc>
              <a:spcAft>
                <a:spcPct val="0"/>
              </a:spcAft>
            </a:pPr>
            <a:r>
              <a:rPr lang="en-US" sz="1600" dirty="0">
                <a:cs typeface="Times New Roman" panose="02020603050405020304" pitchFamily="18" charset="0"/>
              </a:rPr>
              <a:t>The line graph illustrates the count of complaints received each month, segmented by major categories such as appliance issues, elevator problems, plumbing, and more. Each complaint type is represented by its own line, allowing for easy comparison and identification of trends across different categories. Heat/ hot water is high in December and January because they are the coldest months of the year.</a:t>
            </a:r>
          </a:p>
          <a:p>
            <a:pPr eaLnBrk="0" fontAlgn="base" hangingPunct="0">
              <a:lnSpc>
                <a:spcPct val="90000"/>
              </a:lnSpc>
              <a:spcAft>
                <a:spcPct val="0"/>
              </a:spcAft>
            </a:pPr>
            <a:r>
              <a:rPr lang="en-US" sz="1600" dirty="0">
                <a:cs typeface="Times New Roman" panose="02020603050405020304" pitchFamily="18" charset="0"/>
              </a:rPr>
              <a:t>Other categories are constant with fluctuating ups and downs showing that the complaints there are no much newer or lesser complaints</a:t>
            </a:r>
            <a:endParaRPr lang="sv-SE" sz="1600" dirty="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34" name="Picture 33"/>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36" name="Oval 35"/>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8" name="Picture 37"/>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0" name="Picture 39"/>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42" name="Rectangle 41"/>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Line Chart</a:t>
            </a:r>
          </a:p>
        </p:txBody>
      </p:sp>
      <p:sp useBgFill="1">
        <p:nvSpPr>
          <p:cNvPr id="46" name="Rectangle 45"/>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graph with lines and a line&#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391" y="1752878"/>
            <a:ext cx="6551257" cy="3504922"/>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BF8B8F35-B6CB-1995-7241-28C4C53D9D22}"/>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E8D0F1AA-DBAA-D550-F2E3-6A5FFF8063BA}"/>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63BA7AE3-5878-1FE9-62DD-7C723E658B8E}"/>
              </a:ext>
            </a:extLst>
          </p:cNvPr>
          <p:cNvSpPr>
            <a:spLocks noGrp="1"/>
          </p:cNvSpPr>
          <p:nvPr>
            <p:ph idx="1"/>
          </p:nvPr>
        </p:nvSpPr>
        <p:spPr>
          <a:xfrm>
            <a:off x="6349139" y="683581"/>
            <a:ext cx="5708542" cy="5686221"/>
          </a:xfrm>
        </p:spPr>
        <p:txBody>
          <a:bodyPr>
            <a:normAutofit lnSpcReduction="10000"/>
          </a:bodyPr>
          <a:lstStyle/>
          <a:p>
            <a:pPr marL="0" indent="0">
              <a:lnSpc>
                <a:spcPct val="90000"/>
              </a:lnSpc>
              <a:buNone/>
            </a:pPr>
            <a:r>
              <a:rPr lang="en-US" sz="1600" b="1" dirty="0">
                <a:cs typeface="Times New Roman" panose="02020603050405020304" pitchFamily="18" charset="0"/>
              </a:rPr>
              <a:t> Heat Map Overview</a:t>
            </a:r>
            <a:r>
              <a:rPr lang="en-US" sz="1600" dirty="0">
                <a:cs typeface="Times New Roman" panose="02020603050405020304" pitchFamily="18" charset="0"/>
              </a:rPr>
              <a:t>: </a:t>
            </a:r>
          </a:p>
          <a:p>
            <a:pPr marL="0" indent="0">
              <a:lnSpc>
                <a:spcPct val="90000"/>
              </a:lnSpc>
              <a:buNone/>
            </a:pPr>
            <a:r>
              <a:rPr lang="en-US" sz="1300" dirty="0">
                <a:cs typeface="Times New Roman" panose="02020603050405020304" pitchFamily="18" charset="0"/>
              </a:rPr>
              <a:t>This heat map visualizes complaint counts by borough, providing a geographic overview of service demand across the area. It highlights where complaints are concentrated, helping to identify hotspots that may require urgent attention. </a:t>
            </a:r>
          </a:p>
          <a:p>
            <a:pPr marL="0" indent="0">
              <a:lnSpc>
                <a:spcPct val="90000"/>
              </a:lnSpc>
              <a:buNone/>
            </a:pPr>
            <a:r>
              <a:rPr lang="en-US" sz="1300" b="1" dirty="0">
                <a:cs typeface="Times New Roman" panose="02020603050405020304" pitchFamily="18" charset="0"/>
              </a:rPr>
              <a:t>Key Features</a:t>
            </a:r>
            <a:r>
              <a:rPr lang="en-US" sz="1300" dirty="0">
                <a:cs typeface="Times New Roman" panose="02020603050405020304" pitchFamily="18" charset="0"/>
              </a:rPr>
              <a:t>:</a:t>
            </a:r>
          </a:p>
          <a:p>
            <a:pPr marL="0" indent="0">
              <a:lnSpc>
                <a:spcPct val="90000"/>
              </a:lnSpc>
              <a:buNone/>
            </a:pPr>
            <a:r>
              <a:rPr lang="en-US" sz="1300" dirty="0">
                <a:cs typeface="Times New Roman" panose="02020603050405020304" pitchFamily="18" charset="0"/>
              </a:rPr>
              <a:t>Borough Representation: The map clearly delineates complaints by borough—Bronx, Brooklyn, Manhattan, Queens, and Staten Island—allowing for easy identification of geographic trends.</a:t>
            </a:r>
          </a:p>
          <a:p>
            <a:pPr marL="0" indent="0">
              <a:lnSpc>
                <a:spcPct val="90000"/>
              </a:lnSpc>
              <a:buNone/>
            </a:pPr>
            <a:r>
              <a:rPr lang="en-US" sz="1300" dirty="0">
                <a:cs typeface="Times New Roman" panose="02020603050405020304" pitchFamily="18" charset="0"/>
              </a:rPr>
              <a:t>Complaint Density: Different colors represent varying complaint counts, with a gradient indicating areas of higher and lower complaint volumes. The larger and more intense the color, the higher the number of complaints.</a:t>
            </a:r>
          </a:p>
          <a:p>
            <a:pPr marL="0" indent="0">
              <a:lnSpc>
                <a:spcPct val="90000"/>
              </a:lnSpc>
              <a:buNone/>
            </a:pPr>
            <a:r>
              <a:rPr lang="en-US" sz="1300" b="1" dirty="0">
                <a:cs typeface="Times New Roman" panose="02020603050405020304" pitchFamily="18" charset="0"/>
              </a:rPr>
              <a:t>Insights</a:t>
            </a:r>
            <a:r>
              <a:rPr lang="en-US" sz="1300" dirty="0">
                <a:cs typeface="Times New Roman" panose="02020603050405020304" pitchFamily="18" charset="0"/>
              </a:rPr>
              <a:t>:</a:t>
            </a:r>
          </a:p>
          <a:p>
            <a:pPr marL="0" indent="0">
              <a:lnSpc>
                <a:spcPct val="90000"/>
              </a:lnSpc>
              <a:buNone/>
            </a:pPr>
            <a:r>
              <a:rPr lang="en-US" sz="1300" b="1" dirty="0">
                <a:cs typeface="Times New Roman" panose="02020603050405020304" pitchFamily="18" charset="0"/>
              </a:rPr>
              <a:t>Identifying Hotspots</a:t>
            </a:r>
            <a:r>
              <a:rPr lang="en-US" sz="1300" dirty="0">
                <a:cs typeface="Times New Roman" panose="02020603050405020304" pitchFamily="18" charset="0"/>
              </a:rPr>
              <a:t>: </a:t>
            </a:r>
          </a:p>
          <a:p>
            <a:pPr marL="0" indent="0">
              <a:lnSpc>
                <a:spcPct val="90000"/>
              </a:lnSpc>
              <a:buNone/>
            </a:pPr>
            <a:r>
              <a:rPr lang="en-US" sz="1300" dirty="0">
                <a:cs typeface="Times New Roman" panose="02020603050405020304" pitchFamily="18" charset="0"/>
              </a:rPr>
              <a:t>Areas with the highest complaint counts can be quickly identified, enabling targeted interventions. For example, if Brooklyn shows a concentration of complaints, this could indicate specific issues that need addressing.</a:t>
            </a:r>
          </a:p>
          <a:p>
            <a:pPr marL="0" indent="0">
              <a:lnSpc>
                <a:spcPct val="90000"/>
              </a:lnSpc>
              <a:buNone/>
            </a:pPr>
            <a:r>
              <a:rPr lang="en-US" sz="1300" dirty="0">
                <a:cs typeface="Times New Roman" panose="02020603050405020304" pitchFamily="18" charset="0"/>
              </a:rPr>
              <a:t>Geographic Trends: Understanding the geographic distribution of complaints can inform resource allocation and operational strategies, ensuring that teams are deployed effectively.</a:t>
            </a:r>
          </a:p>
          <a:p>
            <a:pPr marL="0" indent="0">
              <a:lnSpc>
                <a:spcPct val="90000"/>
              </a:lnSpc>
              <a:buNone/>
            </a:pPr>
            <a:r>
              <a:rPr lang="en-US" sz="1400" b="0" strike="noStrike" spc="-1" dirty="0">
                <a:solidFill>
                  <a:srgbClr val="EBEBEB"/>
                </a:solidFill>
                <a:latin typeface="Century Gothic"/>
              </a:rPr>
              <a:t>Focuses on the geographic distribution of complaints across NYC, showing where complaints are most concentrated. It helps identify spatial patterns and hotspots.</a:t>
            </a:r>
            <a:br>
              <a:rPr lang="en-US" sz="1400" dirty="0"/>
            </a:br>
            <a:endParaRPr lang="en-US" sz="1300" dirty="0">
              <a:cs typeface="Times New Roman" panose="02020603050405020304" pitchFamily="18" charset="0"/>
            </a:endParaRPr>
          </a:p>
        </p:txBody>
      </p:sp>
    </p:spTree>
    <p:extLst>
      <p:ext uri="{BB962C8B-B14F-4D97-AF65-F5344CB8AC3E}">
        <p14:creationId xmlns:p14="http://schemas.microsoft.com/office/powerpoint/2010/main" val="3697688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58" name="Picture 57"/>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0" name="Picture 59"/>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pic>
        <p:nvPicPr>
          <p:cNvPr id="64" name="Picture 63"/>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6" name="Picture 65"/>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4" name="TextBox 3"/>
          <p:cNvSpPr txBox="1"/>
          <p:nvPr/>
        </p:nvSpPr>
        <p:spPr>
          <a:xfrm>
            <a:off x="9102745" y="2892347"/>
            <a:ext cx="2512517" cy="517467"/>
          </a:xfrm>
          <a:prstGeom prst="rect">
            <a:avLst/>
          </a:prstGeom>
        </p:spPr>
        <p:txBody>
          <a:bodyPr vert="horz" lIns="91440" tIns="45720" rIns="91440" bIns="45720" rtlCol="0" anchor="b">
            <a:normAutofit fontScale="55000" lnSpcReduction="20000"/>
          </a:bodyPr>
          <a:lstStyle/>
          <a:p>
            <a:pPr>
              <a:spcBef>
                <a:spcPct val="0"/>
              </a:spcBef>
              <a:spcAft>
                <a:spcPts val="600"/>
              </a:spcAft>
            </a:pPr>
            <a:r>
              <a:rPr lang="en-US" sz="6000" cap="all" spc="200" dirty="0">
                <a:solidFill>
                  <a:schemeClr val="tx2"/>
                </a:solidFill>
                <a:latin typeface="+mj-lt"/>
                <a:ea typeface="+mj-ea"/>
                <a:cs typeface="+mj-cs"/>
              </a:rPr>
              <a:t>Heat map</a:t>
            </a:r>
            <a:endParaRPr lang="en-US" sz="6000" cap="all" spc="200" baseline="0" dirty="0">
              <a:solidFill>
                <a:schemeClr val="tx2"/>
              </a:solidFill>
              <a:latin typeface="+mj-lt"/>
              <a:ea typeface="+mj-ea"/>
              <a:cs typeface="+mj-cs"/>
            </a:endParaRPr>
          </a:p>
        </p:txBody>
      </p:sp>
      <p:pic>
        <p:nvPicPr>
          <p:cNvPr id="3" name="Picture 2" descr="A map of a city&#10;&#10;AI-generated content may be incorrect.">
            <a:extLst>
              <a:ext uri="{FF2B5EF4-FFF2-40B4-BE49-F238E27FC236}">
                <a16:creationId xmlns:a16="http://schemas.microsoft.com/office/drawing/2014/main" id="{3472349C-3E09-038E-0C57-75F3FCF46C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5530" y="671407"/>
            <a:ext cx="8270348" cy="529668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ctrTitle"/>
          </p:nvPr>
        </p:nvSpPr>
        <p:spPr>
          <a:xfrm>
            <a:off x="7400518" y="1447800"/>
            <a:ext cx="4143781" cy="3096987"/>
          </a:xfrm>
        </p:spPr>
        <p:txBody>
          <a:bodyPr lIns="0" tIns="0" rIns="0" bIns="0">
            <a:normAutofit/>
          </a:bodyPr>
          <a:lstStyle/>
          <a:p>
            <a:r>
              <a:rPr lang="en-US" sz="5400" b="1"/>
              <a:t>Thank You</a:t>
            </a:r>
            <a:endParaRPr lang="en-US" sz="5400"/>
          </a:p>
        </p:txBody>
      </p:sp>
      <p:sp>
        <p:nvSpPr>
          <p:cNvPr id="20" name="Freeform: Shape 19"/>
          <p:cNvSpPr>
            <a:spLocks noGrp="1" noRot="1" noChangeAspect="1" noMove="1" noResize="1" noEditPoints="1" noAdjustHandles="1" noChangeArrowheads="1" noChangeShapeType="1" noTextEdit="1"/>
          </p:cNvSpPr>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solidFill>
            <a:srgbClr val="FFFFFF"/>
          </a:solidFill>
          <a:ln>
            <a:noFill/>
          </a:ln>
        </p:spPr>
        <p:txBody>
          <a:bodyPr/>
          <a:lstStyle/>
          <a:p>
            <a:endParaRPr lang="en-US"/>
          </a:p>
        </p:txBody>
      </p:sp>
      <p:pic>
        <p:nvPicPr>
          <p:cNvPr id="6" name="Picture 5" descr="This image is an icon that says &quot;24Slides.&quot;">
            <a:hlinkClick r:id="rId4"/>
          </p:cNvPr>
          <p:cNvPicPr>
            <a:picLocks noChangeAspect="1"/>
          </p:cNvPicPr>
          <p:nvPr/>
        </p:nvPicPr>
        <p:blipFill>
          <a:blip r:embed="rId5"/>
          <a:stretch>
            <a:fillRect/>
          </a:stretch>
        </p:blipFill>
        <p:spPr>
          <a:xfrm>
            <a:off x="643855" y="929621"/>
            <a:ext cx="5454404" cy="1560149"/>
          </a:xfrm>
          <a:prstGeom prst="rect">
            <a:avLst/>
          </a:prstGeom>
          <a:effectLst/>
        </p:spPr>
      </p:pic>
      <p:sp>
        <p:nvSpPr>
          <p:cNvPr id="22" name="Freeform 27"/>
          <p:cNvSpPr>
            <a:spLocks noGrp="1" noRot="1" noChangeAspect="1" noMove="1" noResize="1" noEditPoints="1" noAdjustHandles="1" noChangeArrowheads="1" noChangeShapeType="1" noTextEdit="1"/>
          </p:cNvSpPr>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grpSp>
        <p:nvGrpSpPr>
          <p:cNvPr id="11" name="Group 10"/>
          <p:cNvGrpSpPr/>
          <p:nvPr/>
        </p:nvGrpSpPr>
        <p:grpSpPr>
          <a:xfrm>
            <a:off x="1804314" y="2878375"/>
            <a:ext cx="3129642" cy="3331464"/>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datastoreItem>
</file>

<file path=customXml/itemProps2.xml><?xml version="1.0" encoding="utf-8"?>
<ds:datastoreItem xmlns:ds="http://schemas.openxmlformats.org/officeDocument/2006/customXml" ds:itemID="{2FD05317-60D6-4B3A-8545-888496D1A8EC}">
  <ds:schemaRefs/>
</ds:datastoreItem>
</file>

<file path=customXml/itemProps3.xml><?xml version="1.0" encoding="utf-8"?>
<ds:datastoreItem xmlns:ds="http://schemas.openxmlformats.org/officeDocument/2006/customXml" ds:itemID="{EF609EDA-869E-4BE5-AE5D-B898C584B6FF}">
  <ds:schemaRefs/>
</ds:datastoreItem>
</file>

<file path=docProps/app.xml><?xml version="1.0" encoding="utf-8"?>
<Properties xmlns="http://schemas.openxmlformats.org/officeDocument/2006/extended-properties" xmlns:vt="http://schemas.openxmlformats.org/officeDocument/2006/docPropsVTypes">
  <Template>Ion</Template>
  <TotalTime>550</TotalTime>
  <Words>1750</Words>
  <Application>Microsoft Office PowerPoint</Application>
  <PresentationFormat>Widescreen</PresentationFormat>
  <Paragraphs>115</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 3</vt:lpstr>
      <vt:lpstr>Ion</vt:lpstr>
      <vt:lpstr>M8 Project Work: VISUALIZATIONS</vt:lpstr>
      <vt:lpstr>PowerPoint Presentation</vt:lpstr>
      <vt:lpstr>IMPROVEMENTS For a better presentation we have re arranged the flow of slides. New insights have also been added.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Bekithemba Nkomo</dc:creator>
  <cp:lastModifiedBy>Bekithemba Nkomo [student]</cp:lastModifiedBy>
  <cp:revision>3</cp:revision>
  <dcterms:created xsi:type="dcterms:W3CDTF">2025-02-23T19:13:00Z</dcterms:created>
  <dcterms:modified xsi:type="dcterms:W3CDTF">2025-03-22T21:04:24Z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7E83CEEB83FA4BD1868BB3B1B78FB76A_12</vt:lpwstr>
  </property>
  <property fmtid="{D5CDD505-2E9C-101B-9397-08002B2CF9AE}" pid="4" name="KSOProductBuildVer">
    <vt:lpwstr>1033-12.2.0.20323</vt:lpwstr>
  </property>
  <property fmtid="{D5CDD505-2E9C-101B-9397-08002B2CF9AE}" pid="5" name="MSIP_Label_7d5cc670-d7c5-4a29-b4fe-6ff77de08631_Enabled">
    <vt:lpwstr>true</vt:lpwstr>
  </property>
  <property fmtid="{D5CDD505-2E9C-101B-9397-08002B2CF9AE}" pid="6" name="MSIP_Label_7d5cc670-d7c5-4a29-b4fe-6ff77de08631_SetDate">
    <vt:lpwstr>2025-03-22T21:04:24Z</vt:lpwstr>
  </property>
  <property fmtid="{D5CDD505-2E9C-101B-9397-08002B2CF9AE}" pid="7" name="MSIP_Label_7d5cc670-d7c5-4a29-b4fe-6ff77de08631_Method">
    <vt:lpwstr>Standard</vt:lpwstr>
  </property>
  <property fmtid="{D5CDD505-2E9C-101B-9397-08002B2CF9AE}" pid="8" name="MSIP_Label_7d5cc670-d7c5-4a29-b4fe-6ff77de08631_Name">
    <vt:lpwstr>Internal</vt:lpwstr>
  </property>
  <property fmtid="{D5CDD505-2E9C-101B-9397-08002B2CF9AE}" pid="9" name="MSIP_Label_7d5cc670-d7c5-4a29-b4fe-6ff77de08631_SiteId">
    <vt:lpwstr>04c70eb4-8f26-4807-9934-e02e89266ad0</vt:lpwstr>
  </property>
  <property fmtid="{D5CDD505-2E9C-101B-9397-08002B2CF9AE}" pid="10" name="MSIP_Label_7d5cc670-d7c5-4a29-b4fe-6ff77de08631_ActionId">
    <vt:lpwstr>eae030ee-a76c-4735-8ef8-ab4e18d6df0f</vt:lpwstr>
  </property>
  <property fmtid="{D5CDD505-2E9C-101B-9397-08002B2CF9AE}" pid="11" name="MSIP_Label_7d5cc670-d7c5-4a29-b4fe-6ff77de08631_ContentBits">
    <vt:lpwstr>0</vt:lpwstr>
  </property>
  <property fmtid="{D5CDD505-2E9C-101B-9397-08002B2CF9AE}" pid="12" name="MSIP_Label_7d5cc670-d7c5-4a29-b4fe-6ff77de08631_Tag">
    <vt:lpwstr>10, 3, 0, 1</vt:lpwstr>
  </property>
</Properties>
</file>